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31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842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731"/>
        </a:solidFill>
        <a:effectLst/>
      </p:bgPr>
    </p:bg>
    <p:spTree>
      <p:nvGrpSpPr>
        <p:cNvPr id="1" name=""/>
        <p:cNvGrpSpPr/>
        <p:nvPr/>
      </p:nvGrpSpPr>
      <p:grpSpPr>
        <a:xfrm>
          <a:off x="0" y="0"/>
          <a:ext cx="0" cy="0"/>
          <a:chOff x="0" y="0"/>
          <a:chExt cx="0" cy="0"/>
        </a:xfrm>
      </p:grpSpPr>
      <p:sp>
        <p:nvSpPr>
          <p:cNvPr id="2" name="Text 0"/>
          <p:cNvSpPr/>
          <p:nvPr/>
        </p:nvSpPr>
        <p:spPr>
          <a:xfrm>
            <a:off x="457200" y="1097280"/>
            <a:ext cx="6400800" cy="1280160"/>
          </a:xfrm>
          <a:prstGeom prst="rect">
            <a:avLst/>
          </a:prstGeom>
          <a:noFill/>
          <a:ln/>
        </p:spPr>
        <p:txBody>
          <a:bodyPr wrap="square" rtlCol="0" anchor="ctr"/>
          <a:lstStyle/>
          <a:p>
            <a:pPr marL="0" indent="0" algn="l">
              <a:buNone/>
            </a:pPr>
            <a:r>
              <a:rPr lang="en-US" sz="8000" b="1" dirty="0">
                <a:solidFill>
                  <a:srgbClr val="6DB33F"/>
                </a:solidFill>
                <a:latin typeface="Impact" pitchFamily="34" charset="0"/>
                <a:ea typeface="Impact" pitchFamily="34" charset="-122"/>
                <a:cs typeface="Impact" pitchFamily="34" charset="-120"/>
              </a:rPr>
              <a:t>IDEATHON</a:t>
            </a:r>
            <a:endParaRPr lang="en-US" sz="8000" dirty="0"/>
          </a:p>
        </p:txBody>
      </p:sp>
      <p:sp>
        <p:nvSpPr>
          <p:cNvPr id="3" name="Text 1"/>
          <p:cNvSpPr/>
          <p:nvPr/>
        </p:nvSpPr>
        <p:spPr>
          <a:xfrm>
            <a:off x="457200" y="2286000"/>
            <a:ext cx="6400800" cy="502920"/>
          </a:xfrm>
          <a:prstGeom prst="rect">
            <a:avLst/>
          </a:prstGeom>
          <a:noFill/>
          <a:ln/>
        </p:spPr>
        <p:txBody>
          <a:bodyPr wrap="square" rtlCol="0" anchor="ctr"/>
          <a:lstStyle/>
          <a:p>
            <a:pPr marL="0" indent="0" algn="l">
              <a:buNone/>
            </a:pPr>
            <a:r>
              <a:rPr lang="en-US" sz="2200" dirty="0">
                <a:solidFill>
                  <a:srgbClr val="FFFFFF"/>
                </a:solidFill>
                <a:latin typeface="Calibri" pitchFamily="34" charset="0"/>
                <a:ea typeface="Calibri" pitchFamily="34" charset="-122"/>
                <a:cs typeface="Calibri" pitchFamily="34" charset="-120"/>
              </a:rPr>
              <a:t>Powering Tomorrow 2026</a:t>
            </a:r>
            <a:endParaRPr lang="en-US" sz="2200" dirty="0"/>
          </a:p>
        </p:txBody>
      </p:sp>
      <p:sp>
        <p:nvSpPr>
          <p:cNvPr id="4" name="Shape 2"/>
          <p:cNvSpPr/>
          <p:nvPr/>
        </p:nvSpPr>
        <p:spPr>
          <a:xfrm>
            <a:off x="457200" y="3017520"/>
            <a:ext cx="5943600" cy="1371600"/>
          </a:xfrm>
          <a:prstGeom prst="roundRect">
            <a:avLst/>
          </a:prstGeom>
          <a:solidFill>
            <a:srgbClr val="000000">
              <a:alpha val="40000"/>
            </a:srgbClr>
          </a:solidFill>
          <a:ln w="12700">
            <a:solidFill>
              <a:srgbClr val="FFFFFF"/>
            </a:solidFill>
            <a:prstDash val="solid"/>
          </a:ln>
        </p:spPr>
      </p:sp>
      <p:sp>
        <p:nvSpPr>
          <p:cNvPr id="5" name="Text 3"/>
          <p:cNvSpPr/>
          <p:nvPr/>
        </p:nvSpPr>
        <p:spPr>
          <a:xfrm>
            <a:off x="640080" y="3108960"/>
            <a:ext cx="5486400" cy="365760"/>
          </a:xfrm>
          <a:prstGeom prst="rect">
            <a:avLst/>
          </a:prstGeom>
          <a:noFill/>
          <a:ln/>
        </p:spPr>
        <p:txBody>
          <a:bodyPr wrap="square" rtlCol="0" anchor="ctr"/>
          <a:lstStyle/>
          <a:p>
            <a:pPr marL="0" indent="0" algn="l">
              <a:buNone/>
            </a:pPr>
            <a:r>
              <a:rPr lang="en-US" sz="1300" b="1" dirty="0">
                <a:solidFill>
                  <a:srgbClr val="6DB33F"/>
                </a:solidFill>
              </a:rPr>
              <a:t>Team: Watt The Future</a:t>
            </a:r>
            <a:endParaRPr lang="en-US" sz="1300" dirty="0"/>
          </a:p>
        </p:txBody>
      </p:sp>
      <p:sp>
        <p:nvSpPr>
          <p:cNvPr id="6" name="Text 4"/>
          <p:cNvSpPr/>
          <p:nvPr/>
        </p:nvSpPr>
        <p:spPr>
          <a:xfrm>
            <a:off x="640080" y="3429000"/>
            <a:ext cx="5486400" cy="274320"/>
          </a:xfrm>
          <a:prstGeom prst="rect">
            <a:avLst/>
          </a:prstGeom>
          <a:noFill/>
          <a:ln/>
        </p:spPr>
        <p:txBody>
          <a:bodyPr wrap="square" rtlCol="0" anchor="ctr"/>
          <a:lstStyle/>
          <a:p>
            <a:pPr marL="0" indent="0" algn="l">
              <a:buNone/>
            </a:pPr>
            <a:r>
              <a:rPr lang="en-US" sz="1100" dirty="0">
                <a:solidFill>
                  <a:srgbClr val="FFFFFF"/>
                </a:solidFill>
              </a:rPr>
              <a:t>Allam Velangini Srija  |  Shivani Kalyani  |  Adhiti</a:t>
            </a:r>
            <a:endParaRPr lang="en-US" sz="1100" dirty="0"/>
          </a:p>
        </p:txBody>
      </p:sp>
      <p:sp>
        <p:nvSpPr>
          <p:cNvPr id="7" name="Text 5"/>
          <p:cNvSpPr/>
          <p:nvPr/>
        </p:nvSpPr>
        <p:spPr>
          <a:xfrm>
            <a:off x="640080" y="3675888"/>
            <a:ext cx="5486400" cy="274320"/>
          </a:xfrm>
          <a:prstGeom prst="rect">
            <a:avLst/>
          </a:prstGeom>
          <a:noFill/>
          <a:ln/>
        </p:spPr>
        <p:txBody>
          <a:bodyPr wrap="square" rtlCol="0" anchor="ctr"/>
          <a:lstStyle/>
          <a:p>
            <a:pPr marL="0" indent="0" algn="l">
              <a:buNone/>
            </a:pPr>
            <a:r>
              <a:rPr lang="en-US" sz="1100" dirty="0">
                <a:solidFill>
                  <a:srgbClr val="97BC62"/>
                </a:solidFill>
              </a:rPr>
              <a:t>Department of Automation &amp; Robotics  |  KLE Technological University, Hubballi</a:t>
            </a:r>
            <a:endParaRPr lang="en-US" sz="1100" dirty="0"/>
          </a:p>
        </p:txBody>
      </p:sp>
      <p:sp>
        <p:nvSpPr>
          <p:cNvPr id="8" name="Shape 6"/>
          <p:cNvSpPr/>
          <p:nvPr/>
        </p:nvSpPr>
        <p:spPr>
          <a:xfrm>
            <a:off x="8046720" y="1371600"/>
            <a:ext cx="73152" cy="3200400"/>
          </a:xfrm>
          <a:prstGeom prst="rect">
            <a:avLst/>
          </a:prstGeom>
          <a:solidFill>
            <a:srgbClr val="97BC62"/>
          </a:solidFill>
          <a:ln w="12700">
            <a:solidFill>
              <a:srgbClr val="97BC62"/>
            </a:solidFill>
            <a:prstDash val="solid"/>
          </a:ln>
        </p:spPr>
      </p:sp>
      <p:sp>
        <p:nvSpPr>
          <p:cNvPr id="9" name="Text 7"/>
          <p:cNvSpPr/>
          <p:nvPr/>
        </p:nvSpPr>
        <p:spPr>
          <a:xfrm>
            <a:off x="274320" y="45720"/>
            <a:ext cx="2743200" cy="365760"/>
          </a:xfrm>
          <a:prstGeom prst="rect">
            <a:avLst/>
          </a:prstGeom>
          <a:noFill/>
          <a:ln/>
        </p:spPr>
        <p:txBody>
          <a:bodyPr wrap="square" rtlCol="0" anchor="ctr"/>
          <a:lstStyle/>
          <a:p>
            <a:pPr marL="0" indent="0" algn="l">
              <a:buNone/>
            </a:pPr>
            <a:r>
              <a:rPr lang="en-US" sz="1100" b="1" dirty="0">
                <a:solidFill>
                  <a:srgbClr val="FFFFFF"/>
                </a:solidFill>
              </a:rPr>
              <a:t>KLE TECH IEEE PES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4731"/>
          </a:solidFill>
          <a:ln w="12700">
            <a:solidFill>
              <a:srgbClr val="1A4731"/>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Team Introduction</a:t>
            </a:r>
            <a:endParaRPr lang="en-US" sz="1000" dirty="0"/>
          </a:p>
        </p:txBody>
      </p:sp>
      <p:sp>
        <p:nvSpPr>
          <p:cNvPr id="5" name="Text 3"/>
          <p:cNvSpPr/>
          <p:nvPr/>
        </p:nvSpPr>
        <p:spPr>
          <a:xfrm>
            <a:off x="4572000" y="914400"/>
            <a:ext cx="4297680" cy="640080"/>
          </a:xfrm>
          <a:prstGeom prst="rect">
            <a:avLst/>
          </a:prstGeom>
          <a:noFill/>
          <a:ln/>
        </p:spPr>
        <p:txBody>
          <a:bodyPr wrap="square"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TEAM INTRODUCTION</a:t>
            </a:r>
            <a:endParaRPr lang="en-US" sz="2600" dirty="0"/>
          </a:p>
        </p:txBody>
      </p:sp>
      <p:sp>
        <p:nvSpPr>
          <p:cNvPr id="6" name="Text 4"/>
          <p:cNvSpPr/>
          <p:nvPr/>
        </p:nvSpPr>
        <p:spPr>
          <a:xfrm>
            <a:off x="4572000" y="1600200"/>
            <a:ext cx="4297680" cy="411480"/>
          </a:xfrm>
          <a:prstGeom prst="rect">
            <a:avLst/>
          </a:prstGeom>
          <a:noFill/>
          <a:ln/>
        </p:spPr>
        <p:txBody>
          <a:bodyPr wrap="square" rtlCol="0" anchor="ctr"/>
          <a:lstStyle/>
          <a:p>
            <a:pPr marL="0" indent="0" algn="l">
              <a:buNone/>
            </a:pPr>
            <a:endParaRPr lang="en-US" sz="1300" dirty="0"/>
          </a:p>
        </p:txBody>
      </p:sp>
      <p:sp>
        <p:nvSpPr>
          <p:cNvPr id="7" name="Text 5"/>
          <p:cNvSpPr/>
          <p:nvPr/>
        </p:nvSpPr>
        <p:spPr>
          <a:xfrm>
            <a:off x="4572000" y="2011680"/>
            <a:ext cx="4297680" cy="502920"/>
          </a:xfrm>
          <a:prstGeom prst="rect">
            <a:avLst/>
          </a:prstGeom>
          <a:noFill/>
          <a:ln/>
        </p:spPr>
        <p:txBody>
          <a:bodyPr wrap="square" rtlCol="0" anchor="ctr"/>
          <a:lstStyle/>
          <a:p>
            <a:pPr marL="0" indent="0" algn="l">
              <a:buNone/>
            </a:pPr>
            <a:endParaRPr lang="en-US" sz="1100" dirty="0"/>
          </a:p>
        </p:txBody>
      </p:sp>
      <p:sp>
        <p:nvSpPr>
          <p:cNvPr id="8" name="Shape 6"/>
          <p:cNvSpPr/>
          <p:nvPr/>
        </p:nvSpPr>
        <p:spPr>
          <a:xfrm>
            <a:off x="274320" y="1170432"/>
            <a:ext cx="502920" cy="502920"/>
          </a:xfrm>
          <a:prstGeom prst="ellipse">
            <a:avLst/>
          </a:prstGeom>
          <a:solidFill>
            <a:srgbClr val="000000">
              <a:alpha val="80000"/>
            </a:srgbClr>
          </a:solidFill>
          <a:ln w="25400">
            <a:solidFill>
              <a:srgbClr val="6DB33F"/>
            </a:solidFill>
            <a:prstDash val="solid"/>
          </a:ln>
        </p:spPr>
      </p:sp>
      <p:sp>
        <p:nvSpPr>
          <p:cNvPr id="9" name="Shape 7"/>
          <p:cNvSpPr/>
          <p:nvPr/>
        </p:nvSpPr>
        <p:spPr>
          <a:xfrm>
            <a:off x="384048" y="1280160"/>
            <a:ext cx="283464" cy="283464"/>
          </a:xfrm>
          <a:prstGeom prst="ellipse">
            <a:avLst/>
          </a:prstGeom>
          <a:solidFill>
            <a:srgbClr val="6DB33F"/>
          </a:solidFill>
          <a:ln w="12700">
            <a:solidFill>
              <a:srgbClr val="6DB33F"/>
            </a:solidFill>
            <a:prstDash val="solid"/>
          </a:ln>
        </p:spPr>
      </p:sp>
      <p:sp>
        <p:nvSpPr>
          <p:cNvPr id="10" name="Shape 8"/>
          <p:cNvSpPr/>
          <p:nvPr/>
        </p:nvSpPr>
        <p:spPr>
          <a:xfrm>
            <a:off x="841248" y="1143000"/>
            <a:ext cx="2011680" cy="292608"/>
          </a:xfrm>
          <a:prstGeom prst="rect">
            <a:avLst/>
          </a:prstGeom>
          <a:solidFill>
            <a:srgbClr val="6DB33F"/>
          </a:solidFill>
          <a:ln w="12700">
            <a:solidFill>
              <a:srgbClr val="6DB33F"/>
            </a:solidFill>
            <a:prstDash val="solid"/>
          </a:ln>
        </p:spPr>
      </p:sp>
      <p:sp>
        <p:nvSpPr>
          <p:cNvPr id="11" name="Text 9"/>
          <p:cNvSpPr/>
          <p:nvPr/>
        </p:nvSpPr>
        <p:spPr>
          <a:xfrm>
            <a:off x="877824" y="1143000"/>
            <a:ext cx="1965960" cy="292608"/>
          </a:xfrm>
          <a:prstGeom prst="rect">
            <a:avLst/>
          </a:prstGeom>
          <a:noFill/>
          <a:ln/>
        </p:spPr>
        <p:txBody>
          <a:bodyPr wrap="square" rtlCol="0" anchor="ctr"/>
          <a:lstStyle/>
          <a:p>
            <a:pPr marL="0" indent="0">
              <a:buNone/>
            </a:pPr>
            <a:r>
              <a:rPr lang="en-US" sz="1000" b="1" dirty="0">
                <a:solidFill>
                  <a:srgbClr val="FFFFFF"/>
                </a:solidFill>
              </a:rPr>
              <a:t>Allam Velangini Srija</a:t>
            </a:r>
            <a:endParaRPr lang="en-US" sz="1000" dirty="0"/>
          </a:p>
        </p:txBody>
      </p:sp>
      <p:sp>
        <p:nvSpPr>
          <p:cNvPr id="12" name="Shape 10"/>
          <p:cNvSpPr/>
          <p:nvPr/>
        </p:nvSpPr>
        <p:spPr>
          <a:xfrm>
            <a:off x="841248" y="1435608"/>
            <a:ext cx="3474720" cy="594360"/>
          </a:xfrm>
          <a:prstGeom prst="rect">
            <a:avLst/>
          </a:prstGeom>
          <a:solidFill>
            <a:srgbClr val="FFFFFF"/>
          </a:solidFill>
          <a:ln w="3810">
            <a:solidFill>
              <a:srgbClr val="DDDDDD"/>
            </a:solidFill>
            <a:prstDash val="solid"/>
          </a:ln>
        </p:spPr>
      </p:sp>
      <p:sp>
        <p:nvSpPr>
          <p:cNvPr id="13" name="Shape 11"/>
          <p:cNvSpPr/>
          <p:nvPr/>
        </p:nvSpPr>
        <p:spPr>
          <a:xfrm>
            <a:off x="4005072" y="1435608"/>
            <a:ext cx="502920" cy="594360"/>
          </a:xfrm>
          <a:prstGeom prst="ellipse">
            <a:avLst/>
          </a:prstGeom>
          <a:solidFill>
            <a:srgbClr val="FFFFFF"/>
          </a:solidFill>
          <a:ln w="3810">
            <a:solidFill>
              <a:srgbClr val="DDDDDD"/>
            </a:solidFill>
            <a:prstDash val="solid"/>
          </a:ln>
        </p:spPr>
      </p:sp>
      <p:sp>
        <p:nvSpPr>
          <p:cNvPr id="14" name="Text 12"/>
          <p:cNvSpPr/>
          <p:nvPr/>
        </p:nvSpPr>
        <p:spPr>
          <a:xfrm>
            <a:off x="914400" y="1463040"/>
            <a:ext cx="3200400" cy="256032"/>
          </a:xfrm>
          <a:prstGeom prst="rect">
            <a:avLst/>
          </a:prstGeom>
          <a:noFill/>
          <a:ln/>
        </p:spPr>
        <p:txBody>
          <a:bodyPr wrap="square" rtlCol="0" anchor="ctr"/>
          <a:lstStyle/>
          <a:p>
            <a:pPr marL="0" indent="0">
              <a:buNone/>
            </a:pPr>
            <a:r>
              <a:rPr lang="en-US" sz="1100" b="1" dirty="0">
                <a:solidFill>
                  <a:srgbClr val="2C5F2D"/>
                </a:solidFill>
              </a:rPr>
              <a:t>USN: 01FE24BAR010</a:t>
            </a:r>
            <a:endParaRPr lang="en-US" sz="1100" dirty="0"/>
          </a:p>
        </p:txBody>
      </p:sp>
      <p:sp>
        <p:nvSpPr>
          <p:cNvPr id="15" name="Text 13"/>
          <p:cNvSpPr/>
          <p:nvPr/>
        </p:nvSpPr>
        <p:spPr>
          <a:xfrm>
            <a:off x="914400" y="1700784"/>
            <a:ext cx="3200400" cy="228600"/>
          </a:xfrm>
          <a:prstGeom prst="rect">
            <a:avLst/>
          </a:prstGeom>
          <a:noFill/>
          <a:ln/>
        </p:spPr>
        <p:txBody>
          <a:bodyPr wrap="square" rtlCol="0" anchor="ctr"/>
          <a:lstStyle/>
          <a:p>
            <a:pPr marL="0" indent="0">
              <a:buNone/>
            </a:pPr>
            <a:r>
              <a:rPr lang="en-US" sz="950" b="1" dirty="0"/>
              <a:t>Automation &amp; Robotics  |  2nd Year B.Tech</a:t>
            </a:r>
          </a:p>
        </p:txBody>
      </p:sp>
      <p:sp>
        <p:nvSpPr>
          <p:cNvPr id="16" name="Shape 14"/>
          <p:cNvSpPr/>
          <p:nvPr/>
        </p:nvSpPr>
        <p:spPr>
          <a:xfrm>
            <a:off x="274320" y="2450592"/>
            <a:ext cx="502920" cy="502920"/>
          </a:xfrm>
          <a:prstGeom prst="ellipse">
            <a:avLst/>
          </a:prstGeom>
          <a:solidFill>
            <a:srgbClr val="000000">
              <a:alpha val="80000"/>
            </a:srgbClr>
          </a:solidFill>
          <a:ln w="25400">
            <a:solidFill>
              <a:srgbClr val="6DB33F"/>
            </a:solidFill>
            <a:prstDash val="solid"/>
          </a:ln>
        </p:spPr>
      </p:sp>
      <p:sp>
        <p:nvSpPr>
          <p:cNvPr id="17" name="Shape 15"/>
          <p:cNvSpPr/>
          <p:nvPr/>
        </p:nvSpPr>
        <p:spPr>
          <a:xfrm>
            <a:off x="384048" y="2560320"/>
            <a:ext cx="283464" cy="283464"/>
          </a:xfrm>
          <a:prstGeom prst="ellipse">
            <a:avLst/>
          </a:prstGeom>
          <a:solidFill>
            <a:srgbClr val="6DB33F"/>
          </a:solidFill>
          <a:ln w="12700">
            <a:solidFill>
              <a:srgbClr val="6DB33F"/>
            </a:solidFill>
            <a:prstDash val="solid"/>
          </a:ln>
        </p:spPr>
      </p:sp>
      <p:sp>
        <p:nvSpPr>
          <p:cNvPr id="18" name="Shape 16"/>
          <p:cNvSpPr/>
          <p:nvPr/>
        </p:nvSpPr>
        <p:spPr>
          <a:xfrm>
            <a:off x="841248" y="2423160"/>
            <a:ext cx="2011680" cy="292608"/>
          </a:xfrm>
          <a:prstGeom prst="rect">
            <a:avLst/>
          </a:prstGeom>
          <a:solidFill>
            <a:srgbClr val="6DB33F"/>
          </a:solidFill>
          <a:ln w="12700">
            <a:solidFill>
              <a:srgbClr val="6DB33F"/>
            </a:solidFill>
            <a:prstDash val="solid"/>
          </a:ln>
        </p:spPr>
      </p:sp>
      <p:sp>
        <p:nvSpPr>
          <p:cNvPr id="19" name="Text 17"/>
          <p:cNvSpPr/>
          <p:nvPr/>
        </p:nvSpPr>
        <p:spPr>
          <a:xfrm>
            <a:off x="877824" y="2423160"/>
            <a:ext cx="1965960" cy="292608"/>
          </a:xfrm>
          <a:prstGeom prst="rect">
            <a:avLst/>
          </a:prstGeom>
          <a:noFill/>
          <a:ln/>
        </p:spPr>
        <p:txBody>
          <a:bodyPr wrap="square" rtlCol="0" anchor="ctr"/>
          <a:lstStyle/>
          <a:p>
            <a:pPr marL="0" indent="0">
              <a:buNone/>
            </a:pPr>
            <a:r>
              <a:rPr lang="en-US" sz="1000" b="1" dirty="0">
                <a:solidFill>
                  <a:srgbClr val="FFFFFF"/>
                </a:solidFill>
              </a:rPr>
              <a:t>Shivani Kalyani</a:t>
            </a:r>
            <a:endParaRPr lang="en-US" sz="1000" dirty="0"/>
          </a:p>
        </p:txBody>
      </p:sp>
      <p:sp>
        <p:nvSpPr>
          <p:cNvPr id="20" name="Shape 18"/>
          <p:cNvSpPr/>
          <p:nvPr/>
        </p:nvSpPr>
        <p:spPr>
          <a:xfrm>
            <a:off x="841248" y="2715768"/>
            <a:ext cx="3474720" cy="594360"/>
          </a:xfrm>
          <a:prstGeom prst="rect">
            <a:avLst/>
          </a:prstGeom>
          <a:solidFill>
            <a:srgbClr val="FFFFFF"/>
          </a:solidFill>
          <a:ln w="3810">
            <a:solidFill>
              <a:srgbClr val="DDDDDD"/>
            </a:solidFill>
            <a:prstDash val="solid"/>
          </a:ln>
        </p:spPr>
      </p:sp>
      <p:sp>
        <p:nvSpPr>
          <p:cNvPr id="21" name="Shape 19"/>
          <p:cNvSpPr/>
          <p:nvPr/>
        </p:nvSpPr>
        <p:spPr>
          <a:xfrm>
            <a:off x="4005072" y="2715768"/>
            <a:ext cx="502920" cy="594360"/>
          </a:xfrm>
          <a:prstGeom prst="ellipse">
            <a:avLst/>
          </a:prstGeom>
          <a:solidFill>
            <a:srgbClr val="FFFFFF"/>
          </a:solidFill>
          <a:ln w="3810">
            <a:solidFill>
              <a:srgbClr val="DDDDDD"/>
            </a:solidFill>
            <a:prstDash val="solid"/>
          </a:ln>
        </p:spPr>
      </p:sp>
      <p:sp>
        <p:nvSpPr>
          <p:cNvPr id="22" name="Text 20"/>
          <p:cNvSpPr/>
          <p:nvPr/>
        </p:nvSpPr>
        <p:spPr>
          <a:xfrm>
            <a:off x="914400" y="2743200"/>
            <a:ext cx="3200400" cy="256032"/>
          </a:xfrm>
          <a:prstGeom prst="rect">
            <a:avLst/>
          </a:prstGeom>
          <a:noFill/>
          <a:ln/>
        </p:spPr>
        <p:txBody>
          <a:bodyPr wrap="square" rtlCol="0" anchor="ctr"/>
          <a:lstStyle/>
          <a:p>
            <a:pPr marL="0" indent="0">
              <a:buNone/>
            </a:pPr>
            <a:r>
              <a:rPr lang="en-US" sz="1100" b="1" dirty="0">
                <a:solidFill>
                  <a:srgbClr val="2C5F2D"/>
                </a:solidFill>
              </a:rPr>
              <a:t>USN: 01FE24BAR029</a:t>
            </a:r>
            <a:endParaRPr lang="en-US" sz="1100" dirty="0"/>
          </a:p>
        </p:txBody>
      </p:sp>
      <p:sp>
        <p:nvSpPr>
          <p:cNvPr id="23" name="Text 21"/>
          <p:cNvSpPr/>
          <p:nvPr/>
        </p:nvSpPr>
        <p:spPr>
          <a:xfrm>
            <a:off x="914400" y="2980944"/>
            <a:ext cx="3200400" cy="228600"/>
          </a:xfrm>
          <a:prstGeom prst="rect">
            <a:avLst/>
          </a:prstGeom>
          <a:noFill/>
          <a:ln/>
        </p:spPr>
        <p:txBody>
          <a:bodyPr wrap="square" rtlCol="0" anchor="ctr"/>
          <a:lstStyle/>
          <a:p>
            <a:pPr marL="0" indent="0">
              <a:buNone/>
            </a:pPr>
            <a:r>
              <a:rPr lang="en-US" sz="950" b="1" dirty="0"/>
              <a:t>Automation &amp; Robotics  |  2nd Year B.Tech</a:t>
            </a:r>
          </a:p>
        </p:txBody>
      </p:sp>
      <p:sp>
        <p:nvSpPr>
          <p:cNvPr id="24" name="Shape 22"/>
          <p:cNvSpPr/>
          <p:nvPr/>
        </p:nvSpPr>
        <p:spPr>
          <a:xfrm>
            <a:off x="274320" y="3730752"/>
            <a:ext cx="502920" cy="502920"/>
          </a:xfrm>
          <a:prstGeom prst="ellipse">
            <a:avLst/>
          </a:prstGeom>
          <a:solidFill>
            <a:srgbClr val="000000">
              <a:alpha val="80000"/>
            </a:srgbClr>
          </a:solidFill>
          <a:ln w="25400">
            <a:solidFill>
              <a:srgbClr val="6DB33F"/>
            </a:solidFill>
            <a:prstDash val="solid"/>
          </a:ln>
        </p:spPr>
      </p:sp>
      <p:sp>
        <p:nvSpPr>
          <p:cNvPr id="25" name="Shape 23"/>
          <p:cNvSpPr/>
          <p:nvPr/>
        </p:nvSpPr>
        <p:spPr>
          <a:xfrm>
            <a:off x="384048" y="3840480"/>
            <a:ext cx="283464" cy="283464"/>
          </a:xfrm>
          <a:prstGeom prst="ellipse">
            <a:avLst/>
          </a:prstGeom>
          <a:solidFill>
            <a:srgbClr val="6DB33F"/>
          </a:solidFill>
          <a:ln w="12700">
            <a:solidFill>
              <a:srgbClr val="6DB33F"/>
            </a:solidFill>
            <a:prstDash val="solid"/>
          </a:ln>
        </p:spPr>
      </p:sp>
      <p:sp>
        <p:nvSpPr>
          <p:cNvPr id="26" name="Shape 24"/>
          <p:cNvSpPr/>
          <p:nvPr/>
        </p:nvSpPr>
        <p:spPr>
          <a:xfrm>
            <a:off x="841248" y="3703320"/>
            <a:ext cx="2011680" cy="292608"/>
          </a:xfrm>
          <a:prstGeom prst="rect">
            <a:avLst/>
          </a:prstGeom>
          <a:solidFill>
            <a:srgbClr val="6DB33F"/>
          </a:solidFill>
          <a:ln w="12700">
            <a:solidFill>
              <a:srgbClr val="6DB33F"/>
            </a:solidFill>
            <a:prstDash val="solid"/>
          </a:ln>
        </p:spPr>
      </p:sp>
      <p:sp>
        <p:nvSpPr>
          <p:cNvPr id="27" name="Text 25"/>
          <p:cNvSpPr/>
          <p:nvPr/>
        </p:nvSpPr>
        <p:spPr>
          <a:xfrm>
            <a:off x="877824" y="3703320"/>
            <a:ext cx="1965960" cy="292608"/>
          </a:xfrm>
          <a:prstGeom prst="rect">
            <a:avLst/>
          </a:prstGeom>
          <a:noFill/>
          <a:ln/>
        </p:spPr>
        <p:txBody>
          <a:bodyPr wrap="square" rtlCol="0" anchor="ctr"/>
          <a:lstStyle/>
          <a:p>
            <a:pPr marL="0" indent="0">
              <a:buNone/>
            </a:pPr>
            <a:r>
              <a:rPr lang="en-US" sz="1000" b="1" dirty="0">
                <a:solidFill>
                  <a:srgbClr val="FFFFFF"/>
                </a:solidFill>
              </a:rPr>
              <a:t>Adhiti</a:t>
            </a:r>
            <a:endParaRPr lang="en-US" sz="1000" dirty="0"/>
          </a:p>
        </p:txBody>
      </p:sp>
      <p:sp>
        <p:nvSpPr>
          <p:cNvPr id="28" name="Shape 26"/>
          <p:cNvSpPr/>
          <p:nvPr/>
        </p:nvSpPr>
        <p:spPr>
          <a:xfrm>
            <a:off x="841248" y="3995928"/>
            <a:ext cx="3474720" cy="594360"/>
          </a:xfrm>
          <a:prstGeom prst="rect">
            <a:avLst/>
          </a:prstGeom>
          <a:solidFill>
            <a:srgbClr val="FFFFFF"/>
          </a:solidFill>
          <a:ln w="3810">
            <a:solidFill>
              <a:srgbClr val="DDDDDD"/>
            </a:solidFill>
            <a:prstDash val="solid"/>
          </a:ln>
        </p:spPr>
      </p:sp>
      <p:sp>
        <p:nvSpPr>
          <p:cNvPr id="29" name="Shape 27"/>
          <p:cNvSpPr/>
          <p:nvPr/>
        </p:nvSpPr>
        <p:spPr>
          <a:xfrm>
            <a:off x="4005072" y="3995928"/>
            <a:ext cx="502920" cy="594360"/>
          </a:xfrm>
          <a:prstGeom prst="ellipse">
            <a:avLst/>
          </a:prstGeom>
          <a:solidFill>
            <a:srgbClr val="FFFFFF"/>
          </a:solidFill>
          <a:ln w="3810">
            <a:solidFill>
              <a:srgbClr val="DDDDDD"/>
            </a:solidFill>
            <a:prstDash val="solid"/>
          </a:ln>
        </p:spPr>
      </p:sp>
      <p:sp>
        <p:nvSpPr>
          <p:cNvPr id="30" name="Text 28"/>
          <p:cNvSpPr/>
          <p:nvPr/>
        </p:nvSpPr>
        <p:spPr>
          <a:xfrm>
            <a:off x="914400" y="4023360"/>
            <a:ext cx="3200400" cy="256032"/>
          </a:xfrm>
          <a:prstGeom prst="rect">
            <a:avLst/>
          </a:prstGeom>
          <a:noFill/>
          <a:ln/>
        </p:spPr>
        <p:txBody>
          <a:bodyPr wrap="square" rtlCol="0" anchor="ctr"/>
          <a:lstStyle/>
          <a:p>
            <a:pPr marL="0" indent="0">
              <a:buNone/>
            </a:pPr>
            <a:r>
              <a:rPr lang="en-US" sz="1100" b="1" dirty="0">
                <a:solidFill>
                  <a:srgbClr val="2C5F2D"/>
                </a:solidFill>
              </a:rPr>
              <a:t>USN: 01FE24BAR025</a:t>
            </a:r>
            <a:endParaRPr lang="en-US" sz="1100" dirty="0"/>
          </a:p>
        </p:txBody>
      </p:sp>
      <p:sp>
        <p:nvSpPr>
          <p:cNvPr id="31" name="Text 29"/>
          <p:cNvSpPr/>
          <p:nvPr/>
        </p:nvSpPr>
        <p:spPr>
          <a:xfrm>
            <a:off x="914400" y="4261104"/>
            <a:ext cx="3200400" cy="228600"/>
          </a:xfrm>
          <a:prstGeom prst="rect">
            <a:avLst/>
          </a:prstGeom>
          <a:noFill/>
          <a:ln/>
        </p:spPr>
        <p:txBody>
          <a:bodyPr wrap="square" rtlCol="0" anchor="ctr"/>
          <a:lstStyle/>
          <a:p>
            <a:pPr marL="0" indent="0">
              <a:buNone/>
            </a:pPr>
            <a:r>
              <a:rPr lang="en-US" sz="950" dirty="0"/>
              <a:t>A</a:t>
            </a:r>
            <a:r>
              <a:rPr lang="en-US" sz="950" b="1" dirty="0"/>
              <a:t>utomation &amp; Robotics  |  2nd Year B.Tech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4731"/>
          </a:solidFill>
          <a:ln w="12700">
            <a:solidFill>
              <a:srgbClr val="1A4731"/>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Problem Statement</a:t>
            </a:r>
            <a:endParaRPr lang="en-US" sz="1000" dirty="0"/>
          </a:p>
        </p:txBody>
      </p:sp>
      <p:sp>
        <p:nvSpPr>
          <p:cNvPr id="5" name="Text 3"/>
          <p:cNvSpPr/>
          <p:nvPr/>
        </p:nvSpPr>
        <p:spPr>
          <a:xfrm>
            <a:off x="365760" y="594360"/>
            <a:ext cx="8229600" cy="502920"/>
          </a:xfrm>
          <a:prstGeom prst="rect">
            <a:avLst/>
          </a:prstGeom>
          <a:noFill/>
          <a:ln/>
        </p:spPr>
        <p:txBody>
          <a:bodyPr wrap="square" rtlCol="0" anchor="ctr"/>
          <a:lstStyle/>
          <a:p>
            <a:pPr marL="0" indent="0" algn="ctr">
              <a:buNone/>
            </a:pPr>
            <a:r>
              <a:rPr lang="en-US" sz="2600" b="1" dirty="0">
                <a:solidFill>
                  <a:srgbClr val="FFFFFF"/>
                </a:solidFill>
              </a:rPr>
              <a:t>PROBLEM STATEMENT</a:t>
            </a:r>
          </a:p>
          <a:p>
            <a:pPr algn="ctr"/>
            <a:r>
              <a:rPr lang="en-US" b="1" i="1" dirty="0">
                <a:solidFill>
                  <a:srgbClr val="1E1E1E"/>
                </a:solidFill>
              </a:rPr>
              <a:t>Design an AI-Powered Predictive Energy Management System for Industrial Motors</a:t>
            </a:r>
            <a:endParaRPr lang="en-US" dirty="0"/>
          </a:p>
        </p:txBody>
      </p:sp>
      <p:sp>
        <p:nvSpPr>
          <p:cNvPr id="6" name="Shape 4"/>
          <p:cNvSpPr/>
          <p:nvPr/>
        </p:nvSpPr>
        <p:spPr>
          <a:xfrm>
            <a:off x="365760" y="1188720"/>
            <a:ext cx="2658292" cy="1472184"/>
          </a:xfrm>
          <a:prstGeom prst="rect">
            <a:avLst/>
          </a:prstGeom>
          <a:solidFill>
            <a:srgbClr val="2C5F2D"/>
          </a:solidFill>
          <a:ln w="25400">
            <a:solidFill>
              <a:srgbClr val="6DB33F"/>
            </a:solidFill>
            <a:prstDash val="solid"/>
          </a:ln>
        </p:spPr>
      </p:sp>
      <p:sp>
        <p:nvSpPr>
          <p:cNvPr id="7" name="Text 5"/>
          <p:cNvSpPr/>
          <p:nvPr/>
        </p:nvSpPr>
        <p:spPr>
          <a:xfrm>
            <a:off x="365760" y="1261872"/>
            <a:ext cx="2011680" cy="594360"/>
          </a:xfrm>
          <a:prstGeom prst="rect">
            <a:avLst/>
          </a:prstGeom>
          <a:noFill/>
          <a:ln/>
        </p:spPr>
        <p:txBody>
          <a:bodyPr wrap="square" rtlCol="0" anchor="ctr"/>
          <a:lstStyle/>
          <a:p>
            <a:pPr marL="0" indent="0" algn="ctr">
              <a:buNone/>
            </a:pPr>
            <a:r>
              <a:rPr lang="en-US" sz="3000" b="1" dirty="0">
                <a:solidFill>
                  <a:srgbClr val="6DB33F"/>
                </a:solidFill>
              </a:rPr>
              <a:t>45%</a:t>
            </a:r>
            <a:endParaRPr lang="en-US" sz="3000" dirty="0"/>
          </a:p>
        </p:txBody>
      </p:sp>
      <p:sp>
        <p:nvSpPr>
          <p:cNvPr id="8" name="Text 6"/>
          <p:cNvSpPr/>
          <p:nvPr/>
        </p:nvSpPr>
        <p:spPr>
          <a:xfrm>
            <a:off x="365760" y="1810512"/>
            <a:ext cx="2011680" cy="640080"/>
          </a:xfrm>
          <a:prstGeom prst="rect">
            <a:avLst/>
          </a:prstGeom>
          <a:noFill/>
          <a:ln/>
        </p:spPr>
        <p:txBody>
          <a:bodyPr wrap="square" rtlCol="0" anchor="t"/>
          <a:lstStyle/>
          <a:p>
            <a:pPr marL="0" indent="0" algn="ctr">
              <a:buNone/>
            </a:pPr>
            <a:r>
              <a:rPr lang="en-US" sz="1200" dirty="0">
                <a:solidFill>
                  <a:srgbClr val="FFFFFF"/>
                </a:solidFill>
              </a:rPr>
              <a:t>of global electricity</a:t>
            </a:r>
            <a:endParaRPr lang="en-US" sz="1200" dirty="0"/>
          </a:p>
          <a:p>
            <a:pPr marL="0" indent="0" algn="ctr">
              <a:buNone/>
            </a:pPr>
            <a:r>
              <a:rPr lang="en-US" sz="1200" dirty="0">
                <a:solidFill>
                  <a:srgbClr val="FFFFFF"/>
                </a:solidFill>
              </a:rPr>
              <a:t>consumed by industrial motors</a:t>
            </a:r>
            <a:endParaRPr lang="en-US" sz="1200" dirty="0"/>
          </a:p>
        </p:txBody>
      </p:sp>
      <p:sp>
        <p:nvSpPr>
          <p:cNvPr id="9" name="Shape 7"/>
          <p:cNvSpPr/>
          <p:nvPr/>
        </p:nvSpPr>
        <p:spPr>
          <a:xfrm>
            <a:off x="296891" y="3287269"/>
            <a:ext cx="2630858" cy="1371600"/>
          </a:xfrm>
          <a:prstGeom prst="rect">
            <a:avLst/>
          </a:prstGeom>
          <a:solidFill>
            <a:srgbClr val="2C5F2D"/>
          </a:solidFill>
          <a:ln w="25400">
            <a:solidFill>
              <a:srgbClr val="6DB33F"/>
            </a:solidFill>
            <a:prstDash val="solid"/>
          </a:ln>
        </p:spPr>
      </p:sp>
      <p:sp>
        <p:nvSpPr>
          <p:cNvPr id="10" name="Text 8"/>
          <p:cNvSpPr/>
          <p:nvPr/>
        </p:nvSpPr>
        <p:spPr>
          <a:xfrm>
            <a:off x="652562" y="3402366"/>
            <a:ext cx="2011680" cy="594360"/>
          </a:xfrm>
          <a:prstGeom prst="rect">
            <a:avLst/>
          </a:prstGeom>
          <a:noFill/>
          <a:ln/>
        </p:spPr>
        <p:txBody>
          <a:bodyPr wrap="square" rtlCol="0" anchor="ctr"/>
          <a:lstStyle/>
          <a:p>
            <a:pPr marL="0" indent="0" algn="ctr">
              <a:buNone/>
            </a:pPr>
            <a:r>
              <a:rPr lang="en-US" sz="3000" b="1" dirty="0">
                <a:solidFill>
                  <a:srgbClr val="6DB33F"/>
                </a:solidFill>
              </a:rPr>
              <a:t>30–40%</a:t>
            </a:r>
            <a:endParaRPr lang="en-US" sz="3000" dirty="0"/>
          </a:p>
        </p:txBody>
      </p:sp>
      <p:sp>
        <p:nvSpPr>
          <p:cNvPr id="11" name="Text 9"/>
          <p:cNvSpPr/>
          <p:nvPr/>
        </p:nvSpPr>
        <p:spPr>
          <a:xfrm>
            <a:off x="547406" y="3881628"/>
            <a:ext cx="2011680" cy="640080"/>
          </a:xfrm>
          <a:prstGeom prst="rect">
            <a:avLst/>
          </a:prstGeom>
          <a:noFill/>
          <a:ln/>
        </p:spPr>
        <p:txBody>
          <a:bodyPr wrap="square" rtlCol="0" anchor="t"/>
          <a:lstStyle/>
          <a:p>
            <a:pPr marL="0" indent="0" algn="ctr">
              <a:buNone/>
            </a:pPr>
            <a:r>
              <a:rPr lang="en-US" sz="1200" dirty="0">
                <a:solidFill>
                  <a:srgbClr val="FFFFFF"/>
                </a:solidFill>
              </a:rPr>
              <a:t>wasted due to</a:t>
            </a:r>
            <a:endParaRPr lang="en-US" sz="1200" dirty="0"/>
          </a:p>
          <a:p>
            <a:pPr marL="0" indent="0" algn="ctr">
              <a:buNone/>
            </a:pPr>
            <a:r>
              <a:rPr lang="en-US" sz="1200" dirty="0">
                <a:solidFill>
                  <a:srgbClr val="FFFFFF"/>
                </a:solidFill>
              </a:rPr>
              <a:t>fixed-speed operation</a:t>
            </a:r>
            <a:endParaRPr lang="en-US" sz="1200" dirty="0"/>
          </a:p>
        </p:txBody>
      </p:sp>
      <p:sp>
        <p:nvSpPr>
          <p:cNvPr id="12" name="Shape 10"/>
          <p:cNvSpPr/>
          <p:nvPr/>
        </p:nvSpPr>
        <p:spPr>
          <a:xfrm>
            <a:off x="3445546" y="1156716"/>
            <a:ext cx="2011680" cy="1371600"/>
          </a:xfrm>
          <a:prstGeom prst="rect">
            <a:avLst/>
          </a:prstGeom>
          <a:solidFill>
            <a:srgbClr val="1E3A2A"/>
          </a:solidFill>
          <a:ln w="12700">
            <a:solidFill>
              <a:srgbClr val="6DB33F"/>
            </a:solidFill>
            <a:prstDash val="solid"/>
          </a:ln>
        </p:spPr>
      </p:sp>
      <p:sp>
        <p:nvSpPr>
          <p:cNvPr id="13" name="Shape 11"/>
          <p:cNvSpPr/>
          <p:nvPr/>
        </p:nvSpPr>
        <p:spPr>
          <a:xfrm>
            <a:off x="3437419" y="1147572"/>
            <a:ext cx="54864" cy="1371600"/>
          </a:xfrm>
          <a:prstGeom prst="rect">
            <a:avLst/>
          </a:prstGeom>
          <a:solidFill>
            <a:srgbClr val="6DB33F"/>
          </a:solidFill>
          <a:ln w="12700">
            <a:solidFill>
              <a:srgbClr val="6DB33F"/>
            </a:solidFill>
            <a:prstDash val="solid"/>
          </a:ln>
        </p:spPr>
      </p:sp>
      <p:sp>
        <p:nvSpPr>
          <p:cNvPr id="14" name="Text 12"/>
          <p:cNvSpPr/>
          <p:nvPr/>
        </p:nvSpPr>
        <p:spPr>
          <a:xfrm>
            <a:off x="3657600" y="1245906"/>
            <a:ext cx="1828800" cy="274320"/>
          </a:xfrm>
          <a:prstGeom prst="rect">
            <a:avLst/>
          </a:prstGeom>
          <a:noFill/>
          <a:ln/>
        </p:spPr>
        <p:txBody>
          <a:bodyPr wrap="square" rtlCol="0" anchor="ctr"/>
          <a:lstStyle/>
          <a:p>
            <a:pPr marL="0" indent="0">
              <a:buNone/>
            </a:pPr>
            <a:r>
              <a:rPr lang="en-US" sz="1050" b="1" dirty="0">
                <a:solidFill>
                  <a:srgbClr val="6DB33F"/>
                </a:solidFill>
              </a:rPr>
              <a:t>Fixed Speed Operation</a:t>
            </a:r>
            <a:endParaRPr lang="en-US" sz="1050" dirty="0"/>
          </a:p>
        </p:txBody>
      </p:sp>
      <p:sp>
        <p:nvSpPr>
          <p:cNvPr id="15" name="Text 13"/>
          <p:cNvSpPr/>
          <p:nvPr/>
        </p:nvSpPr>
        <p:spPr>
          <a:xfrm>
            <a:off x="3694176" y="1551069"/>
            <a:ext cx="1828800" cy="914400"/>
          </a:xfrm>
          <a:prstGeom prst="rect">
            <a:avLst/>
          </a:prstGeom>
          <a:noFill/>
          <a:ln/>
        </p:spPr>
        <p:txBody>
          <a:bodyPr wrap="square" rtlCol="0" anchor="t"/>
          <a:lstStyle/>
          <a:p>
            <a:pPr marL="0" indent="0">
              <a:buNone/>
            </a:pPr>
            <a:r>
              <a:rPr lang="en-US" sz="1050" b="1" dirty="0">
                <a:solidFill>
                  <a:srgbClr val="FFFFFF"/>
                </a:solidFill>
              </a:rPr>
              <a:t>Motors run at 100% speed regardless of actual load — energy is wasted 24/7, like a car always at full throttle.</a:t>
            </a:r>
            <a:endParaRPr lang="en-US" sz="1050" b="1" dirty="0"/>
          </a:p>
        </p:txBody>
      </p:sp>
      <p:sp>
        <p:nvSpPr>
          <p:cNvPr id="16" name="Shape 14"/>
          <p:cNvSpPr/>
          <p:nvPr/>
        </p:nvSpPr>
        <p:spPr>
          <a:xfrm>
            <a:off x="6119949" y="1147572"/>
            <a:ext cx="2011680" cy="1371600"/>
          </a:xfrm>
          <a:prstGeom prst="rect">
            <a:avLst/>
          </a:prstGeom>
          <a:solidFill>
            <a:srgbClr val="1E3A2A"/>
          </a:solidFill>
          <a:ln w="12700">
            <a:solidFill>
              <a:srgbClr val="6DB33F"/>
            </a:solidFill>
            <a:prstDash val="solid"/>
          </a:ln>
        </p:spPr>
      </p:sp>
      <p:sp>
        <p:nvSpPr>
          <p:cNvPr id="17" name="Shape 15"/>
          <p:cNvSpPr/>
          <p:nvPr/>
        </p:nvSpPr>
        <p:spPr>
          <a:xfrm>
            <a:off x="6065085" y="1140968"/>
            <a:ext cx="54864" cy="1371600"/>
          </a:xfrm>
          <a:prstGeom prst="rect">
            <a:avLst/>
          </a:prstGeom>
          <a:solidFill>
            <a:srgbClr val="6DB33F"/>
          </a:solidFill>
          <a:ln w="12700">
            <a:solidFill>
              <a:srgbClr val="6DB33F"/>
            </a:solidFill>
            <a:prstDash val="solid"/>
          </a:ln>
        </p:spPr>
      </p:sp>
      <p:sp>
        <p:nvSpPr>
          <p:cNvPr id="18" name="Text 16"/>
          <p:cNvSpPr/>
          <p:nvPr/>
        </p:nvSpPr>
        <p:spPr>
          <a:xfrm>
            <a:off x="6357693" y="1266444"/>
            <a:ext cx="1828800" cy="274320"/>
          </a:xfrm>
          <a:prstGeom prst="rect">
            <a:avLst/>
          </a:prstGeom>
          <a:noFill/>
          <a:ln/>
        </p:spPr>
        <p:txBody>
          <a:bodyPr wrap="square" rtlCol="0" anchor="ctr"/>
          <a:lstStyle/>
          <a:p>
            <a:pPr marL="0" indent="0">
              <a:buNone/>
            </a:pPr>
            <a:r>
              <a:rPr lang="en-US" sz="1050" b="1" dirty="0">
                <a:solidFill>
                  <a:srgbClr val="6DB33F"/>
                </a:solidFill>
              </a:rPr>
              <a:t>No Real-Time Monitoring</a:t>
            </a:r>
            <a:endParaRPr lang="en-US" sz="1050" dirty="0"/>
          </a:p>
        </p:txBody>
      </p:sp>
      <p:sp>
        <p:nvSpPr>
          <p:cNvPr id="19" name="Text 17"/>
          <p:cNvSpPr/>
          <p:nvPr/>
        </p:nvSpPr>
        <p:spPr>
          <a:xfrm>
            <a:off x="6338824" y="1613916"/>
            <a:ext cx="1828800" cy="914400"/>
          </a:xfrm>
          <a:prstGeom prst="rect">
            <a:avLst/>
          </a:prstGeom>
          <a:noFill/>
          <a:ln/>
        </p:spPr>
        <p:txBody>
          <a:bodyPr wrap="square" rtlCol="0" anchor="t"/>
          <a:lstStyle/>
          <a:p>
            <a:pPr marL="0" indent="0">
              <a:buNone/>
            </a:pPr>
            <a:r>
              <a:rPr lang="en-US" sz="950" dirty="0">
                <a:solidFill>
                  <a:srgbClr val="FFFFFF"/>
                </a:solidFill>
              </a:rPr>
              <a:t>Operators have zero visibility into consumption patterns. Faults go undetected until damage occurs.</a:t>
            </a:r>
            <a:endParaRPr lang="en-US" sz="950" dirty="0"/>
          </a:p>
        </p:txBody>
      </p:sp>
      <p:sp>
        <p:nvSpPr>
          <p:cNvPr id="20" name="Shape 18"/>
          <p:cNvSpPr/>
          <p:nvPr/>
        </p:nvSpPr>
        <p:spPr>
          <a:xfrm>
            <a:off x="3511296" y="2697480"/>
            <a:ext cx="2011680" cy="1371600"/>
          </a:xfrm>
          <a:prstGeom prst="rect">
            <a:avLst/>
          </a:prstGeom>
          <a:solidFill>
            <a:srgbClr val="1E3A2A"/>
          </a:solidFill>
          <a:ln w="12700">
            <a:solidFill>
              <a:srgbClr val="6DB33F"/>
            </a:solidFill>
            <a:prstDash val="solid"/>
          </a:ln>
        </p:spPr>
      </p:sp>
      <p:sp>
        <p:nvSpPr>
          <p:cNvPr id="21" name="Shape 19"/>
          <p:cNvSpPr/>
          <p:nvPr/>
        </p:nvSpPr>
        <p:spPr>
          <a:xfrm>
            <a:off x="3478058" y="2697480"/>
            <a:ext cx="54864" cy="1371600"/>
          </a:xfrm>
          <a:prstGeom prst="rect">
            <a:avLst/>
          </a:prstGeom>
          <a:solidFill>
            <a:srgbClr val="6DB33F"/>
          </a:solidFill>
          <a:ln w="12700">
            <a:solidFill>
              <a:srgbClr val="6DB33F"/>
            </a:solidFill>
            <a:prstDash val="solid"/>
          </a:ln>
        </p:spPr>
      </p:sp>
      <p:sp>
        <p:nvSpPr>
          <p:cNvPr id="22" name="Text 20"/>
          <p:cNvSpPr/>
          <p:nvPr/>
        </p:nvSpPr>
        <p:spPr>
          <a:xfrm>
            <a:off x="3758184" y="2800386"/>
            <a:ext cx="1828800" cy="274320"/>
          </a:xfrm>
          <a:prstGeom prst="rect">
            <a:avLst/>
          </a:prstGeom>
          <a:noFill/>
          <a:ln/>
        </p:spPr>
        <p:txBody>
          <a:bodyPr wrap="square" rtlCol="0" anchor="ctr"/>
          <a:lstStyle/>
          <a:p>
            <a:pPr marL="0" indent="0">
              <a:buNone/>
            </a:pPr>
            <a:r>
              <a:rPr lang="en-US" sz="1050" b="1" dirty="0">
                <a:solidFill>
                  <a:srgbClr val="6DB33F"/>
                </a:solidFill>
              </a:rPr>
              <a:t>No Predictive Control</a:t>
            </a:r>
            <a:endParaRPr lang="en-US" sz="1050" dirty="0"/>
          </a:p>
        </p:txBody>
      </p:sp>
      <p:sp>
        <p:nvSpPr>
          <p:cNvPr id="23" name="Text 21"/>
          <p:cNvSpPr/>
          <p:nvPr/>
        </p:nvSpPr>
        <p:spPr>
          <a:xfrm>
            <a:off x="3694176" y="3123111"/>
            <a:ext cx="1828800" cy="914400"/>
          </a:xfrm>
          <a:prstGeom prst="rect">
            <a:avLst/>
          </a:prstGeom>
          <a:noFill/>
          <a:ln/>
        </p:spPr>
        <p:txBody>
          <a:bodyPr wrap="square" rtlCol="0" anchor="t"/>
          <a:lstStyle/>
          <a:p>
            <a:pPr marL="0" indent="0">
              <a:buNone/>
            </a:pPr>
            <a:r>
              <a:rPr lang="en-US" sz="1050" b="1" dirty="0">
                <a:solidFill>
                  <a:srgbClr val="FFFFFF"/>
                </a:solidFill>
              </a:rPr>
              <a:t>Without AI, factories cannot anticipate load changes. Motors over-consume during every low-demand period.</a:t>
            </a:r>
            <a:endParaRPr lang="en-US" sz="1050" b="1" dirty="0"/>
          </a:p>
        </p:txBody>
      </p:sp>
      <p:sp>
        <p:nvSpPr>
          <p:cNvPr id="24" name="Shape 22"/>
          <p:cNvSpPr/>
          <p:nvPr/>
        </p:nvSpPr>
        <p:spPr>
          <a:xfrm>
            <a:off x="6092517" y="2697480"/>
            <a:ext cx="2011680" cy="1371600"/>
          </a:xfrm>
          <a:prstGeom prst="rect">
            <a:avLst/>
          </a:prstGeom>
          <a:solidFill>
            <a:srgbClr val="1E3A2A"/>
          </a:solidFill>
          <a:ln w="12700">
            <a:solidFill>
              <a:srgbClr val="6DB33F"/>
            </a:solidFill>
            <a:prstDash val="solid"/>
          </a:ln>
        </p:spPr>
      </p:sp>
      <p:sp>
        <p:nvSpPr>
          <p:cNvPr id="25" name="Shape 23"/>
          <p:cNvSpPr/>
          <p:nvPr/>
        </p:nvSpPr>
        <p:spPr>
          <a:xfrm>
            <a:off x="6037653" y="2697480"/>
            <a:ext cx="54864" cy="1371600"/>
          </a:xfrm>
          <a:prstGeom prst="rect">
            <a:avLst/>
          </a:prstGeom>
          <a:solidFill>
            <a:srgbClr val="6DB33F"/>
          </a:solidFill>
          <a:ln w="12700">
            <a:solidFill>
              <a:srgbClr val="6DB33F"/>
            </a:solidFill>
            <a:prstDash val="solid"/>
          </a:ln>
        </p:spPr>
      </p:sp>
      <p:sp>
        <p:nvSpPr>
          <p:cNvPr id="26" name="Text 24"/>
          <p:cNvSpPr/>
          <p:nvPr/>
        </p:nvSpPr>
        <p:spPr>
          <a:xfrm>
            <a:off x="6302829" y="2819545"/>
            <a:ext cx="1828800" cy="274320"/>
          </a:xfrm>
          <a:prstGeom prst="rect">
            <a:avLst/>
          </a:prstGeom>
          <a:noFill/>
          <a:ln/>
        </p:spPr>
        <p:txBody>
          <a:bodyPr wrap="square" rtlCol="0" anchor="ctr"/>
          <a:lstStyle/>
          <a:p>
            <a:pPr marL="0" indent="0">
              <a:buNone/>
            </a:pPr>
            <a:r>
              <a:rPr lang="en-US" sz="1050" b="1" dirty="0">
                <a:solidFill>
                  <a:srgbClr val="6DB33F"/>
                </a:solidFill>
              </a:rPr>
              <a:t>High Cost &amp; Emissions</a:t>
            </a:r>
            <a:endParaRPr lang="en-US" sz="1050" dirty="0"/>
          </a:p>
        </p:txBody>
      </p:sp>
      <p:sp>
        <p:nvSpPr>
          <p:cNvPr id="27" name="Text 25"/>
          <p:cNvSpPr/>
          <p:nvPr/>
        </p:nvSpPr>
        <p:spPr>
          <a:xfrm>
            <a:off x="6263786" y="3049161"/>
            <a:ext cx="1828800" cy="914400"/>
          </a:xfrm>
          <a:prstGeom prst="rect">
            <a:avLst/>
          </a:prstGeom>
          <a:noFill/>
          <a:ln/>
        </p:spPr>
        <p:txBody>
          <a:bodyPr wrap="square" rtlCol="0" anchor="t"/>
          <a:lstStyle/>
          <a:p>
            <a:pPr marL="0" indent="0">
              <a:buNone/>
            </a:pPr>
            <a:r>
              <a:rPr lang="en-US" sz="950" dirty="0">
                <a:solidFill>
                  <a:srgbClr val="FFFFFF"/>
                </a:solidFill>
              </a:rPr>
              <a:t>Excess bills cost factories ₹lakhs/year. Fixed-speed motors generate unnecessary CO₂ &amp; shorten lifespan.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Objectives</a:t>
            </a:r>
            <a:endParaRPr lang="en-US" sz="1000" dirty="0"/>
          </a:p>
        </p:txBody>
      </p:sp>
      <p:sp>
        <p:nvSpPr>
          <p:cNvPr id="5" name="Text 3"/>
          <p:cNvSpPr/>
          <p:nvPr/>
        </p:nvSpPr>
        <p:spPr>
          <a:xfrm>
            <a:off x="365760" y="594360"/>
            <a:ext cx="8229600" cy="502920"/>
          </a:xfrm>
          <a:prstGeom prst="rect">
            <a:avLst/>
          </a:prstGeom>
          <a:noFill/>
          <a:ln/>
        </p:spPr>
        <p:txBody>
          <a:bodyPr wrap="square" rtlCol="0" anchor="ctr"/>
          <a:lstStyle/>
          <a:p>
            <a:pPr marL="0" indent="0" algn="ctr">
              <a:buNone/>
            </a:pPr>
            <a:r>
              <a:rPr lang="en-US" sz="2600" b="1" dirty="0">
                <a:solidFill>
                  <a:srgbClr val="2C5F2D"/>
                </a:solidFill>
              </a:rPr>
              <a:t>OBJECTIVES</a:t>
            </a:r>
            <a:endParaRPr lang="en-US" sz="2600" dirty="0"/>
          </a:p>
        </p:txBody>
      </p:sp>
      <p:sp>
        <p:nvSpPr>
          <p:cNvPr id="6" name="Text 4"/>
          <p:cNvSpPr/>
          <p:nvPr/>
        </p:nvSpPr>
        <p:spPr>
          <a:xfrm>
            <a:off x="457200" y="1188720"/>
            <a:ext cx="8229600" cy="640080"/>
          </a:xfrm>
          <a:prstGeom prst="rect">
            <a:avLst/>
          </a:prstGeom>
          <a:noFill/>
          <a:ln/>
        </p:spPr>
        <p:txBody>
          <a:bodyPr wrap="square" rtlCol="0" anchor="ctr"/>
          <a:lstStyle/>
          <a:p>
            <a:pPr marL="0" indent="0" algn="ctr">
              <a:buNone/>
            </a:pPr>
            <a:r>
              <a:rPr lang="en-US" sz="1400" b="1" i="1" dirty="0">
                <a:solidFill>
                  <a:srgbClr val="1E1E1E"/>
                </a:solidFill>
              </a:rPr>
              <a:t>Design an AI-Powered Predictive Energy Management System for Industrial Motors that monitors real-time load, predicts demand using machine learning, and automatically adjusts motor speed — eliminating energy waste without manual intervention.</a:t>
            </a:r>
            <a:endParaRPr lang="en-US" sz="1400" b="1" dirty="0"/>
          </a:p>
        </p:txBody>
      </p:sp>
      <p:sp>
        <p:nvSpPr>
          <p:cNvPr id="7" name="Shape 5"/>
          <p:cNvSpPr/>
          <p:nvPr/>
        </p:nvSpPr>
        <p:spPr>
          <a:xfrm>
            <a:off x="380274" y="1952280"/>
            <a:ext cx="3931920" cy="1371600"/>
          </a:xfrm>
          <a:prstGeom prst="rect">
            <a:avLst/>
          </a:prstGeom>
          <a:solidFill>
            <a:srgbClr val="FFFFFF"/>
          </a:solidFill>
          <a:ln w="6350">
            <a:solidFill>
              <a:srgbClr val="DDDDDD"/>
            </a:solidFill>
            <a:prstDash val="solid"/>
          </a:ln>
          <a:effectLst>
            <a:outerShdw blurRad="63500" dist="12700" dir="8100000" algn="bl" rotWithShape="0">
              <a:srgbClr val="000000">
                <a:alpha val="8000"/>
              </a:srgbClr>
            </a:outerShdw>
          </a:effectLst>
        </p:spPr>
      </p:sp>
      <p:sp>
        <p:nvSpPr>
          <p:cNvPr id="8" name="Shape 6"/>
          <p:cNvSpPr/>
          <p:nvPr/>
        </p:nvSpPr>
        <p:spPr>
          <a:xfrm>
            <a:off x="502920" y="2075688"/>
            <a:ext cx="384048" cy="384048"/>
          </a:xfrm>
          <a:prstGeom prst="ellipse">
            <a:avLst/>
          </a:prstGeom>
          <a:solidFill>
            <a:srgbClr val="6DB33F"/>
          </a:solidFill>
          <a:ln w="12700">
            <a:solidFill>
              <a:srgbClr val="6DB33F"/>
            </a:solidFill>
            <a:prstDash val="solid"/>
          </a:ln>
        </p:spPr>
      </p:sp>
      <p:sp>
        <p:nvSpPr>
          <p:cNvPr id="9" name="Text 7"/>
          <p:cNvSpPr/>
          <p:nvPr/>
        </p:nvSpPr>
        <p:spPr>
          <a:xfrm>
            <a:off x="502920" y="2075688"/>
            <a:ext cx="384048" cy="384048"/>
          </a:xfrm>
          <a:prstGeom prst="rect">
            <a:avLst/>
          </a:prstGeom>
          <a:noFill/>
          <a:ln/>
        </p:spPr>
        <p:txBody>
          <a:bodyPr wrap="square" rtlCol="0" anchor="ctr"/>
          <a:lstStyle/>
          <a:p>
            <a:pPr marL="0" indent="0" algn="ctr">
              <a:buNone/>
            </a:pPr>
            <a:r>
              <a:rPr lang="en-US" sz="1100" b="1" dirty="0">
                <a:solidFill>
                  <a:srgbClr val="FFFFFF"/>
                </a:solidFill>
              </a:rPr>
              <a:t>01</a:t>
            </a:r>
            <a:endParaRPr lang="en-US" sz="1100" dirty="0"/>
          </a:p>
        </p:txBody>
      </p:sp>
      <p:sp>
        <p:nvSpPr>
          <p:cNvPr id="10" name="Text 8"/>
          <p:cNvSpPr/>
          <p:nvPr/>
        </p:nvSpPr>
        <p:spPr>
          <a:xfrm>
            <a:off x="960120" y="2057400"/>
            <a:ext cx="3200400" cy="365760"/>
          </a:xfrm>
          <a:prstGeom prst="rect">
            <a:avLst/>
          </a:prstGeom>
          <a:noFill/>
          <a:ln/>
        </p:spPr>
        <p:txBody>
          <a:bodyPr wrap="square" rtlCol="0" anchor="ctr"/>
          <a:lstStyle/>
          <a:p>
            <a:pPr marL="0" indent="0">
              <a:buNone/>
            </a:pPr>
            <a:r>
              <a:rPr lang="en-US" sz="1400" b="1" dirty="0">
                <a:solidFill>
                  <a:srgbClr val="2C5F2D"/>
                </a:solidFill>
              </a:rPr>
              <a:t>Monitor in Real-Time</a:t>
            </a:r>
            <a:endParaRPr lang="en-US" sz="1400" b="1" dirty="0"/>
          </a:p>
        </p:txBody>
      </p:sp>
      <p:sp>
        <p:nvSpPr>
          <p:cNvPr id="11" name="Text 9"/>
          <p:cNvSpPr/>
          <p:nvPr/>
        </p:nvSpPr>
        <p:spPr>
          <a:xfrm>
            <a:off x="502920" y="2468880"/>
            <a:ext cx="3657600" cy="777240"/>
          </a:xfrm>
          <a:prstGeom prst="rect">
            <a:avLst/>
          </a:prstGeom>
          <a:noFill/>
          <a:ln/>
        </p:spPr>
        <p:txBody>
          <a:bodyPr wrap="square" rtlCol="0" anchor="t"/>
          <a:lstStyle/>
          <a:p>
            <a:pPr marL="0" indent="0">
              <a:buNone/>
            </a:pPr>
            <a:r>
              <a:rPr lang="en-US" sz="1200" dirty="0">
                <a:solidFill>
                  <a:srgbClr val="1E1E1E"/>
                </a:solidFill>
              </a:rPr>
              <a:t>ESP32 reads ACS712 current sensor and MPU6050 vibration sensor every 500ms. Streams data over WiFi via MQTT protocol to central server.</a:t>
            </a:r>
            <a:endParaRPr lang="en-US" sz="1200" dirty="0"/>
          </a:p>
        </p:txBody>
      </p:sp>
      <p:sp>
        <p:nvSpPr>
          <p:cNvPr id="12" name="Shape 10"/>
          <p:cNvSpPr/>
          <p:nvPr/>
        </p:nvSpPr>
        <p:spPr>
          <a:xfrm>
            <a:off x="4572000" y="1965960"/>
            <a:ext cx="3931920" cy="1371600"/>
          </a:xfrm>
          <a:prstGeom prst="rect">
            <a:avLst/>
          </a:prstGeom>
          <a:solidFill>
            <a:srgbClr val="FFFFFF"/>
          </a:solidFill>
          <a:ln w="6350">
            <a:solidFill>
              <a:srgbClr val="DDDDDD"/>
            </a:solidFill>
            <a:prstDash val="solid"/>
          </a:ln>
          <a:effectLst>
            <a:outerShdw blurRad="63500" dist="12700" dir="8100000" algn="bl" rotWithShape="0">
              <a:srgbClr val="000000">
                <a:alpha val="8000"/>
              </a:srgbClr>
            </a:outerShdw>
          </a:effectLst>
        </p:spPr>
      </p:sp>
      <p:sp>
        <p:nvSpPr>
          <p:cNvPr id="13" name="Shape 11"/>
          <p:cNvSpPr/>
          <p:nvPr/>
        </p:nvSpPr>
        <p:spPr>
          <a:xfrm>
            <a:off x="4709160" y="2075688"/>
            <a:ext cx="384048" cy="384048"/>
          </a:xfrm>
          <a:prstGeom prst="ellipse">
            <a:avLst/>
          </a:prstGeom>
          <a:solidFill>
            <a:srgbClr val="6DB33F"/>
          </a:solidFill>
          <a:ln w="12700">
            <a:solidFill>
              <a:srgbClr val="6DB33F"/>
            </a:solidFill>
            <a:prstDash val="solid"/>
          </a:ln>
        </p:spPr>
      </p:sp>
      <p:sp>
        <p:nvSpPr>
          <p:cNvPr id="14" name="Text 12"/>
          <p:cNvSpPr/>
          <p:nvPr/>
        </p:nvSpPr>
        <p:spPr>
          <a:xfrm>
            <a:off x="4709160" y="2075688"/>
            <a:ext cx="384048" cy="384048"/>
          </a:xfrm>
          <a:prstGeom prst="rect">
            <a:avLst/>
          </a:prstGeom>
          <a:noFill/>
          <a:ln/>
        </p:spPr>
        <p:txBody>
          <a:bodyPr wrap="square" rtlCol="0" anchor="ctr"/>
          <a:lstStyle/>
          <a:p>
            <a:pPr marL="0" indent="0" algn="ctr">
              <a:buNone/>
            </a:pPr>
            <a:r>
              <a:rPr lang="en-US" sz="1100" b="1" dirty="0">
                <a:solidFill>
                  <a:srgbClr val="FFFFFF"/>
                </a:solidFill>
              </a:rPr>
              <a:t>02</a:t>
            </a:r>
            <a:endParaRPr lang="en-US" sz="1100" dirty="0"/>
          </a:p>
        </p:txBody>
      </p:sp>
      <p:sp>
        <p:nvSpPr>
          <p:cNvPr id="15" name="Text 13"/>
          <p:cNvSpPr/>
          <p:nvPr/>
        </p:nvSpPr>
        <p:spPr>
          <a:xfrm>
            <a:off x="5166360" y="2057400"/>
            <a:ext cx="3200400" cy="365760"/>
          </a:xfrm>
          <a:prstGeom prst="rect">
            <a:avLst/>
          </a:prstGeom>
          <a:noFill/>
          <a:ln/>
        </p:spPr>
        <p:txBody>
          <a:bodyPr wrap="square" rtlCol="0" anchor="ctr"/>
          <a:lstStyle/>
          <a:p>
            <a:pPr marL="0" indent="0">
              <a:buNone/>
            </a:pPr>
            <a:r>
              <a:rPr lang="en-US" sz="1400" b="1" dirty="0">
                <a:solidFill>
                  <a:srgbClr val="2C5F2D"/>
                </a:solidFill>
              </a:rPr>
              <a:t>Predict Load Demand</a:t>
            </a:r>
            <a:endParaRPr lang="en-US" sz="1400" dirty="0"/>
          </a:p>
        </p:txBody>
      </p:sp>
      <p:sp>
        <p:nvSpPr>
          <p:cNvPr id="16" name="Text 14"/>
          <p:cNvSpPr/>
          <p:nvPr/>
        </p:nvSpPr>
        <p:spPr>
          <a:xfrm>
            <a:off x="4709160" y="2468880"/>
            <a:ext cx="3657600" cy="777240"/>
          </a:xfrm>
          <a:prstGeom prst="rect">
            <a:avLst/>
          </a:prstGeom>
          <a:noFill/>
          <a:ln/>
        </p:spPr>
        <p:txBody>
          <a:bodyPr wrap="square" rtlCol="0" anchor="t"/>
          <a:lstStyle/>
          <a:p>
            <a:pPr marL="0" indent="0">
              <a:buNone/>
            </a:pPr>
            <a:r>
              <a:rPr lang="en-US" sz="1200" dirty="0">
                <a:solidFill>
                  <a:srgbClr val="1E1E1E"/>
                </a:solidFill>
              </a:rPr>
              <a:t>TinyML model (TensorFlow Lite) predicts upcoming motor load levels — Low, Medium, or High — 5 to 10 minutes in advance</a:t>
            </a:r>
            <a:r>
              <a:rPr lang="en-US" sz="1050" dirty="0">
                <a:solidFill>
                  <a:srgbClr val="1E1E1E"/>
                </a:solidFill>
              </a:rPr>
              <a:t>.</a:t>
            </a:r>
            <a:endParaRPr lang="en-US" sz="1050" dirty="0"/>
          </a:p>
        </p:txBody>
      </p:sp>
      <p:sp>
        <p:nvSpPr>
          <p:cNvPr id="17" name="Shape 15"/>
          <p:cNvSpPr/>
          <p:nvPr/>
        </p:nvSpPr>
        <p:spPr>
          <a:xfrm>
            <a:off x="365760" y="3474720"/>
            <a:ext cx="3931920" cy="1371600"/>
          </a:xfrm>
          <a:prstGeom prst="rect">
            <a:avLst/>
          </a:prstGeom>
          <a:solidFill>
            <a:srgbClr val="FFFFFF"/>
          </a:solidFill>
          <a:ln w="6350">
            <a:solidFill>
              <a:srgbClr val="DDDDDD"/>
            </a:solidFill>
            <a:prstDash val="solid"/>
          </a:ln>
          <a:effectLst>
            <a:outerShdw blurRad="63500" dist="12700" dir="8100000" algn="bl" rotWithShape="0">
              <a:srgbClr val="000000">
                <a:alpha val="8000"/>
              </a:srgbClr>
            </a:outerShdw>
          </a:effectLst>
        </p:spPr>
      </p:sp>
      <p:sp>
        <p:nvSpPr>
          <p:cNvPr id="18" name="Shape 16"/>
          <p:cNvSpPr/>
          <p:nvPr/>
        </p:nvSpPr>
        <p:spPr>
          <a:xfrm>
            <a:off x="502920" y="3584448"/>
            <a:ext cx="384048" cy="384048"/>
          </a:xfrm>
          <a:prstGeom prst="ellipse">
            <a:avLst/>
          </a:prstGeom>
          <a:solidFill>
            <a:srgbClr val="6DB33F"/>
          </a:solidFill>
          <a:ln w="12700">
            <a:solidFill>
              <a:srgbClr val="6DB33F"/>
            </a:solidFill>
            <a:prstDash val="solid"/>
          </a:ln>
        </p:spPr>
      </p:sp>
      <p:sp>
        <p:nvSpPr>
          <p:cNvPr id="19" name="Text 17"/>
          <p:cNvSpPr/>
          <p:nvPr/>
        </p:nvSpPr>
        <p:spPr>
          <a:xfrm>
            <a:off x="502920" y="3584448"/>
            <a:ext cx="384048" cy="384048"/>
          </a:xfrm>
          <a:prstGeom prst="rect">
            <a:avLst/>
          </a:prstGeom>
          <a:noFill/>
          <a:ln/>
        </p:spPr>
        <p:txBody>
          <a:bodyPr wrap="square" rtlCol="0" anchor="ctr"/>
          <a:lstStyle/>
          <a:p>
            <a:pPr marL="0" indent="0" algn="ctr">
              <a:buNone/>
            </a:pPr>
            <a:r>
              <a:rPr lang="en-US" sz="1100" b="1" dirty="0">
                <a:solidFill>
                  <a:srgbClr val="FFFFFF"/>
                </a:solidFill>
              </a:rPr>
              <a:t>03</a:t>
            </a:r>
            <a:endParaRPr lang="en-US" sz="1100" dirty="0"/>
          </a:p>
        </p:txBody>
      </p:sp>
      <p:sp>
        <p:nvSpPr>
          <p:cNvPr id="20" name="Text 18"/>
          <p:cNvSpPr/>
          <p:nvPr/>
        </p:nvSpPr>
        <p:spPr>
          <a:xfrm>
            <a:off x="960120" y="3566160"/>
            <a:ext cx="3200400" cy="365760"/>
          </a:xfrm>
          <a:prstGeom prst="rect">
            <a:avLst/>
          </a:prstGeom>
          <a:noFill/>
          <a:ln/>
        </p:spPr>
        <p:txBody>
          <a:bodyPr wrap="square" rtlCol="0" anchor="ctr"/>
          <a:lstStyle/>
          <a:p>
            <a:pPr marL="0" indent="0">
              <a:buNone/>
            </a:pPr>
            <a:r>
              <a:rPr lang="en-US" sz="1400" b="1" dirty="0">
                <a:solidFill>
                  <a:srgbClr val="2C5F2D"/>
                </a:solidFill>
              </a:rPr>
              <a:t>Optimise Motor Speed</a:t>
            </a:r>
            <a:endParaRPr lang="en-US" sz="1400" dirty="0"/>
          </a:p>
        </p:txBody>
      </p:sp>
      <p:sp>
        <p:nvSpPr>
          <p:cNvPr id="21" name="Text 19"/>
          <p:cNvSpPr/>
          <p:nvPr/>
        </p:nvSpPr>
        <p:spPr>
          <a:xfrm>
            <a:off x="502920" y="3977640"/>
            <a:ext cx="3657600" cy="777240"/>
          </a:xfrm>
          <a:prstGeom prst="rect">
            <a:avLst/>
          </a:prstGeom>
          <a:noFill/>
          <a:ln/>
        </p:spPr>
        <p:txBody>
          <a:bodyPr wrap="square" rtlCol="0" anchor="t"/>
          <a:lstStyle/>
          <a:p>
            <a:pPr marL="0" indent="0">
              <a:buNone/>
            </a:pPr>
            <a:r>
              <a:rPr lang="en-US" sz="1200" dirty="0">
                <a:solidFill>
                  <a:srgbClr val="1E1E1E"/>
                </a:solidFill>
              </a:rPr>
              <a:t>Siemens S7-1200 PLC receives AI prediction and commands the VFD to adjust motor speed to the exact required frequency in Hz.</a:t>
            </a:r>
            <a:endParaRPr lang="en-US" sz="1200" dirty="0"/>
          </a:p>
        </p:txBody>
      </p:sp>
      <p:sp>
        <p:nvSpPr>
          <p:cNvPr id="22" name="Shape 20"/>
          <p:cNvSpPr/>
          <p:nvPr/>
        </p:nvSpPr>
        <p:spPr>
          <a:xfrm>
            <a:off x="4572000" y="3474720"/>
            <a:ext cx="3931920" cy="1371600"/>
          </a:xfrm>
          <a:prstGeom prst="rect">
            <a:avLst/>
          </a:prstGeom>
          <a:solidFill>
            <a:srgbClr val="FFFFFF"/>
          </a:solidFill>
          <a:ln w="6350">
            <a:solidFill>
              <a:srgbClr val="DDDDDD"/>
            </a:solidFill>
            <a:prstDash val="solid"/>
          </a:ln>
          <a:effectLst>
            <a:outerShdw blurRad="63500" dist="12700" dir="8100000" algn="bl" rotWithShape="0">
              <a:srgbClr val="000000">
                <a:alpha val="8000"/>
              </a:srgbClr>
            </a:outerShdw>
          </a:effectLst>
        </p:spPr>
        <p:txBody>
          <a:bodyPr/>
          <a:lstStyle/>
          <a:p>
            <a:endParaRPr lang="en-IN" dirty="0"/>
          </a:p>
        </p:txBody>
      </p:sp>
      <p:sp>
        <p:nvSpPr>
          <p:cNvPr id="23" name="Shape 21"/>
          <p:cNvSpPr/>
          <p:nvPr/>
        </p:nvSpPr>
        <p:spPr>
          <a:xfrm>
            <a:off x="4709160" y="3584448"/>
            <a:ext cx="384048" cy="384048"/>
          </a:xfrm>
          <a:prstGeom prst="ellipse">
            <a:avLst/>
          </a:prstGeom>
          <a:solidFill>
            <a:srgbClr val="6DB33F"/>
          </a:solidFill>
          <a:ln w="12700">
            <a:solidFill>
              <a:srgbClr val="6DB33F"/>
            </a:solidFill>
            <a:prstDash val="solid"/>
          </a:ln>
        </p:spPr>
      </p:sp>
      <p:sp>
        <p:nvSpPr>
          <p:cNvPr id="24" name="Text 22"/>
          <p:cNvSpPr/>
          <p:nvPr/>
        </p:nvSpPr>
        <p:spPr>
          <a:xfrm>
            <a:off x="4709160" y="3584448"/>
            <a:ext cx="384048" cy="384048"/>
          </a:xfrm>
          <a:prstGeom prst="rect">
            <a:avLst/>
          </a:prstGeom>
          <a:noFill/>
          <a:ln/>
        </p:spPr>
        <p:txBody>
          <a:bodyPr wrap="square" rtlCol="0" anchor="ctr"/>
          <a:lstStyle/>
          <a:p>
            <a:pPr marL="0" indent="0" algn="ctr">
              <a:buNone/>
            </a:pPr>
            <a:r>
              <a:rPr lang="en-US" sz="1100" b="1" dirty="0">
                <a:solidFill>
                  <a:srgbClr val="FFFFFF"/>
                </a:solidFill>
              </a:rPr>
              <a:t>04</a:t>
            </a:r>
            <a:endParaRPr lang="en-US" sz="1100" dirty="0"/>
          </a:p>
        </p:txBody>
      </p:sp>
      <p:sp>
        <p:nvSpPr>
          <p:cNvPr id="25" name="Text 23"/>
          <p:cNvSpPr/>
          <p:nvPr/>
        </p:nvSpPr>
        <p:spPr>
          <a:xfrm>
            <a:off x="5166360" y="3566160"/>
            <a:ext cx="3200400" cy="365760"/>
          </a:xfrm>
          <a:prstGeom prst="rect">
            <a:avLst/>
          </a:prstGeom>
          <a:noFill/>
          <a:ln/>
        </p:spPr>
        <p:txBody>
          <a:bodyPr wrap="square" rtlCol="0" anchor="ctr"/>
          <a:lstStyle/>
          <a:p>
            <a:pPr marL="0" indent="0">
              <a:buNone/>
            </a:pPr>
            <a:r>
              <a:rPr lang="en-US" sz="1400" b="1" dirty="0">
                <a:solidFill>
                  <a:srgbClr val="2C5F2D"/>
                </a:solidFill>
              </a:rPr>
              <a:t>Visualise &amp; Alert</a:t>
            </a:r>
            <a:endParaRPr lang="en-US" sz="1400" dirty="0"/>
          </a:p>
        </p:txBody>
      </p:sp>
      <p:sp>
        <p:nvSpPr>
          <p:cNvPr id="26" name="Text 24"/>
          <p:cNvSpPr/>
          <p:nvPr/>
        </p:nvSpPr>
        <p:spPr>
          <a:xfrm>
            <a:off x="4709160" y="3977640"/>
            <a:ext cx="3657600" cy="777240"/>
          </a:xfrm>
          <a:prstGeom prst="rect">
            <a:avLst/>
          </a:prstGeom>
          <a:noFill/>
          <a:ln/>
        </p:spPr>
        <p:txBody>
          <a:bodyPr wrap="square" rtlCol="0" anchor="t"/>
          <a:lstStyle/>
          <a:p>
            <a:pPr marL="0" indent="0">
              <a:buNone/>
            </a:pPr>
            <a:r>
              <a:rPr lang="en-US" sz="1200" dirty="0">
                <a:solidFill>
                  <a:srgbClr val="1E1E1E"/>
                </a:solidFill>
              </a:rPr>
              <a:t>Node-RED dashboard and Blynk app display live kWh consumed, ₹ savings, CO₂ reduction, and send alerts on anomaly detection.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Proposed Solution</a:t>
            </a:r>
            <a:endParaRPr lang="en-US" sz="1000" dirty="0"/>
          </a:p>
        </p:txBody>
      </p:sp>
      <p:sp>
        <p:nvSpPr>
          <p:cNvPr id="5" name="Text 3"/>
          <p:cNvSpPr/>
          <p:nvPr/>
        </p:nvSpPr>
        <p:spPr>
          <a:xfrm>
            <a:off x="365760" y="594360"/>
            <a:ext cx="8229600" cy="457200"/>
          </a:xfrm>
          <a:prstGeom prst="rect">
            <a:avLst/>
          </a:prstGeom>
          <a:noFill/>
          <a:ln/>
        </p:spPr>
        <p:txBody>
          <a:bodyPr wrap="square" rtlCol="0" anchor="ctr"/>
          <a:lstStyle/>
          <a:p>
            <a:pPr marL="0" indent="0" algn="ctr">
              <a:buNone/>
            </a:pPr>
            <a:r>
              <a:rPr lang="en-US" sz="2600" b="1" dirty="0">
                <a:solidFill>
                  <a:srgbClr val="2C5F2D"/>
                </a:solidFill>
              </a:rPr>
              <a:t>PROPOSED SOLUTION</a:t>
            </a:r>
            <a:endParaRPr lang="en-US" sz="2600" dirty="0"/>
          </a:p>
        </p:txBody>
      </p:sp>
      <p:sp>
        <p:nvSpPr>
          <p:cNvPr id="6" name="Text 4"/>
          <p:cNvSpPr/>
          <p:nvPr/>
        </p:nvSpPr>
        <p:spPr>
          <a:xfrm>
            <a:off x="365760" y="1051560"/>
            <a:ext cx="8229600" cy="274320"/>
          </a:xfrm>
          <a:prstGeom prst="rect">
            <a:avLst/>
          </a:prstGeom>
          <a:noFill/>
          <a:ln/>
        </p:spPr>
        <p:txBody>
          <a:bodyPr wrap="square" rtlCol="0" anchor="ctr"/>
          <a:lstStyle/>
          <a:p>
            <a:pPr marL="0" indent="0" algn="ctr">
              <a:buNone/>
            </a:pPr>
            <a:r>
              <a:rPr lang="en-US" sz="1100" i="1" dirty="0">
                <a:solidFill>
                  <a:srgbClr val="2C5F2D"/>
                </a:solidFill>
              </a:rPr>
              <a:t>AI-Powered Predictive Motor Energy Management System</a:t>
            </a:r>
            <a:endParaRPr lang="en-US" sz="1100" dirty="0"/>
          </a:p>
        </p:txBody>
      </p:sp>
      <p:sp>
        <p:nvSpPr>
          <p:cNvPr id="7" name="Shape 5"/>
          <p:cNvSpPr/>
          <p:nvPr/>
        </p:nvSpPr>
        <p:spPr>
          <a:xfrm>
            <a:off x="228600" y="1417320"/>
            <a:ext cx="1280160" cy="685800"/>
          </a:xfrm>
          <a:prstGeom prst="rect">
            <a:avLst/>
          </a:prstGeom>
          <a:solidFill>
            <a:srgbClr val="2C5F2D"/>
          </a:solidFill>
          <a:ln w="12700">
            <a:solidFill>
              <a:srgbClr val="6DB33F"/>
            </a:solidFill>
            <a:prstDash val="solid"/>
          </a:ln>
        </p:spPr>
      </p:sp>
      <p:sp>
        <p:nvSpPr>
          <p:cNvPr id="8" name="Text 6"/>
          <p:cNvSpPr/>
          <p:nvPr/>
        </p:nvSpPr>
        <p:spPr>
          <a:xfrm>
            <a:off x="228600" y="1417320"/>
            <a:ext cx="1280160" cy="685800"/>
          </a:xfrm>
          <a:prstGeom prst="rect">
            <a:avLst/>
          </a:prstGeom>
          <a:noFill/>
          <a:ln/>
        </p:spPr>
        <p:txBody>
          <a:bodyPr wrap="square" rtlCol="0" anchor="ctr"/>
          <a:lstStyle/>
          <a:p>
            <a:pPr marL="0" indent="0" algn="ctr">
              <a:buNone/>
            </a:pPr>
            <a:r>
              <a:rPr lang="en-US" sz="1200" b="1" dirty="0">
                <a:solidFill>
                  <a:srgbClr val="FFFFFF"/>
                </a:solidFill>
              </a:rPr>
              <a:t>Sensors</a:t>
            </a:r>
            <a:endParaRPr lang="en-US" sz="1200" dirty="0"/>
          </a:p>
          <a:p>
            <a:pPr marL="0" indent="0" algn="ctr">
              <a:buNone/>
            </a:pPr>
            <a:r>
              <a:rPr lang="en-US" sz="1200" b="1" dirty="0">
                <a:solidFill>
                  <a:srgbClr val="FFFFFF"/>
                </a:solidFill>
              </a:rPr>
              <a:t>(ESP32+ACS712)</a:t>
            </a:r>
            <a:endParaRPr lang="en-US" sz="1200" dirty="0"/>
          </a:p>
        </p:txBody>
      </p:sp>
      <p:sp>
        <p:nvSpPr>
          <p:cNvPr id="9" name="Text 7"/>
          <p:cNvSpPr/>
          <p:nvPr/>
        </p:nvSpPr>
        <p:spPr>
          <a:xfrm>
            <a:off x="1508760" y="1463040"/>
            <a:ext cx="182880" cy="594360"/>
          </a:xfrm>
          <a:prstGeom prst="rect">
            <a:avLst/>
          </a:prstGeom>
          <a:noFill/>
          <a:ln/>
        </p:spPr>
        <p:txBody>
          <a:bodyPr wrap="square" rtlCol="0" anchor="ctr"/>
          <a:lstStyle/>
          <a:p>
            <a:pPr marL="0" indent="0" algn="ctr">
              <a:buNone/>
            </a:pPr>
            <a:r>
              <a:rPr lang="en-US" sz="1400" dirty="0">
                <a:solidFill>
                  <a:srgbClr val="6DB33F"/>
                </a:solidFill>
              </a:rPr>
              <a:t>→</a:t>
            </a:r>
            <a:endParaRPr lang="en-US" sz="1400" dirty="0"/>
          </a:p>
        </p:txBody>
      </p:sp>
      <p:sp>
        <p:nvSpPr>
          <p:cNvPr id="10" name="Shape 8"/>
          <p:cNvSpPr/>
          <p:nvPr/>
        </p:nvSpPr>
        <p:spPr>
          <a:xfrm>
            <a:off x="1691640" y="1417320"/>
            <a:ext cx="1280160" cy="685800"/>
          </a:xfrm>
          <a:prstGeom prst="rect">
            <a:avLst/>
          </a:prstGeom>
          <a:solidFill>
            <a:srgbClr val="2C5F2D"/>
          </a:solidFill>
          <a:ln w="12700">
            <a:solidFill>
              <a:srgbClr val="6DB33F"/>
            </a:solidFill>
            <a:prstDash val="solid"/>
          </a:ln>
        </p:spPr>
      </p:sp>
      <p:sp>
        <p:nvSpPr>
          <p:cNvPr id="11" name="Text 9"/>
          <p:cNvSpPr/>
          <p:nvPr/>
        </p:nvSpPr>
        <p:spPr>
          <a:xfrm>
            <a:off x="1691640" y="1417320"/>
            <a:ext cx="1280160" cy="685800"/>
          </a:xfrm>
          <a:prstGeom prst="rect">
            <a:avLst/>
          </a:prstGeom>
          <a:noFill/>
          <a:ln/>
        </p:spPr>
        <p:txBody>
          <a:bodyPr wrap="square" rtlCol="0" anchor="ctr"/>
          <a:lstStyle/>
          <a:p>
            <a:pPr marL="0" indent="0" algn="ctr">
              <a:buNone/>
            </a:pPr>
            <a:r>
              <a:rPr lang="en-US" sz="1200" b="1" dirty="0">
                <a:solidFill>
                  <a:srgbClr val="FFFFFF"/>
                </a:solidFill>
              </a:rPr>
              <a:t>MQTT</a:t>
            </a:r>
            <a:endParaRPr lang="en-US" sz="1200" dirty="0"/>
          </a:p>
          <a:p>
            <a:pPr marL="0" indent="0" algn="ctr">
              <a:buNone/>
            </a:pPr>
            <a:r>
              <a:rPr lang="en-US" sz="1200" b="1" dirty="0">
                <a:solidFill>
                  <a:srgbClr val="FFFFFF"/>
                </a:solidFill>
              </a:rPr>
              <a:t>Data Stream</a:t>
            </a:r>
            <a:endParaRPr lang="en-US" sz="1200" dirty="0"/>
          </a:p>
        </p:txBody>
      </p:sp>
      <p:sp>
        <p:nvSpPr>
          <p:cNvPr id="12" name="Text 10"/>
          <p:cNvSpPr/>
          <p:nvPr/>
        </p:nvSpPr>
        <p:spPr>
          <a:xfrm>
            <a:off x="2971800" y="1463040"/>
            <a:ext cx="182880" cy="594360"/>
          </a:xfrm>
          <a:prstGeom prst="rect">
            <a:avLst/>
          </a:prstGeom>
          <a:noFill/>
          <a:ln/>
        </p:spPr>
        <p:txBody>
          <a:bodyPr wrap="square" rtlCol="0" anchor="ctr"/>
          <a:lstStyle/>
          <a:p>
            <a:pPr marL="0" indent="0" algn="ctr">
              <a:buNone/>
            </a:pPr>
            <a:r>
              <a:rPr lang="en-US" sz="1400" dirty="0">
                <a:solidFill>
                  <a:srgbClr val="6DB33F"/>
                </a:solidFill>
              </a:rPr>
              <a:t>→</a:t>
            </a:r>
            <a:endParaRPr lang="en-US" sz="1400" dirty="0"/>
          </a:p>
        </p:txBody>
      </p:sp>
      <p:sp>
        <p:nvSpPr>
          <p:cNvPr id="13" name="Shape 11"/>
          <p:cNvSpPr/>
          <p:nvPr/>
        </p:nvSpPr>
        <p:spPr>
          <a:xfrm>
            <a:off x="3154680" y="1399032"/>
            <a:ext cx="1280160" cy="685800"/>
          </a:xfrm>
          <a:prstGeom prst="rect">
            <a:avLst/>
          </a:prstGeom>
          <a:solidFill>
            <a:srgbClr val="2C5F2D"/>
          </a:solidFill>
          <a:ln w="12700">
            <a:solidFill>
              <a:srgbClr val="6DB33F"/>
            </a:solidFill>
            <a:prstDash val="solid"/>
          </a:ln>
        </p:spPr>
        <p:txBody>
          <a:bodyPr/>
          <a:lstStyle/>
          <a:p>
            <a:endParaRPr lang="en-IN" dirty="0"/>
          </a:p>
        </p:txBody>
      </p:sp>
      <p:sp>
        <p:nvSpPr>
          <p:cNvPr id="14" name="Text 12"/>
          <p:cNvSpPr/>
          <p:nvPr/>
        </p:nvSpPr>
        <p:spPr>
          <a:xfrm>
            <a:off x="3154680" y="1417320"/>
            <a:ext cx="1280160" cy="685800"/>
          </a:xfrm>
          <a:prstGeom prst="rect">
            <a:avLst/>
          </a:prstGeom>
          <a:noFill/>
          <a:ln/>
        </p:spPr>
        <p:txBody>
          <a:bodyPr wrap="square" rtlCol="0" anchor="ctr"/>
          <a:lstStyle/>
          <a:p>
            <a:pPr marL="0" indent="0" algn="ctr">
              <a:buNone/>
            </a:pPr>
            <a:r>
              <a:rPr lang="en-US" sz="1200" b="1" dirty="0">
                <a:solidFill>
                  <a:srgbClr val="FFFFFF"/>
                </a:solidFill>
              </a:rPr>
              <a:t>TinyML</a:t>
            </a:r>
            <a:endParaRPr lang="en-US" sz="1200" dirty="0"/>
          </a:p>
          <a:p>
            <a:pPr marL="0" indent="0" algn="ctr">
              <a:buNone/>
            </a:pPr>
            <a:r>
              <a:rPr lang="en-US" sz="1200" b="1" dirty="0">
                <a:solidFill>
                  <a:srgbClr val="FFFFFF"/>
                </a:solidFill>
              </a:rPr>
              <a:t>Load Predict</a:t>
            </a:r>
            <a:endParaRPr lang="en-US" sz="1200" dirty="0"/>
          </a:p>
        </p:txBody>
      </p:sp>
      <p:sp>
        <p:nvSpPr>
          <p:cNvPr id="15" name="Text 13"/>
          <p:cNvSpPr/>
          <p:nvPr/>
        </p:nvSpPr>
        <p:spPr>
          <a:xfrm>
            <a:off x="4434840" y="1463040"/>
            <a:ext cx="182880" cy="594360"/>
          </a:xfrm>
          <a:prstGeom prst="rect">
            <a:avLst/>
          </a:prstGeom>
          <a:noFill/>
          <a:ln/>
        </p:spPr>
        <p:txBody>
          <a:bodyPr wrap="square" rtlCol="0" anchor="ctr"/>
          <a:lstStyle/>
          <a:p>
            <a:pPr marL="0" indent="0" algn="ctr">
              <a:buNone/>
            </a:pPr>
            <a:r>
              <a:rPr lang="en-US" sz="1400" dirty="0">
                <a:solidFill>
                  <a:srgbClr val="6DB33F"/>
                </a:solidFill>
              </a:rPr>
              <a:t>→</a:t>
            </a:r>
            <a:endParaRPr lang="en-US" sz="1400" dirty="0"/>
          </a:p>
        </p:txBody>
      </p:sp>
      <p:sp>
        <p:nvSpPr>
          <p:cNvPr id="16" name="Shape 14"/>
          <p:cNvSpPr/>
          <p:nvPr/>
        </p:nvSpPr>
        <p:spPr>
          <a:xfrm>
            <a:off x="4617720" y="1417320"/>
            <a:ext cx="1280160" cy="685800"/>
          </a:xfrm>
          <a:prstGeom prst="rect">
            <a:avLst/>
          </a:prstGeom>
          <a:solidFill>
            <a:srgbClr val="2C5F2D"/>
          </a:solidFill>
          <a:ln w="12700">
            <a:solidFill>
              <a:srgbClr val="6DB33F"/>
            </a:solidFill>
            <a:prstDash val="solid"/>
          </a:ln>
        </p:spPr>
      </p:sp>
      <p:sp>
        <p:nvSpPr>
          <p:cNvPr id="17" name="Text 15"/>
          <p:cNvSpPr/>
          <p:nvPr/>
        </p:nvSpPr>
        <p:spPr>
          <a:xfrm>
            <a:off x="4617720" y="1417320"/>
            <a:ext cx="1280160" cy="685800"/>
          </a:xfrm>
          <a:prstGeom prst="rect">
            <a:avLst/>
          </a:prstGeom>
          <a:noFill/>
          <a:ln/>
        </p:spPr>
        <p:txBody>
          <a:bodyPr wrap="square" rtlCol="0" anchor="ctr"/>
          <a:lstStyle/>
          <a:p>
            <a:pPr marL="0" indent="0" algn="ctr">
              <a:buNone/>
            </a:pPr>
            <a:r>
              <a:rPr lang="en-US" sz="1200" b="1" dirty="0">
                <a:solidFill>
                  <a:srgbClr val="FFFFFF"/>
                </a:solidFill>
              </a:rPr>
              <a:t>PLC S7-1200</a:t>
            </a:r>
            <a:endParaRPr lang="en-US" sz="1200" dirty="0"/>
          </a:p>
          <a:p>
            <a:pPr marL="0" indent="0" algn="ctr">
              <a:buNone/>
            </a:pPr>
            <a:r>
              <a:rPr lang="en-US" sz="1200" b="1" dirty="0">
                <a:solidFill>
                  <a:srgbClr val="FFFFFF"/>
                </a:solidFill>
              </a:rPr>
              <a:t>Control</a:t>
            </a:r>
            <a:endParaRPr lang="en-US" sz="1200" dirty="0"/>
          </a:p>
        </p:txBody>
      </p:sp>
      <p:sp>
        <p:nvSpPr>
          <p:cNvPr id="18" name="Text 16"/>
          <p:cNvSpPr/>
          <p:nvPr/>
        </p:nvSpPr>
        <p:spPr>
          <a:xfrm>
            <a:off x="5897880" y="1463040"/>
            <a:ext cx="182880" cy="594360"/>
          </a:xfrm>
          <a:prstGeom prst="rect">
            <a:avLst/>
          </a:prstGeom>
          <a:noFill/>
          <a:ln/>
        </p:spPr>
        <p:txBody>
          <a:bodyPr wrap="square" rtlCol="0" anchor="ctr"/>
          <a:lstStyle/>
          <a:p>
            <a:pPr marL="0" indent="0" algn="ctr">
              <a:buNone/>
            </a:pPr>
            <a:r>
              <a:rPr lang="en-US" sz="1400" dirty="0">
                <a:solidFill>
                  <a:srgbClr val="6DB33F"/>
                </a:solidFill>
              </a:rPr>
              <a:t>→</a:t>
            </a:r>
            <a:endParaRPr lang="en-US" sz="1400" dirty="0"/>
          </a:p>
        </p:txBody>
      </p:sp>
      <p:sp>
        <p:nvSpPr>
          <p:cNvPr id="19" name="Shape 17"/>
          <p:cNvSpPr/>
          <p:nvPr/>
        </p:nvSpPr>
        <p:spPr>
          <a:xfrm>
            <a:off x="6080760" y="1417320"/>
            <a:ext cx="1280160" cy="685800"/>
          </a:xfrm>
          <a:prstGeom prst="rect">
            <a:avLst/>
          </a:prstGeom>
          <a:solidFill>
            <a:srgbClr val="2C5F2D"/>
          </a:solidFill>
          <a:ln w="12700">
            <a:solidFill>
              <a:srgbClr val="6DB33F"/>
            </a:solidFill>
            <a:prstDash val="solid"/>
          </a:ln>
        </p:spPr>
      </p:sp>
      <p:sp>
        <p:nvSpPr>
          <p:cNvPr id="20" name="Text 18"/>
          <p:cNvSpPr/>
          <p:nvPr/>
        </p:nvSpPr>
        <p:spPr>
          <a:xfrm>
            <a:off x="6080760" y="1417320"/>
            <a:ext cx="1280160" cy="685800"/>
          </a:xfrm>
          <a:prstGeom prst="rect">
            <a:avLst/>
          </a:prstGeom>
          <a:noFill/>
          <a:ln/>
        </p:spPr>
        <p:txBody>
          <a:bodyPr wrap="square" rtlCol="0" anchor="ctr"/>
          <a:lstStyle/>
          <a:p>
            <a:pPr marL="0" indent="0" algn="ctr">
              <a:buNone/>
            </a:pPr>
            <a:r>
              <a:rPr lang="en-US" sz="1200" b="1" dirty="0">
                <a:solidFill>
                  <a:srgbClr val="FFFFFF"/>
                </a:solidFill>
              </a:rPr>
              <a:t>VFD Speed</a:t>
            </a:r>
            <a:endParaRPr lang="en-US" sz="1200" dirty="0"/>
          </a:p>
          <a:p>
            <a:pPr marL="0" indent="0" algn="ctr">
              <a:buNone/>
            </a:pPr>
            <a:r>
              <a:rPr lang="en-US" sz="1200" b="1" dirty="0">
                <a:solidFill>
                  <a:srgbClr val="FFFFFF"/>
                </a:solidFill>
              </a:rPr>
              <a:t>Adjust</a:t>
            </a:r>
            <a:endParaRPr lang="en-US" sz="1200" dirty="0"/>
          </a:p>
        </p:txBody>
      </p:sp>
      <p:sp>
        <p:nvSpPr>
          <p:cNvPr id="21" name="Text 19"/>
          <p:cNvSpPr/>
          <p:nvPr/>
        </p:nvSpPr>
        <p:spPr>
          <a:xfrm>
            <a:off x="7360920" y="1463040"/>
            <a:ext cx="182880" cy="594360"/>
          </a:xfrm>
          <a:prstGeom prst="rect">
            <a:avLst/>
          </a:prstGeom>
          <a:noFill/>
          <a:ln/>
        </p:spPr>
        <p:txBody>
          <a:bodyPr wrap="square" rtlCol="0" anchor="ctr"/>
          <a:lstStyle/>
          <a:p>
            <a:pPr marL="0" indent="0" algn="ctr">
              <a:buNone/>
            </a:pPr>
            <a:r>
              <a:rPr lang="en-US" sz="1400" dirty="0">
                <a:solidFill>
                  <a:srgbClr val="6DB33F"/>
                </a:solidFill>
              </a:rPr>
              <a:t>→</a:t>
            </a:r>
            <a:endParaRPr lang="en-US" sz="1400" dirty="0"/>
          </a:p>
        </p:txBody>
      </p:sp>
      <p:sp>
        <p:nvSpPr>
          <p:cNvPr id="22" name="Shape 20"/>
          <p:cNvSpPr/>
          <p:nvPr/>
        </p:nvSpPr>
        <p:spPr>
          <a:xfrm>
            <a:off x="7543800" y="1417320"/>
            <a:ext cx="1280160" cy="685800"/>
          </a:xfrm>
          <a:prstGeom prst="rect">
            <a:avLst/>
          </a:prstGeom>
          <a:solidFill>
            <a:srgbClr val="2C5F2D"/>
          </a:solidFill>
          <a:ln w="12700">
            <a:solidFill>
              <a:srgbClr val="6DB33F"/>
            </a:solidFill>
            <a:prstDash val="solid"/>
          </a:ln>
        </p:spPr>
      </p:sp>
      <p:sp>
        <p:nvSpPr>
          <p:cNvPr id="23" name="Text 21"/>
          <p:cNvSpPr/>
          <p:nvPr/>
        </p:nvSpPr>
        <p:spPr>
          <a:xfrm>
            <a:off x="7543800" y="1417320"/>
            <a:ext cx="1280160" cy="685800"/>
          </a:xfrm>
          <a:prstGeom prst="rect">
            <a:avLst/>
          </a:prstGeom>
          <a:noFill/>
          <a:ln/>
        </p:spPr>
        <p:txBody>
          <a:bodyPr wrap="square" rtlCol="0" anchor="ctr"/>
          <a:lstStyle/>
          <a:p>
            <a:pPr marL="0" indent="0" algn="ctr">
              <a:buNone/>
            </a:pPr>
            <a:r>
              <a:rPr lang="en-US" sz="1200" b="1" dirty="0">
                <a:solidFill>
                  <a:srgbClr val="FFFFFF"/>
                </a:solidFill>
              </a:rPr>
              <a:t>Dashboard</a:t>
            </a:r>
            <a:endParaRPr lang="en-US" sz="1200" dirty="0"/>
          </a:p>
          <a:p>
            <a:pPr marL="0" indent="0" algn="ctr">
              <a:buNone/>
            </a:pPr>
            <a:r>
              <a:rPr lang="en-US" sz="1200" b="1" dirty="0">
                <a:solidFill>
                  <a:srgbClr val="FFFFFF"/>
                </a:solidFill>
              </a:rPr>
              <a:t>Analytics</a:t>
            </a:r>
            <a:endParaRPr lang="en-US" sz="1200" dirty="0"/>
          </a:p>
        </p:txBody>
      </p:sp>
      <p:sp>
        <p:nvSpPr>
          <p:cNvPr id="24" name="Shape 22"/>
          <p:cNvSpPr/>
          <p:nvPr/>
        </p:nvSpPr>
        <p:spPr>
          <a:xfrm>
            <a:off x="420624" y="2313577"/>
            <a:ext cx="3931920" cy="123444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25" name="Shape 23"/>
          <p:cNvSpPr/>
          <p:nvPr/>
        </p:nvSpPr>
        <p:spPr>
          <a:xfrm>
            <a:off x="365760" y="2331720"/>
            <a:ext cx="54864" cy="1234440"/>
          </a:xfrm>
          <a:prstGeom prst="rect">
            <a:avLst/>
          </a:prstGeom>
          <a:solidFill>
            <a:srgbClr val="6DB33F"/>
          </a:solidFill>
          <a:ln w="12700">
            <a:solidFill>
              <a:srgbClr val="6DB33F"/>
            </a:solidFill>
            <a:prstDash val="solid"/>
          </a:ln>
        </p:spPr>
      </p:sp>
      <p:sp>
        <p:nvSpPr>
          <p:cNvPr id="26" name="Text 24"/>
          <p:cNvSpPr/>
          <p:nvPr/>
        </p:nvSpPr>
        <p:spPr>
          <a:xfrm>
            <a:off x="502920" y="2404872"/>
            <a:ext cx="3657600" cy="274320"/>
          </a:xfrm>
          <a:prstGeom prst="rect">
            <a:avLst/>
          </a:prstGeom>
          <a:noFill/>
          <a:ln/>
        </p:spPr>
        <p:txBody>
          <a:bodyPr wrap="square" rtlCol="0" anchor="ctr"/>
          <a:lstStyle/>
          <a:p>
            <a:pPr marL="0" indent="0">
              <a:buNone/>
            </a:pPr>
            <a:r>
              <a:rPr lang="en-US" sz="1400" b="1" dirty="0">
                <a:solidFill>
                  <a:srgbClr val="2C5F2D"/>
                </a:solidFill>
              </a:rPr>
              <a:t>Digital Twin Integration</a:t>
            </a:r>
            <a:endParaRPr lang="en-US" sz="1400" dirty="0"/>
          </a:p>
        </p:txBody>
      </p:sp>
      <p:sp>
        <p:nvSpPr>
          <p:cNvPr id="27" name="Text 25"/>
          <p:cNvSpPr/>
          <p:nvPr/>
        </p:nvSpPr>
        <p:spPr>
          <a:xfrm>
            <a:off x="502920" y="2697480"/>
            <a:ext cx="3657600" cy="804672"/>
          </a:xfrm>
          <a:prstGeom prst="rect">
            <a:avLst/>
          </a:prstGeom>
          <a:noFill/>
          <a:ln/>
        </p:spPr>
        <p:txBody>
          <a:bodyPr wrap="square" rtlCol="0" anchor="t"/>
          <a:lstStyle/>
          <a:p>
            <a:pPr marL="0" indent="0">
              <a:buNone/>
            </a:pPr>
            <a:r>
              <a:rPr lang="en-US" sz="1200" b="1" dirty="0">
                <a:solidFill>
                  <a:srgbClr val="1E1E1E"/>
                </a:solidFill>
              </a:rPr>
              <a:t>A software replica of the motor runs in real-time. Any deviation between twin and actual motor triggers fault alerts and preventive maintenance scheduling.</a:t>
            </a:r>
            <a:endParaRPr lang="en-US" sz="1200" b="1" dirty="0"/>
          </a:p>
        </p:txBody>
      </p:sp>
      <p:sp>
        <p:nvSpPr>
          <p:cNvPr id="28" name="Shape 26"/>
          <p:cNvSpPr/>
          <p:nvPr/>
        </p:nvSpPr>
        <p:spPr>
          <a:xfrm>
            <a:off x="4599432" y="2313577"/>
            <a:ext cx="3931920" cy="123444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29" name="Shape 27"/>
          <p:cNvSpPr/>
          <p:nvPr/>
        </p:nvSpPr>
        <p:spPr>
          <a:xfrm>
            <a:off x="4572000" y="2331720"/>
            <a:ext cx="54864" cy="1234440"/>
          </a:xfrm>
          <a:prstGeom prst="rect">
            <a:avLst/>
          </a:prstGeom>
          <a:solidFill>
            <a:srgbClr val="6DB33F"/>
          </a:solidFill>
          <a:ln w="12700">
            <a:solidFill>
              <a:srgbClr val="6DB33F"/>
            </a:solidFill>
            <a:prstDash val="solid"/>
          </a:ln>
        </p:spPr>
      </p:sp>
      <p:sp>
        <p:nvSpPr>
          <p:cNvPr id="30" name="Text 28"/>
          <p:cNvSpPr/>
          <p:nvPr/>
        </p:nvSpPr>
        <p:spPr>
          <a:xfrm>
            <a:off x="4709160" y="2404872"/>
            <a:ext cx="3657600" cy="274320"/>
          </a:xfrm>
          <a:prstGeom prst="rect">
            <a:avLst/>
          </a:prstGeom>
          <a:noFill/>
          <a:ln/>
        </p:spPr>
        <p:txBody>
          <a:bodyPr wrap="square" rtlCol="0" anchor="ctr"/>
          <a:lstStyle/>
          <a:p>
            <a:pPr marL="0" indent="0">
              <a:buNone/>
            </a:pPr>
            <a:r>
              <a:rPr lang="en-US" sz="1400" b="1" dirty="0">
                <a:solidFill>
                  <a:srgbClr val="2C5F2D"/>
                </a:solidFill>
              </a:rPr>
              <a:t>Anomaly Detection Layer</a:t>
            </a:r>
            <a:endParaRPr lang="en-US" sz="1400" dirty="0"/>
          </a:p>
        </p:txBody>
      </p:sp>
      <p:sp>
        <p:nvSpPr>
          <p:cNvPr id="31" name="Text 29"/>
          <p:cNvSpPr/>
          <p:nvPr/>
        </p:nvSpPr>
        <p:spPr>
          <a:xfrm>
            <a:off x="4709160" y="2697480"/>
            <a:ext cx="3657600" cy="804672"/>
          </a:xfrm>
          <a:prstGeom prst="rect">
            <a:avLst/>
          </a:prstGeom>
          <a:noFill/>
          <a:ln/>
        </p:spPr>
        <p:txBody>
          <a:bodyPr wrap="square" rtlCol="0" anchor="t"/>
          <a:lstStyle/>
          <a:p>
            <a:pPr marL="0" indent="0">
              <a:buNone/>
            </a:pPr>
            <a:r>
              <a:rPr lang="en-US" sz="1200" b="1" dirty="0">
                <a:solidFill>
                  <a:srgbClr val="1E1E1E"/>
                </a:solidFill>
              </a:rPr>
              <a:t>A secondary ML model monitors for abnormal current spikes, overheating, and vibration anomalies — preventing motor failure before it occurs.</a:t>
            </a:r>
            <a:endParaRPr lang="en-US" sz="1200" b="1" dirty="0"/>
          </a:p>
        </p:txBody>
      </p:sp>
      <p:sp>
        <p:nvSpPr>
          <p:cNvPr id="32" name="Shape 30"/>
          <p:cNvSpPr/>
          <p:nvPr/>
        </p:nvSpPr>
        <p:spPr>
          <a:xfrm>
            <a:off x="365760" y="3657600"/>
            <a:ext cx="3931920" cy="123444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33" name="Shape 31"/>
          <p:cNvSpPr/>
          <p:nvPr/>
        </p:nvSpPr>
        <p:spPr>
          <a:xfrm>
            <a:off x="365760" y="3657600"/>
            <a:ext cx="54864" cy="1234440"/>
          </a:xfrm>
          <a:prstGeom prst="rect">
            <a:avLst/>
          </a:prstGeom>
          <a:solidFill>
            <a:srgbClr val="6DB33F"/>
          </a:solidFill>
          <a:ln w="12700">
            <a:solidFill>
              <a:srgbClr val="6DB33F"/>
            </a:solidFill>
            <a:prstDash val="solid"/>
          </a:ln>
        </p:spPr>
      </p:sp>
      <p:sp>
        <p:nvSpPr>
          <p:cNvPr id="34" name="Text 32"/>
          <p:cNvSpPr/>
          <p:nvPr/>
        </p:nvSpPr>
        <p:spPr>
          <a:xfrm>
            <a:off x="502920" y="3730752"/>
            <a:ext cx="3657600" cy="274320"/>
          </a:xfrm>
          <a:prstGeom prst="rect">
            <a:avLst/>
          </a:prstGeom>
          <a:noFill/>
          <a:ln/>
        </p:spPr>
        <p:txBody>
          <a:bodyPr wrap="square" rtlCol="0" anchor="ctr"/>
          <a:lstStyle/>
          <a:p>
            <a:pPr marL="0" indent="0">
              <a:buNone/>
            </a:pPr>
            <a:r>
              <a:rPr lang="en-US" sz="1400" b="1" dirty="0">
                <a:solidFill>
                  <a:srgbClr val="2C5F2D"/>
                </a:solidFill>
              </a:rPr>
              <a:t>Peak Load Scheduler</a:t>
            </a:r>
            <a:endParaRPr lang="en-US" sz="1400" dirty="0"/>
          </a:p>
        </p:txBody>
      </p:sp>
      <p:sp>
        <p:nvSpPr>
          <p:cNvPr id="35" name="Text 33"/>
          <p:cNvSpPr/>
          <p:nvPr/>
        </p:nvSpPr>
        <p:spPr>
          <a:xfrm>
            <a:off x="502920" y="4023360"/>
            <a:ext cx="3657600" cy="804672"/>
          </a:xfrm>
          <a:prstGeom prst="rect">
            <a:avLst/>
          </a:prstGeom>
          <a:noFill/>
          <a:ln/>
        </p:spPr>
        <p:txBody>
          <a:bodyPr wrap="square" rtlCol="0" anchor="t"/>
          <a:lstStyle/>
          <a:p>
            <a:pPr marL="0" indent="0">
              <a:buNone/>
            </a:pPr>
            <a:r>
              <a:rPr lang="en-US" sz="1200" b="1" dirty="0">
                <a:solidFill>
                  <a:srgbClr val="1E1E1E"/>
                </a:solidFill>
              </a:rPr>
              <a:t>System automatically shifts non-critical motor tasks to off-peak tariff hours, reducing energy cost per unit consumed by up to 35%.</a:t>
            </a:r>
            <a:endParaRPr lang="en-US" sz="1200" b="1" dirty="0"/>
          </a:p>
        </p:txBody>
      </p:sp>
      <p:sp>
        <p:nvSpPr>
          <p:cNvPr id="36" name="Shape 34"/>
          <p:cNvSpPr/>
          <p:nvPr/>
        </p:nvSpPr>
        <p:spPr>
          <a:xfrm>
            <a:off x="4572000" y="3657600"/>
            <a:ext cx="3931920" cy="123444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37" name="Shape 35"/>
          <p:cNvSpPr/>
          <p:nvPr/>
        </p:nvSpPr>
        <p:spPr>
          <a:xfrm>
            <a:off x="4572000" y="3657600"/>
            <a:ext cx="54864" cy="1234440"/>
          </a:xfrm>
          <a:prstGeom prst="rect">
            <a:avLst/>
          </a:prstGeom>
          <a:solidFill>
            <a:srgbClr val="6DB33F"/>
          </a:solidFill>
          <a:ln w="12700">
            <a:solidFill>
              <a:srgbClr val="6DB33F"/>
            </a:solidFill>
            <a:prstDash val="solid"/>
          </a:ln>
        </p:spPr>
      </p:sp>
      <p:sp>
        <p:nvSpPr>
          <p:cNvPr id="38" name="Text 36"/>
          <p:cNvSpPr/>
          <p:nvPr/>
        </p:nvSpPr>
        <p:spPr>
          <a:xfrm>
            <a:off x="4709160" y="3730752"/>
            <a:ext cx="3657600" cy="274320"/>
          </a:xfrm>
          <a:prstGeom prst="rect">
            <a:avLst/>
          </a:prstGeom>
          <a:noFill/>
          <a:ln/>
        </p:spPr>
        <p:txBody>
          <a:bodyPr wrap="square" rtlCol="0" anchor="ctr"/>
          <a:lstStyle/>
          <a:p>
            <a:pPr marL="0" indent="0">
              <a:buNone/>
            </a:pPr>
            <a:r>
              <a:rPr lang="en-US" sz="1100" b="1" dirty="0">
                <a:solidFill>
                  <a:srgbClr val="2C5F2D"/>
                </a:solidFill>
              </a:rPr>
              <a:t> </a:t>
            </a:r>
            <a:r>
              <a:rPr lang="en-US" sz="1400" b="1" dirty="0">
                <a:solidFill>
                  <a:srgbClr val="2C5F2D"/>
                </a:solidFill>
              </a:rPr>
              <a:t>Cloud Energy Reporting</a:t>
            </a:r>
            <a:endParaRPr lang="en-US" sz="1400" dirty="0"/>
          </a:p>
        </p:txBody>
      </p:sp>
      <p:sp>
        <p:nvSpPr>
          <p:cNvPr id="39" name="Text 37"/>
          <p:cNvSpPr/>
          <p:nvPr/>
        </p:nvSpPr>
        <p:spPr>
          <a:xfrm>
            <a:off x="4709160" y="4023360"/>
            <a:ext cx="3657600" cy="804672"/>
          </a:xfrm>
          <a:prstGeom prst="rect">
            <a:avLst/>
          </a:prstGeom>
          <a:noFill/>
          <a:ln/>
        </p:spPr>
        <p:txBody>
          <a:bodyPr wrap="square" rtlCol="0" anchor="t"/>
          <a:lstStyle/>
          <a:p>
            <a:pPr marL="0" indent="0">
              <a:buNone/>
            </a:pPr>
            <a:r>
              <a:rPr lang="en-US" sz="1200" b="1" dirty="0">
                <a:solidFill>
                  <a:srgbClr val="1E1E1E"/>
                </a:solidFill>
              </a:rPr>
              <a:t>Monthly automated PDF reports with energy trends, cost savings, CO₂ offset, and predictive maintenance schedules for factory managers.</a:t>
            </a:r>
            <a:endParaRPr lang="en-US" sz="12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4731"/>
          </a:solidFill>
          <a:ln w="12700">
            <a:solidFill>
              <a:srgbClr val="1A4731"/>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Technical Approach</a:t>
            </a:r>
            <a:endParaRPr lang="en-US" sz="1000" dirty="0"/>
          </a:p>
        </p:txBody>
      </p:sp>
      <p:sp>
        <p:nvSpPr>
          <p:cNvPr id="5" name="Text 3"/>
          <p:cNvSpPr/>
          <p:nvPr/>
        </p:nvSpPr>
        <p:spPr>
          <a:xfrm>
            <a:off x="365760" y="594360"/>
            <a:ext cx="8229600" cy="457200"/>
          </a:xfrm>
          <a:prstGeom prst="rect">
            <a:avLst/>
          </a:prstGeom>
          <a:noFill/>
          <a:ln/>
        </p:spPr>
        <p:txBody>
          <a:bodyPr wrap="square" rtlCol="0" anchor="ctr"/>
          <a:lstStyle/>
          <a:p>
            <a:pPr marL="0" indent="0" algn="ctr">
              <a:buNone/>
            </a:pPr>
            <a:r>
              <a:rPr lang="en-US" sz="2600" b="1" dirty="0">
                <a:solidFill>
                  <a:srgbClr val="FFFFFF"/>
                </a:solidFill>
              </a:rPr>
              <a:t>TECHNICAL APPROACH</a:t>
            </a:r>
            <a:endParaRPr lang="en-US" sz="2600" dirty="0"/>
          </a:p>
        </p:txBody>
      </p:sp>
      <p:sp>
        <p:nvSpPr>
          <p:cNvPr id="6" name="Shape 4"/>
          <p:cNvSpPr/>
          <p:nvPr/>
        </p:nvSpPr>
        <p:spPr>
          <a:xfrm>
            <a:off x="274320" y="1143000"/>
            <a:ext cx="4114800" cy="365760"/>
          </a:xfrm>
          <a:prstGeom prst="rect">
            <a:avLst/>
          </a:prstGeom>
          <a:solidFill>
            <a:srgbClr val="6DB33F"/>
          </a:solidFill>
          <a:ln w="12700">
            <a:solidFill>
              <a:srgbClr val="6DB33F"/>
            </a:solidFill>
            <a:prstDash val="solid"/>
          </a:ln>
        </p:spPr>
      </p:sp>
      <p:sp>
        <p:nvSpPr>
          <p:cNvPr id="7" name="Text 5"/>
          <p:cNvSpPr/>
          <p:nvPr/>
        </p:nvSpPr>
        <p:spPr>
          <a:xfrm>
            <a:off x="274320" y="1143000"/>
            <a:ext cx="4114800" cy="365760"/>
          </a:xfrm>
          <a:prstGeom prst="rect">
            <a:avLst/>
          </a:prstGeom>
          <a:noFill/>
          <a:ln/>
        </p:spPr>
        <p:txBody>
          <a:bodyPr wrap="square" rtlCol="0" anchor="ctr"/>
          <a:lstStyle/>
          <a:p>
            <a:pPr marL="0" indent="0" algn="ctr">
              <a:buNone/>
            </a:pPr>
            <a:r>
              <a:rPr lang="en-US" sz="1100" b="1" dirty="0">
                <a:solidFill>
                  <a:srgbClr val="FFFFFF"/>
                </a:solidFill>
              </a:rPr>
              <a:t>HARDWARE</a:t>
            </a:r>
            <a:endParaRPr lang="en-US" sz="1100" dirty="0"/>
          </a:p>
        </p:txBody>
      </p:sp>
      <p:sp>
        <p:nvSpPr>
          <p:cNvPr id="8" name="Shape 6"/>
          <p:cNvSpPr/>
          <p:nvPr/>
        </p:nvSpPr>
        <p:spPr>
          <a:xfrm>
            <a:off x="274320" y="1581912"/>
            <a:ext cx="4114800" cy="548640"/>
          </a:xfrm>
          <a:prstGeom prst="rect">
            <a:avLst/>
          </a:prstGeom>
          <a:solidFill>
            <a:srgbClr val="1E3A2A"/>
          </a:solidFill>
          <a:ln w="6350">
            <a:solidFill>
              <a:srgbClr val="2D5040"/>
            </a:solidFill>
            <a:prstDash val="solid"/>
          </a:ln>
        </p:spPr>
      </p:sp>
      <p:sp>
        <p:nvSpPr>
          <p:cNvPr id="9" name="Text 7"/>
          <p:cNvSpPr/>
          <p:nvPr/>
        </p:nvSpPr>
        <p:spPr>
          <a:xfrm>
            <a:off x="411480" y="1636776"/>
            <a:ext cx="3840480" cy="228600"/>
          </a:xfrm>
          <a:prstGeom prst="rect">
            <a:avLst/>
          </a:prstGeom>
          <a:noFill/>
          <a:ln/>
        </p:spPr>
        <p:txBody>
          <a:bodyPr wrap="square" rtlCol="0" anchor="ctr"/>
          <a:lstStyle/>
          <a:p>
            <a:pPr marL="0" indent="0">
              <a:buNone/>
            </a:pPr>
            <a:r>
              <a:rPr lang="en-US" sz="1400" b="1" dirty="0">
                <a:solidFill>
                  <a:srgbClr val="97BC62"/>
                </a:solidFill>
              </a:rPr>
              <a:t>ESP32 Microcontroller</a:t>
            </a:r>
            <a:endParaRPr lang="en-US" sz="1400" dirty="0"/>
          </a:p>
        </p:txBody>
      </p:sp>
      <p:sp>
        <p:nvSpPr>
          <p:cNvPr id="10" name="Text 8"/>
          <p:cNvSpPr/>
          <p:nvPr/>
        </p:nvSpPr>
        <p:spPr>
          <a:xfrm>
            <a:off x="411480" y="1865376"/>
            <a:ext cx="3840480" cy="228600"/>
          </a:xfrm>
          <a:prstGeom prst="rect">
            <a:avLst/>
          </a:prstGeom>
          <a:noFill/>
          <a:ln/>
        </p:spPr>
        <p:txBody>
          <a:bodyPr wrap="square" rtlCol="0" anchor="ctr"/>
          <a:lstStyle/>
          <a:p>
            <a:pPr marL="0" indent="0">
              <a:buNone/>
            </a:pPr>
            <a:r>
              <a:rPr lang="en-US" sz="1200" b="1" dirty="0">
                <a:solidFill>
                  <a:schemeClr val="bg1"/>
                </a:solidFill>
              </a:rPr>
              <a:t>WiFi-enabled real-time IoT data acquisition node</a:t>
            </a:r>
          </a:p>
        </p:txBody>
      </p:sp>
      <p:sp>
        <p:nvSpPr>
          <p:cNvPr id="11" name="Shape 9"/>
          <p:cNvSpPr/>
          <p:nvPr/>
        </p:nvSpPr>
        <p:spPr>
          <a:xfrm>
            <a:off x="274320" y="2221992"/>
            <a:ext cx="4114800" cy="548640"/>
          </a:xfrm>
          <a:prstGeom prst="rect">
            <a:avLst/>
          </a:prstGeom>
          <a:solidFill>
            <a:srgbClr val="1E3A2A"/>
          </a:solidFill>
          <a:ln w="6350">
            <a:solidFill>
              <a:srgbClr val="2D5040"/>
            </a:solidFill>
            <a:prstDash val="solid"/>
          </a:ln>
        </p:spPr>
      </p:sp>
      <p:sp>
        <p:nvSpPr>
          <p:cNvPr id="12" name="Text 10"/>
          <p:cNvSpPr/>
          <p:nvPr/>
        </p:nvSpPr>
        <p:spPr>
          <a:xfrm>
            <a:off x="411480" y="2258568"/>
            <a:ext cx="3840480" cy="228600"/>
          </a:xfrm>
          <a:prstGeom prst="rect">
            <a:avLst/>
          </a:prstGeom>
          <a:noFill/>
          <a:ln/>
        </p:spPr>
        <p:txBody>
          <a:bodyPr wrap="square" rtlCol="0" anchor="ctr"/>
          <a:lstStyle/>
          <a:p>
            <a:pPr marL="0" indent="0">
              <a:buNone/>
            </a:pPr>
            <a:r>
              <a:rPr lang="en-US" sz="1200" b="1" dirty="0">
                <a:solidFill>
                  <a:srgbClr val="97BC62"/>
                </a:solidFill>
              </a:rPr>
              <a:t>ACS712 Current Sensor</a:t>
            </a:r>
            <a:endParaRPr lang="en-US" sz="1200" dirty="0"/>
          </a:p>
        </p:txBody>
      </p:sp>
      <p:sp>
        <p:nvSpPr>
          <p:cNvPr id="13" name="Text 11"/>
          <p:cNvSpPr/>
          <p:nvPr/>
        </p:nvSpPr>
        <p:spPr>
          <a:xfrm>
            <a:off x="411480" y="2487168"/>
            <a:ext cx="3840480" cy="228600"/>
          </a:xfrm>
          <a:prstGeom prst="rect">
            <a:avLst/>
          </a:prstGeom>
          <a:noFill/>
          <a:ln/>
        </p:spPr>
        <p:txBody>
          <a:bodyPr wrap="square" rtlCol="0" anchor="ctr"/>
          <a:lstStyle/>
          <a:p>
            <a:pPr marL="0" indent="0">
              <a:buNone/>
            </a:pPr>
            <a:r>
              <a:rPr lang="en-US" sz="1200" b="1" dirty="0">
                <a:solidFill>
                  <a:schemeClr val="bg1"/>
                </a:solidFill>
              </a:rPr>
              <a:t>Measures precise motor current draw (±30A range</a:t>
            </a:r>
            <a:r>
              <a:rPr lang="en-US" sz="950" b="1" dirty="0">
                <a:solidFill>
                  <a:schemeClr val="bg1"/>
                </a:solidFill>
              </a:rPr>
              <a:t>)</a:t>
            </a:r>
          </a:p>
        </p:txBody>
      </p:sp>
      <p:sp>
        <p:nvSpPr>
          <p:cNvPr id="14" name="Shape 12"/>
          <p:cNvSpPr/>
          <p:nvPr/>
        </p:nvSpPr>
        <p:spPr>
          <a:xfrm>
            <a:off x="274320" y="2843784"/>
            <a:ext cx="4114800" cy="548640"/>
          </a:xfrm>
          <a:prstGeom prst="rect">
            <a:avLst/>
          </a:prstGeom>
          <a:solidFill>
            <a:srgbClr val="1E3A2A"/>
          </a:solidFill>
          <a:ln w="6350">
            <a:solidFill>
              <a:srgbClr val="2D5040"/>
            </a:solidFill>
            <a:prstDash val="solid"/>
          </a:ln>
        </p:spPr>
      </p:sp>
      <p:sp>
        <p:nvSpPr>
          <p:cNvPr id="15" name="Text 13"/>
          <p:cNvSpPr/>
          <p:nvPr/>
        </p:nvSpPr>
        <p:spPr>
          <a:xfrm>
            <a:off x="411480" y="2880360"/>
            <a:ext cx="3840480" cy="228600"/>
          </a:xfrm>
          <a:prstGeom prst="rect">
            <a:avLst/>
          </a:prstGeom>
          <a:noFill/>
          <a:ln/>
        </p:spPr>
        <p:txBody>
          <a:bodyPr wrap="square" rtlCol="0" anchor="ctr"/>
          <a:lstStyle/>
          <a:p>
            <a:pPr marL="0" indent="0">
              <a:buNone/>
            </a:pPr>
            <a:r>
              <a:rPr lang="en-US" sz="1400" b="1" dirty="0">
                <a:solidFill>
                  <a:srgbClr val="97BC62"/>
                </a:solidFill>
              </a:rPr>
              <a:t>MPU6050 Vibration Sensor</a:t>
            </a:r>
            <a:endParaRPr lang="en-US" sz="1400" dirty="0"/>
          </a:p>
        </p:txBody>
      </p:sp>
      <p:sp>
        <p:nvSpPr>
          <p:cNvPr id="16" name="Text 14"/>
          <p:cNvSpPr/>
          <p:nvPr/>
        </p:nvSpPr>
        <p:spPr>
          <a:xfrm>
            <a:off x="411480" y="3108960"/>
            <a:ext cx="3840480" cy="228600"/>
          </a:xfrm>
          <a:prstGeom prst="rect">
            <a:avLst/>
          </a:prstGeom>
          <a:noFill/>
          <a:ln/>
        </p:spPr>
        <p:txBody>
          <a:bodyPr wrap="square" rtlCol="0" anchor="ctr"/>
          <a:lstStyle/>
          <a:p>
            <a:pPr marL="0" indent="0">
              <a:buNone/>
            </a:pPr>
            <a:r>
              <a:rPr lang="en-US" sz="1200" b="1" dirty="0">
                <a:solidFill>
                  <a:schemeClr val="bg1"/>
                </a:solidFill>
              </a:rPr>
              <a:t>Detects mechanical load via 6-axis acceleration</a:t>
            </a:r>
          </a:p>
        </p:txBody>
      </p:sp>
      <p:sp>
        <p:nvSpPr>
          <p:cNvPr id="17" name="Shape 15"/>
          <p:cNvSpPr/>
          <p:nvPr/>
        </p:nvSpPr>
        <p:spPr>
          <a:xfrm>
            <a:off x="274320" y="3465576"/>
            <a:ext cx="4114800" cy="548640"/>
          </a:xfrm>
          <a:prstGeom prst="rect">
            <a:avLst/>
          </a:prstGeom>
          <a:solidFill>
            <a:srgbClr val="1E3A2A"/>
          </a:solidFill>
          <a:ln w="6350">
            <a:solidFill>
              <a:srgbClr val="2D5040"/>
            </a:solidFill>
            <a:prstDash val="solid"/>
          </a:ln>
        </p:spPr>
      </p:sp>
      <p:sp>
        <p:nvSpPr>
          <p:cNvPr id="18" name="Text 16"/>
          <p:cNvSpPr/>
          <p:nvPr/>
        </p:nvSpPr>
        <p:spPr>
          <a:xfrm>
            <a:off x="411480" y="3502152"/>
            <a:ext cx="3840480" cy="228600"/>
          </a:xfrm>
          <a:prstGeom prst="rect">
            <a:avLst/>
          </a:prstGeom>
          <a:noFill/>
          <a:ln/>
        </p:spPr>
        <p:txBody>
          <a:bodyPr wrap="square" rtlCol="0" anchor="ctr"/>
          <a:lstStyle/>
          <a:p>
            <a:pPr marL="0" indent="0">
              <a:buNone/>
            </a:pPr>
            <a:r>
              <a:rPr lang="en-US" sz="1400" b="1" dirty="0">
                <a:solidFill>
                  <a:srgbClr val="97BC62"/>
                </a:solidFill>
              </a:rPr>
              <a:t>Siemens S7-1200 PLC</a:t>
            </a:r>
            <a:endParaRPr lang="en-US" sz="1400" dirty="0"/>
          </a:p>
        </p:txBody>
      </p:sp>
      <p:sp>
        <p:nvSpPr>
          <p:cNvPr id="19" name="Text 17"/>
          <p:cNvSpPr/>
          <p:nvPr/>
        </p:nvSpPr>
        <p:spPr>
          <a:xfrm>
            <a:off x="411480" y="3730752"/>
            <a:ext cx="3840480" cy="228600"/>
          </a:xfrm>
          <a:prstGeom prst="rect">
            <a:avLst/>
          </a:prstGeom>
          <a:noFill/>
          <a:ln/>
        </p:spPr>
        <p:txBody>
          <a:bodyPr wrap="square" rtlCol="0" anchor="ctr"/>
          <a:lstStyle/>
          <a:p>
            <a:pPr marL="0" indent="0">
              <a:buNone/>
            </a:pPr>
            <a:r>
              <a:rPr lang="en-US" sz="1200" b="1" dirty="0">
                <a:solidFill>
                  <a:schemeClr val="bg1"/>
                </a:solidFill>
              </a:rPr>
              <a:t>Industrial-grade controller for VFD commands</a:t>
            </a:r>
          </a:p>
        </p:txBody>
      </p:sp>
      <p:sp>
        <p:nvSpPr>
          <p:cNvPr id="20" name="Shape 18"/>
          <p:cNvSpPr/>
          <p:nvPr/>
        </p:nvSpPr>
        <p:spPr>
          <a:xfrm>
            <a:off x="274320" y="4087368"/>
            <a:ext cx="4114800" cy="548640"/>
          </a:xfrm>
          <a:prstGeom prst="rect">
            <a:avLst/>
          </a:prstGeom>
          <a:solidFill>
            <a:srgbClr val="1E3A2A"/>
          </a:solidFill>
          <a:ln w="6350">
            <a:solidFill>
              <a:srgbClr val="2D5040"/>
            </a:solidFill>
            <a:prstDash val="solid"/>
          </a:ln>
        </p:spPr>
      </p:sp>
      <p:sp>
        <p:nvSpPr>
          <p:cNvPr id="21" name="Text 19"/>
          <p:cNvSpPr/>
          <p:nvPr/>
        </p:nvSpPr>
        <p:spPr>
          <a:xfrm>
            <a:off x="411480" y="4123944"/>
            <a:ext cx="3840480" cy="228600"/>
          </a:xfrm>
          <a:prstGeom prst="rect">
            <a:avLst/>
          </a:prstGeom>
          <a:noFill/>
          <a:ln/>
        </p:spPr>
        <p:txBody>
          <a:bodyPr wrap="square" rtlCol="0" anchor="ctr"/>
          <a:lstStyle/>
          <a:p>
            <a:pPr marL="0" indent="0">
              <a:buNone/>
            </a:pPr>
            <a:r>
              <a:rPr lang="en-US" sz="1200" b="1" dirty="0">
                <a:solidFill>
                  <a:srgbClr val="97BC62"/>
                </a:solidFill>
              </a:rPr>
              <a:t>Variable Frequency Drive (VFD)</a:t>
            </a:r>
            <a:endParaRPr lang="en-US" sz="1200" dirty="0"/>
          </a:p>
        </p:txBody>
      </p:sp>
      <p:sp>
        <p:nvSpPr>
          <p:cNvPr id="22" name="Text 20"/>
          <p:cNvSpPr/>
          <p:nvPr/>
        </p:nvSpPr>
        <p:spPr>
          <a:xfrm>
            <a:off x="411480" y="4352544"/>
            <a:ext cx="3840480" cy="228600"/>
          </a:xfrm>
          <a:prstGeom prst="rect">
            <a:avLst/>
          </a:prstGeom>
          <a:noFill/>
          <a:ln/>
        </p:spPr>
        <p:txBody>
          <a:bodyPr wrap="square" rtlCol="0" anchor="ctr"/>
          <a:lstStyle/>
          <a:p>
            <a:pPr marL="0" indent="0">
              <a:buNone/>
            </a:pPr>
            <a:r>
              <a:rPr lang="en-US" sz="1200" b="1" dirty="0">
                <a:solidFill>
                  <a:schemeClr val="bg1"/>
                </a:solidFill>
              </a:rPr>
              <a:t>Adjusts motor RPM based on AI prediction output</a:t>
            </a:r>
          </a:p>
        </p:txBody>
      </p:sp>
      <p:sp>
        <p:nvSpPr>
          <p:cNvPr id="23" name="Shape 21"/>
          <p:cNvSpPr/>
          <p:nvPr/>
        </p:nvSpPr>
        <p:spPr>
          <a:xfrm>
            <a:off x="4754880" y="1143000"/>
            <a:ext cx="4114800" cy="365760"/>
          </a:xfrm>
          <a:prstGeom prst="rect">
            <a:avLst/>
          </a:prstGeom>
          <a:solidFill>
            <a:srgbClr val="2C5F2D"/>
          </a:solidFill>
          <a:ln w="12700">
            <a:solidFill>
              <a:srgbClr val="2C5F2D"/>
            </a:solidFill>
            <a:prstDash val="solid"/>
          </a:ln>
        </p:spPr>
      </p:sp>
      <p:sp>
        <p:nvSpPr>
          <p:cNvPr id="24" name="Text 22"/>
          <p:cNvSpPr/>
          <p:nvPr/>
        </p:nvSpPr>
        <p:spPr>
          <a:xfrm>
            <a:off x="4754880" y="1143000"/>
            <a:ext cx="4114800" cy="365760"/>
          </a:xfrm>
          <a:prstGeom prst="rect">
            <a:avLst/>
          </a:prstGeom>
          <a:noFill/>
          <a:ln/>
        </p:spPr>
        <p:txBody>
          <a:bodyPr wrap="square" rtlCol="0" anchor="ctr"/>
          <a:lstStyle/>
          <a:p>
            <a:pPr marL="0" indent="0" algn="ctr">
              <a:buNone/>
            </a:pPr>
            <a:r>
              <a:rPr lang="en-US" sz="1100" b="1" dirty="0">
                <a:solidFill>
                  <a:srgbClr val="FFFFFF"/>
                </a:solidFill>
              </a:rPr>
              <a:t>SOFTWARE &amp; PROTOCOLS</a:t>
            </a:r>
            <a:endParaRPr lang="en-US" sz="1100" dirty="0"/>
          </a:p>
        </p:txBody>
      </p:sp>
      <p:sp>
        <p:nvSpPr>
          <p:cNvPr id="25" name="Shape 23"/>
          <p:cNvSpPr/>
          <p:nvPr/>
        </p:nvSpPr>
        <p:spPr>
          <a:xfrm>
            <a:off x="4754880" y="1600200"/>
            <a:ext cx="4114800" cy="548640"/>
          </a:xfrm>
          <a:prstGeom prst="rect">
            <a:avLst/>
          </a:prstGeom>
          <a:solidFill>
            <a:srgbClr val="1E3A2A"/>
          </a:solidFill>
          <a:ln w="6350">
            <a:solidFill>
              <a:srgbClr val="2D5040"/>
            </a:solidFill>
            <a:prstDash val="solid"/>
          </a:ln>
        </p:spPr>
        <p:txBody>
          <a:bodyPr/>
          <a:lstStyle/>
          <a:p>
            <a:endParaRPr lang="en-IN" dirty="0"/>
          </a:p>
        </p:txBody>
      </p:sp>
      <p:sp>
        <p:nvSpPr>
          <p:cNvPr id="26" name="Text 24"/>
          <p:cNvSpPr/>
          <p:nvPr/>
        </p:nvSpPr>
        <p:spPr>
          <a:xfrm>
            <a:off x="4892040" y="1636776"/>
            <a:ext cx="3840480" cy="228600"/>
          </a:xfrm>
          <a:prstGeom prst="rect">
            <a:avLst/>
          </a:prstGeom>
          <a:noFill/>
          <a:ln/>
        </p:spPr>
        <p:txBody>
          <a:bodyPr wrap="square" rtlCol="0" anchor="ctr"/>
          <a:lstStyle/>
          <a:p>
            <a:r>
              <a:rPr lang="en-US" sz="1400" b="1" dirty="0" err="1">
                <a:solidFill>
                  <a:schemeClr val="accent6"/>
                </a:solidFill>
              </a:rPr>
              <a:t>TinyML</a:t>
            </a:r>
            <a:r>
              <a:rPr lang="en-US" sz="1400" b="1" dirty="0">
                <a:solidFill>
                  <a:schemeClr val="accent6"/>
                </a:solidFill>
              </a:rPr>
              <a:t> / </a:t>
            </a:r>
            <a:r>
              <a:rPr lang="en-US" sz="1400" b="1" dirty="0" err="1">
                <a:solidFill>
                  <a:schemeClr val="accent6"/>
                </a:solidFill>
              </a:rPr>
              <a:t>TensorFlowLite</a:t>
            </a:r>
            <a:endParaRPr lang="en-US" sz="1400" b="1" dirty="0">
              <a:solidFill>
                <a:schemeClr val="accent6"/>
              </a:solidFill>
            </a:endParaRPr>
          </a:p>
        </p:txBody>
      </p:sp>
      <p:sp>
        <p:nvSpPr>
          <p:cNvPr id="27" name="Text 25"/>
          <p:cNvSpPr/>
          <p:nvPr/>
        </p:nvSpPr>
        <p:spPr>
          <a:xfrm>
            <a:off x="4892040" y="1865376"/>
            <a:ext cx="3840480" cy="228600"/>
          </a:xfrm>
          <a:prstGeom prst="rect">
            <a:avLst/>
          </a:prstGeom>
          <a:noFill/>
          <a:ln/>
        </p:spPr>
        <p:txBody>
          <a:bodyPr wrap="square" rtlCol="0" anchor="ctr"/>
          <a:lstStyle/>
          <a:p>
            <a:pPr marL="0" indent="0">
              <a:buNone/>
            </a:pPr>
            <a:r>
              <a:rPr lang="en-US" sz="1200" b="1" dirty="0">
                <a:solidFill>
                  <a:schemeClr val="bg1"/>
                </a:solidFill>
              </a:rPr>
              <a:t>On-device AI model for real-time load prediction</a:t>
            </a:r>
          </a:p>
        </p:txBody>
      </p:sp>
      <p:sp>
        <p:nvSpPr>
          <p:cNvPr id="28" name="Shape 26"/>
          <p:cNvSpPr/>
          <p:nvPr/>
        </p:nvSpPr>
        <p:spPr>
          <a:xfrm>
            <a:off x="4754880" y="2221992"/>
            <a:ext cx="4114800" cy="548640"/>
          </a:xfrm>
          <a:prstGeom prst="rect">
            <a:avLst/>
          </a:prstGeom>
          <a:solidFill>
            <a:srgbClr val="1E3A2A"/>
          </a:solidFill>
          <a:ln w="6350">
            <a:solidFill>
              <a:srgbClr val="2D5040"/>
            </a:solidFill>
            <a:prstDash val="solid"/>
          </a:ln>
        </p:spPr>
      </p:sp>
      <p:sp>
        <p:nvSpPr>
          <p:cNvPr id="29" name="Text 27"/>
          <p:cNvSpPr/>
          <p:nvPr/>
        </p:nvSpPr>
        <p:spPr>
          <a:xfrm>
            <a:off x="4892040" y="2258568"/>
            <a:ext cx="3840480" cy="228600"/>
          </a:xfrm>
          <a:prstGeom prst="rect">
            <a:avLst/>
          </a:prstGeom>
          <a:noFill/>
          <a:ln/>
        </p:spPr>
        <p:txBody>
          <a:bodyPr wrap="square" rtlCol="0" anchor="ctr"/>
          <a:lstStyle/>
          <a:p>
            <a:pPr marL="0" indent="0">
              <a:buNone/>
            </a:pPr>
            <a:r>
              <a:rPr lang="en-US" sz="1400" b="1" dirty="0">
                <a:solidFill>
                  <a:srgbClr val="97BC62"/>
                </a:solidFill>
              </a:rPr>
              <a:t>MQTT Protocol</a:t>
            </a:r>
            <a:endParaRPr lang="en-US" sz="1400" dirty="0"/>
          </a:p>
        </p:txBody>
      </p:sp>
      <p:sp>
        <p:nvSpPr>
          <p:cNvPr id="30" name="Text 28"/>
          <p:cNvSpPr/>
          <p:nvPr/>
        </p:nvSpPr>
        <p:spPr>
          <a:xfrm>
            <a:off x="4892040" y="2487168"/>
            <a:ext cx="3840480" cy="228600"/>
          </a:xfrm>
          <a:prstGeom prst="rect">
            <a:avLst/>
          </a:prstGeom>
          <a:noFill/>
          <a:ln/>
        </p:spPr>
        <p:txBody>
          <a:bodyPr wrap="square" rtlCol="0" anchor="ctr"/>
          <a:lstStyle/>
          <a:p>
            <a:pPr marL="0" indent="0">
              <a:buNone/>
            </a:pPr>
            <a:r>
              <a:rPr lang="en-US" sz="1200" b="1" dirty="0">
                <a:solidFill>
                  <a:schemeClr val="bg1"/>
                </a:solidFill>
              </a:rPr>
              <a:t>Lightweight pub/sub messaging: ESP32 ↔ Server</a:t>
            </a:r>
          </a:p>
        </p:txBody>
      </p:sp>
      <p:sp>
        <p:nvSpPr>
          <p:cNvPr id="31" name="Shape 29"/>
          <p:cNvSpPr/>
          <p:nvPr/>
        </p:nvSpPr>
        <p:spPr>
          <a:xfrm>
            <a:off x="4754880" y="2843784"/>
            <a:ext cx="4114800" cy="548640"/>
          </a:xfrm>
          <a:prstGeom prst="rect">
            <a:avLst/>
          </a:prstGeom>
          <a:solidFill>
            <a:srgbClr val="1E3A2A"/>
          </a:solidFill>
          <a:ln w="6350">
            <a:solidFill>
              <a:srgbClr val="2D5040"/>
            </a:solidFill>
            <a:prstDash val="solid"/>
          </a:ln>
        </p:spPr>
      </p:sp>
      <p:sp>
        <p:nvSpPr>
          <p:cNvPr id="32" name="Text 30"/>
          <p:cNvSpPr/>
          <p:nvPr/>
        </p:nvSpPr>
        <p:spPr>
          <a:xfrm>
            <a:off x="4892040" y="2880360"/>
            <a:ext cx="3840480" cy="228600"/>
          </a:xfrm>
          <a:prstGeom prst="rect">
            <a:avLst/>
          </a:prstGeom>
          <a:noFill/>
          <a:ln/>
        </p:spPr>
        <p:txBody>
          <a:bodyPr wrap="square" rtlCol="0" anchor="ctr"/>
          <a:lstStyle/>
          <a:p>
            <a:pPr marL="0" indent="0">
              <a:buNone/>
            </a:pPr>
            <a:r>
              <a:rPr lang="en-US" sz="1400" b="1" dirty="0">
                <a:solidFill>
                  <a:srgbClr val="97BC62"/>
                </a:solidFill>
              </a:rPr>
              <a:t>Node-RED</a:t>
            </a:r>
            <a:endParaRPr lang="en-US" sz="1400" dirty="0"/>
          </a:p>
        </p:txBody>
      </p:sp>
      <p:sp>
        <p:nvSpPr>
          <p:cNvPr id="33" name="Text 31"/>
          <p:cNvSpPr/>
          <p:nvPr/>
        </p:nvSpPr>
        <p:spPr>
          <a:xfrm>
            <a:off x="4892040" y="3108960"/>
            <a:ext cx="3840480" cy="228600"/>
          </a:xfrm>
          <a:prstGeom prst="rect">
            <a:avLst/>
          </a:prstGeom>
          <a:noFill/>
          <a:ln/>
        </p:spPr>
        <p:txBody>
          <a:bodyPr wrap="square" rtlCol="0" anchor="ctr"/>
          <a:lstStyle/>
          <a:p>
            <a:pPr marL="0" indent="0">
              <a:buNone/>
            </a:pPr>
            <a:r>
              <a:rPr lang="en-US" sz="1200" b="1" dirty="0">
                <a:solidFill>
                  <a:schemeClr val="bg1"/>
                </a:solidFill>
              </a:rPr>
              <a:t>Visual flow dashboard and automation logic engine</a:t>
            </a:r>
          </a:p>
        </p:txBody>
      </p:sp>
      <p:sp>
        <p:nvSpPr>
          <p:cNvPr id="34" name="Shape 32"/>
          <p:cNvSpPr/>
          <p:nvPr/>
        </p:nvSpPr>
        <p:spPr>
          <a:xfrm>
            <a:off x="4754880" y="3465576"/>
            <a:ext cx="4114800" cy="548640"/>
          </a:xfrm>
          <a:prstGeom prst="rect">
            <a:avLst/>
          </a:prstGeom>
          <a:solidFill>
            <a:srgbClr val="1E3A2A"/>
          </a:solidFill>
          <a:ln w="6350">
            <a:solidFill>
              <a:srgbClr val="2D5040"/>
            </a:solidFill>
            <a:prstDash val="solid"/>
          </a:ln>
        </p:spPr>
      </p:sp>
      <p:sp>
        <p:nvSpPr>
          <p:cNvPr id="35" name="Text 33"/>
          <p:cNvSpPr/>
          <p:nvPr/>
        </p:nvSpPr>
        <p:spPr>
          <a:xfrm>
            <a:off x="4892040" y="3502152"/>
            <a:ext cx="3840480" cy="228600"/>
          </a:xfrm>
          <a:prstGeom prst="rect">
            <a:avLst/>
          </a:prstGeom>
          <a:noFill/>
          <a:ln/>
        </p:spPr>
        <p:txBody>
          <a:bodyPr wrap="square" rtlCol="0" anchor="ctr"/>
          <a:lstStyle/>
          <a:p>
            <a:pPr marL="0" indent="0">
              <a:buNone/>
            </a:pPr>
            <a:r>
              <a:rPr lang="en-US" sz="1400" b="1" dirty="0">
                <a:solidFill>
                  <a:srgbClr val="97BC62"/>
                </a:solidFill>
              </a:rPr>
              <a:t>Blynk Platform</a:t>
            </a:r>
            <a:endParaRPr lang="en-US" sz="1400" dirty="0"/>
          </a:p>
        </p:txBody>
      </p:sp>
      <p:sp>
        <p:nvSpPr>
          <p:cNvPr id="36" name="Text 34"/>
          <p:cNvSpPr/>
          <p:nvPr/>
        </p:nvSpPr>
        <p:spPr>
          <a:xfrm>
            <a:off x="4892040" y="3730752"/>
            <a:ext cx="3840480" cy="228600"/>
          </a:xfrm>
          <a:prstGeom prst="rect">
            <a:avLst/>
          </a:prstGeom>
          <a:noFill/>
          <a:ln/>
        </p:spPr>
        <p:txBody>
          <a:bodyPr wrap="square" rtlCol="0" anchor="ctr"/>
          <a:lstStyle/>
          <a:p>
            <a:pPr marL="0" indent="0">
              <a:buNone/>
            </a:pPr>
            <a:r>
              <a:rPr lang="en-US" sz="1200" b="1" dirty="0">
                <a:solidFill>
                  <a:schemeClr val="bg1"/>
                </a:solidFill>
              </a:rPr>
              <a:t>Mobile real-time energy monitoring and alerts</a:t>
            </a:r>
          </a:p>
        </p:txBody>
      </p:sp>
      <p:sp>
        <p:nvSpPr>
          <p:cNvPr id="37" name="Shape 35"/>
          <p:cNvSpPr/>
          <p:nvPr/>
        </p:nvSpPr>
        <p:spPr>
          <a:xfrm>
            <a:off x="4754880" y="4087368"/>
            <a:ext cx="4114800" cy="548640"/>
          </a:xfrm>
          <a:prstGeom prst="rect">
            <a:avLst/>
          </a:prstGeom>
          <a:solidFill>
            <a:srgbClr val="1E3A2A"/>
          </a:solidFill>
          <a:ln w="6350">
            <a:solidFill>
              <a:srgbClr val="2D5040"/>
            </a:solidFill>
            <a:prstDash val="solid"/>
          </a:ln>
        </p:spPr>
        <p:txBody>
          <a:bodyPr/>
          <a:lstStyle/>
          <a:p>
            <a:endParaRPr lang="en-IN" dirty="0"/>
          </a:p>
        </p:txBody>
      </p:sp>
      <p:sp>
        <p:nvSpPr>
          <p:cNvPr id="38" name="Text 36"/>
          <p:cNvSpPr/>
          <p:nvPr/>
        </p:nvSpPr>
        <p:spPr>
          <a:xfrm>
            <a:off x="4892040" y="4123944"/>
            <a:ext cx="3840480" cy="228600"/>
          </a:xfrm>
          <a:prstGeom prst="rect">
            <a:avLst/>
          </a:prstGeom>
          <a:noFill/>
          <a:ln/>
        </p:spPr>
        <p:txBody>
          <a:bodyPr wrap="square" rtlCol="0" anchor="ctr"/>
          <a:lstStyle/>
          <a:p>
            <a:pPr marL="0" indent="0">
              <a:buNone/>
            </a:pPr>
            <a:r>
              <a:rPr lang="en-US" sz="1400" b="1" dirty="0">
                <a:solidFill>
                  <a:srgbClr val="97BC62"/>
                </a:solidFill>
              </a:rPr>
              <a:t>Arduino IDE / Python</a:t>
            </a:r>
            <a:endParaRPr lang="en-US" sz="1400" dirty="0"/>
          </a:p>
        </p:txBody>
      </p:sp>
      <p:sp>
        <p:nvSpPr>
          <p:cNvPr id="39" name="Text 37"/>
          <p:cNvSpPr/>
          <p:nvPr/>
        </p:nvSpPr>
        <p:spPr>
          <a:xfrm>
            <a:off x="4892040" y="4352544"/>
            <a:ext cx="3840480" cy="228600"/>
          </a:xfrm>
          <a:prstGeom prst="rect">
            <a:avLst/>
          </a:prstGeom>
          <a:noFill/>
          <a:ln/>
        </p:spPr>
        <p:txBody>
          <a:bodyPr wrap="square" rtlCol="0" anchor="ctr"/>
          <a:lstStyle/>
          <a:p>
            <a:pPr marL="0" indent="0">
              <a:buNone/>
            </a:pPr>
            <a:r>
              <a:rPr lang="en-US" sz="1200" b="1" dirty="0">
                <a:solidFill>
                  <a:schemeClr val="bg1"/>
                </a:solidFill>
              </a:rPr>
              <a:t>Firmware development and ML data pipeline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Impact</a:t>
            </a:r>
            <a:endParaRPr lang="en-US" sz="1000" dirty="0"/>
          </a:p>
        </p:txBody>
      </p:sp>
      <p:sp>
        <p:nvSpPr>
          <p:cNvPr id="5" name="Text 3"/>
          <p:cNvSpPr/>
          <p:nvPr/>
        </p:nvSpPr>
        <p:spPr>
          <a:xfrm>
            <a:off x="365760" y="594360"/>
            <a:ext cx="8229600" cy="457200"/>
          </a:xfrm>
          <a:prstGeom prst="rect">
            <a:avLst/>
          </a:prstGeom>
          <a:noFill/>
          <a:ln/>
        </p:spPr>
        <p:txBody>
          <a:bodyPr wrap="square" rtlCol="0" anchor="ctr"/>
          <a:lstStyle/>
          <a:p>
            <a:pPr marL="0" indent="0" algn="ctr">
              <a:buNone/>
            </a:pPr>
            <a:r>
              <a:rPr lang="en-US" sz="2600" b="1" dirty="0">
                <a:solidFill>
                  <a:srgbClr val="2C5F2D"/>
                </a:solidFill>
              </a:rPr>
              <a:t>IMPACT</a:t>
            </a:r>
            <a:endParaRPr lang="en-US" sz="2600" dirty="0"/>
          </a:p>
        </p:txBody>
      </p:sp>
      <p:sp>
        <p:nvSpPr>
          <p:cNvPr id="6" name="Shape 4"/>
          <p:cNvSpPr/>
          <p:nvPr/>
        </p:nvSpPr>
        <p:spPr>
          <a:xfrm>
            <a:off x="365760" y="1188720"/>
            <a:ext cx="2560320" cy="1005840"/>
          </a:xfrm>
          <a:prstGeom prst="rect">
            <a:avLst/>
          </a:prstGeom>
          <a:solidFill>
            <a:srgbClr val="2C5F2D"/>
          </a:solidFill>
          <a:ln w="25400">
            <a:solidFill>
              <a:srgbClr val="6DB33F"/>
            </a:solidFill>
            <a:prstDash val="solid"/>
          </a:ln>
        </p:spPr>
      </p:sp>
      <p:sp>
        <p:nvSpPr>
          <p:cNvPr id="7" name="Text 5"/>
          <p:cNvSpPr/>
          <p:nvPr/>
        </p:nvSpPr>
        <p:spPr>
          <a:xfrm>
            <a:off x="365760" y="1216152"/>
            <a:ext cx="2560320" cy="548640"/>
          </a:xfrm>
          <a:prstGeom prst="rect">
            <a:avLst/>
          </a:prstGeom>
          <a:noFill/>
          <a:ln/>
        </p:spPr>
        <p:txBody>
          <a:bodyPr wrap="square" rtlCol="0" anchor="ctr"/>
          <a:lstStyle/>
          <a:p>
            <a:pPr marL="0" indent="0" algn="ctr">
              <a:buNone/>
            </a:pPr>
            <a:r>
              <a:rPr lang="en-US" sz="2800" b="1" dirty="0">
                <a:solidFill>
                  <a:srgbClr val="6DB33F"/>
                </a:solidFill>
              </a:rPr>
              <a:t>20–40%</a:t>
            </a:r>
            <a:endParaRPr lang="en-US" sz="2800" dirty="0"/>
          </a:p>
        </p:txBody>
      </p:sp>
      <p:sp>
        <p:nvSpPr>
          <p:cNvPr id="8" name="Text 6"/>
          <p:cNvSpPr/>
          <p:nvPr/>
        </p:nvSpPr>
        <p:spPr>
          <a:xfrm>
            <a:off x="365760" y="1719072"/>
            <a:ext cx="2560320" cy="411480"/>
          </a:xfrm>
          <a:prstGeom prst="rect">
            <a:avLst/>
          </a:prstGeom>
          <a:noFill/>
          <a:ln/>
        </p:spPr>
        <p:txBody>
          <a:bodyPr wrap="square" rtlCol="0" anchor="ctr"/>
          <a:lstStyle/>
          <a:p>
            <a:pPr marL="0" indent="0" algn="ctr">
              <a:buNone/>
            </a:pPr>
            <a:r>
              <a:rPr lang="en-US" sz="1000" dirty="0">
                <a:solidFill>
                  <a:srgbClr val="FFFFFF"/>
                </a:solidFill>
              </a:rPr>
              <a:t>Energy Savings</a:t>
            </a:r>
            <a:endParaRPr lang="en-US" sz="1000" dirty="0"/>
          </a:p>
          <a:p>
            <a:pPr marL="0" indent="0" algn="ctr">
              <a:buNone/>
            </a:pPr>
            <a:r>
              <a:rPr lang="en-US" sz="1000" dirty="0">
                <a:solidFill>
                  <a:srgbClr val="FFFFFF"/>
                </a:solidFill>
              </a:rPr>
              <a:t>per Motor</a:t>
            </a:r>
            <a:endParaRPr lang="en-US" sz="1000" dirty="0"/>
          </a:p>
        </p:txBody>
      </p:sp>
      <p:sp>
        <p:nvSpPr>
          <p:cNvPr id="9" name="Shape 7"/>
          <p:cNvSpPr/>
          <p:nvPr/>
        </p:nvSpPr>
        <p:spPr>
          <a:xfrm>
            <a:off x="3200400" y="1188720"/>
            <a:ext cx="2560320" cy="1005840"/>
          </a:xfrm>
          <a:prstGeom prst="rect">
            <a:avLst/>
          </a:prstGeom>
          <a:solidFill>
            <a:srgbClr val="2C5F2D"/>
          </a:solidFill>
          <a:ln w="25400">
            <a:solidFill>
              <a:srgbClr val="6DB33F"/>
            </a:solidFill>
            <a:prstDash val="solid"/>
          </a:ln>
        </p:spPr>
      </p:sp>
      <p:sp>
        <p:nvSpPr>
          <p:cNvPr id="10" name="Text 8"/>
          <p:cNvSpPr/>
          <p:nvPr/>
        </p:nvSpPr>
        <p:spPr>
          <a:xfrm>
            <a:off x="3200400" y="1216152"/>
            <a:ext cx="2560320" cy="548640"/>
          </a:xfrm>
          <a:prstGeom prst="rect">
            <a:avLst/>
          </a:prstGeom>
          <a:noFill/>
          <a:ln/>
        </p:spPr>
        <p:txBody>
          <a:bodyPr wrap="square" rtlCol="0" anchor="ctr"/>
          <a:lstStyle/>
          <a:p>
            <a:pPr marL="0" indent="0" algn="ctr">
              <a:buNone/>
            </a:pPr>
            <a:r>
              <a:rPr lang="en-US" sz="2800" b="1" dirty="0">
                <a:solidFill>
                  <a:srgbClr val="6DB33F"/>
                </a:solidFill>
              </a:rPr>
              <a:t>₹5–10L</a:t>
            </a:r>
            <a:endParaRPr lang="en-US" sz="2800" dirty="0"/>
          </a:p>
        </p:txBody>
      </p:sp>
      <p:sp>
        <p:nvSpPr>
          <p:cNvPr id="11" name="Text 9"/>
          <p:cNvSpPr/>
          <p:nvPr/>
        </p:nvSpPr>
        <p:spPr>
          <a:xfrm>
            <a:off x="3200400" y="1719072"/>
            <a:ext cx="2560320" cy="411480"/>
          </a:xfrm>
          <a:prstGeom prst="rect">
            <a:avLst/>
          </a:prstGeom>
          <a:noFill/>
          <a:ln/>
        </p:spPr>
        <p:txBody>
          <a:bodyPr wrap="square" rtlCol="0" anchor="ctr"/>
          <a:lstStyle/>
          <a:p>
            <a:pPr marL="0" indent="0" algn="ctr">
              <a:buNone/>
            </a:pPr>
            <a:r>
              <a:rPr lang="en-US" sz="1000" dirty="0">
                <a:solidFill>
                  <a:srgbClr val="FFFFFF"/>
                </a:solidFill>
              </a:rPr>
              <a:t>Annual Savings</a:t>
            </a:r>
            <a:endParaRPr lang="en-US" sz="1000" dirty="0"/>
          </a:p>
          <a:p>
            <a:pPr marL="0" indent="0" algn="ctr">
              <a:buNone/>
            </a:pPr>
            <a:r>
              <a:rPr lang="en-US" sz="1000" dirty="0">
                <a:solidFill>
                  <a:srgbClr val="FFFFFF"/>
                </a:solidFill>
              </a:rPr>
              <a:t>per Factory</a:t>
            </a:r>
            <a:endParaRPr lang="en-US" sz="1000" dirty="0"/>
          </a:p>
        </p:txBody>
      </p:sp>
      <p:sp>
        <p:nvSpPr>
          <p:cNvPr id="12" name="Shape 10"/>
          <p:cNvSpPr/>
          <p:nvPr/>
        </p:nvSpPr>
        <p:spPr>
          <a:xfrm>
            <a:off x="6035040" y="1188720"/>
            <a:ext cx="2560320" cy="1005840"/>
          </a:xfrm>
          <a:prstGeom prst="rect">
            <a:avLst/>
          </a:prstGeom>
          <a:solidFill>
            <a:srgbClr val="2C5F2D"/>
          </a:solidFill>
          <a:ln w="25400">
            <a:solidFill>
              <a:srgbClr val="6DB33F"/>
            </a:solidFill>
            <a:prstDash val="solid"/>
          </a:ln>
        </p:spPr>
      </p:sp>
      <p:sp>
        <p:nvSpPr>
          <p:cNvPr id="13" name="Text 11"/>
          <p:cNvSpPr/>
          <p:nvPr/>
        </p:nvSpPr>
        <p:spPr>
          <a:xfrm>
            <a:off x="6035040" y="1216152"/>
            <a:ext cx="2560320" cy="548640"/>
          </a:xfrm>
          <a:prstGeom prst="rect">
            <a:avLst/>
          </a:prstGeom>
          <a:noFill/>
          <a:ln/>
        </p:spPr>
        <p:txBody>
          <a:bodyPr wrap="square" rtlCol="0" anchor="ctr"/>
          <a:lstStyle/>
          <a:p>
            <a:pPr marL="0" indent="0" algn="ctr">
              <a:buNone/>
            </a:pPr>
            <a:r>
              <a:rPr lang="en-US" sz="2800" b="1" dirty="0">
                <a:solidFill>
                  <a:srgbClr val="6DB33F"/>
                </a:solidFill>
              </a:rPr>
              <a:t>60%</a:t>
            </a:r>
            <a:endParaRPr lang="en-US" sz="2800" dirty="0"/>
          </a:p>
        </p:txBody>
      </p:sp>
      <p:sp>
        <p:nvSpPr>
          <p:cNvPr id="14" name="Text 12"/>
          <p:cNvSpPr/>
          <p:nvPr/>
        </p:nvSpPr>
        <p:spPr>
          <a:xfrm>
            <a:off x="6035040" y="1719072"/>
            <a:ext cx="2560320" cy="411480"/>
          </a:xfrm>
          <a:prstGeom prst="rect">
            <a:avLst/>
          </a:prstGeom>
          <a:noFill/>
          <a:ln/>
        </p:spPr>
        <p:txBody>
          <a:bodyPr wrap="square" rtlCol="0" anchor="ctr"/>
          <a:lstStyle/>
          <a:p>
            <a:pPr marL="0" indent="0" algn="ctr">
              <a:buNone/>
            </a:pPr>
            <a:r>
              <a:rPr lang="en-US" sz="1000" dirty="0">
                <a:solidFill>
                  <a:srgbClr val="FFFFFF"/>
                </a:solidFill>
              </a:rPr>
              <a:t>CO₂ Reduction</a:t>
            </a:r>
            <a:endParaRPr lang="en-US" sz="1000" dirty="0"/>
          </a:p>
          <a:p>
            <a:pPr marL="0" indent="0" algn="ctr">
              <a:buNone/>
            </a:pPr>
            <a:r>
              <a:rPr lang="en-US" sz="1000" dirty="0">
                <a:solidFill>
                  <a:srgbClr val="FFFFFF"/>
                </a:solidFill>
              </a:rPr>
              <a:t>per Site</a:t>
            </a:r>
            <a:endParaRPr lang="en-US" sz="1000" dirty="0"/>
          </a:p>
        </p:txBody>
      </p:sp>
      <p:sp>
        <p:nvSpPr>
          <p:cNvPr id="15" name="Shape 13"/>
          <p:cNvSpPr/>
          <p:nvPr/>
        </p:nvSpPr>
        <p:spPr>
          <a:xfrm>
            <a:off x="365760" y="2377440"/>
            <a:ext cx="4023360" cy="1234440"/>
          </a:xfrm>
          <a:prstGeom prst="rect">
            <a:avLst/>
          </a:prstGeom>
          <a:solidFill>
            <a:srgbClr val="FFFFFF"/>
          </a:solidFill>
          <a:ln w="6350">
            <a:solidFill>
              <a:srgbClr val="DDDDDD"/>
            </a:solidFill>
            <a:prstDash val="solid"/>
          </a:ln>
          <a:effectLst>
            <a:outerShdw blurRad="50800" dist="12700" dir="8100000" algn="bl" rotWithShape="0">
              <a:srgbClr val="000000">
                <a:alpha val="8000"/>
              </a:srgbClr>
            </a:outerShdw>
          </a:effectLst>
        </p:spPr>
      </p:sp>
      <p:sp>
        <p:nvSpPr>
          <p:cNvPr id="16" name="Shape 14"/>
          <p:cNvSpPr/>
          <p:nvPr/>
        </p:nvSpPr>
        <p:spPr>
          <a:xfrm>
            <a:off x="365760" y="2377440"/>
            <a:ext cx="54864" cy="1234440"/>
          </a:xfrm>
          <a:prstGeom prst="rect">
            <a:avLst/>
          </a:prstGeom>
          <a:solidFill>
            <a:srgbClr val="6DB33F"/>
          </a:solidFill>
          <a:ln w="12700">
            <a:solidFill>
              <a:srgbClr val="6DB33F"/>
            </a:solidFill>
            <a:prstDash val="solid"/>
          </a:ln>
        </p:spPr>
      </p:sp>
      <p:sp>
        <p:nvSpPr>
          <p:cNvPr id="17" name="Text 15"/>
          <p:cNvSpPr/>
          <p:nvPr/>
        </p:nvSpPr>
        <p:spPr>
          <a:xfrm>
            <a:off x="502920" y="2450592"/>
            <a:ext cx="3794760" cy="274320"/>
          </a:xfrm>
          <a:prstGeom prst="rect">
            <a:avLst/>
          </a:prstGeom>
          <a:noFill/>
          <a:ln/>
        </p:spPr>
        <p:txBody>
          <a:bodyPr wrap="square" rtlCol="0" anchor="ctr"/>
          <a:lstStyle/>
          <a:p>
            <a:pPr marL="0" indent="0">
              <a:buNone/>
            </a:pPr>
            <a:r>
              <a:rPr lang="en-US" sz="1050" b="1" dirty="0">
                <a:solidFill>
                  <a:srgbClr val="2C5F2D"/>
                </a:solidFill>
              </a:rPr>
              <a:t>Industrial Impact</a:t>
            </a:r>
            <a:endParaRPr lang="en-US" sz="1050" dirty="0"/>
          </a:p>
        </p:txBody>
      </p:sp>
      <p:sp>
        <p:nvSpPr>
          <p:cNvPr id="18" name="Text 16"/>
          <p:cNvSpPr/>
          <p:nvPr/>
        </p:nvSpPr>
        <p:spPr>
          <a:xfrm>
            <a:off x="502920" y="2761488"/>
            <a:ext cx="3794760" cy="777240"/>
          </a:xfrm>
          <a:prstGeom prst="rect">
            <a:avLst/>
          </a:prstGeom>
          <a:noFill/>
          <a:ln/>
        </p:spPr>
        <p:txBody>
          <a:bodyPr wrap="square" rtlCol="0" anchor="t"/>
          <a:lstStyle/>
          <a:p>
            <a:pPr marL="0" indent="0">
              <a:buNone/>
            </a:pPr>
            <a:r>
              <a:rPr lang="en-US" sz="1000" dirty="0">
                <a:solidFill>
                  <a:srgbClr val="1E1E1E"/>
                </a:solidFill>
              </a:rPr>
              <a:t>Factories with 50+ motors save ₹5–10 lakhs/year. Reduces transformer overload and extends motor lifespan by 30%. Direct ROI within 18 months.</a:t>
            </a:r>
            <a:endParaRPr lang="en-US" sz="1000" dirty="0"/>
          </a:p>
        </p:txBody>
      </p:sp>
      <p:sp>
        <p:nvSpPr>
          <p:cNvPr id="19" name="Shape 17"/>
          <p:cNvSpPr/>
          <p:nvPr/>
        </p:nvSpPr>
        <p:spPr>
          <a:xfrm>
            <a:off x="4709160" y="2377440"/>
            <a:ext cx="4023360" cy="1234440"/>
          </a:xfrm>
          <a:prstGeom prst="rect">
            <a:avLst/>
          </a:prstGeom>
          <a:solidFill>
            <a:srgbClr val="FFFFFF"/>
          </a:solidFill>
          <a:ln w="6350">
            <a:solidFill>
              <a:srgbClr val="DDDDDD"/>
            </a:solidFill>
            <a:prstDash val="solid"/>
          </a:ln>
          <a:effectLst>
            <a:outerShdw blurRad="50800" dist="12700" dir="8100000" algn="bl" rotWithShape="0">
              <a:srgbClr val="000000">
                <a:alpha val="8000"/>
              </a:srgbClr>
            </a:outerShdw>
          </a:effectLst>
        </p:spPr>
      </p:sp>
      <p:sp>
        <p:nvSpPr>
          <p:cNvPr id="20" name="Shape 18"/>
          <p:cNvSpPr/>
          <p:nvPr/>
        </p:nvSpPr>
        <p:spPr>
          <a:xfrm>
            <a:off x="4709160" y="2377440"/>
            <a:ext cx="54864" cy="1234440"/>
          </a:xfrm>
          <a:prstGeom prst="rect">
            <a:avLst/>
          </a:prstGeom>
          <a:solidFill>
            <a:srgbClr val="6DB33F"/>
          </a:solidFill>
          <a:ln w="12700">
            <a:solidFill>
              <a:srgbClr val="6DB33F"/>
            </a:solidFill>
            <a:prstDash val="solid"/>
          </a:ln>
        </p:spPr>
      </p:sp>
      <p:sp>
        <p:nvSpPr>
          <p:cNvPr id="21" name="Text 19"/>
          <p:cNvSpPr/>
          <p:nvPr/>
        </p:nvSpPr>
        <p:spPr>
          <a:xfrm>
            <a:off x="4846320" y="2450592"/>
            <a:ext cx="3794760" cy="274320"/>
          </a:xfrm>
          <a:prstGeom prst="rect">
            <a:avLst/>
          </a:prstGeom>
          <a:noFill/>
          <a:ln/>
        </p:spPr>
        <p:txBody>
          <a:bodyPr wrap="square" rtlCol="0" anchor="ctr"/>
          <a:lstStyle/>
          <a:p>
            <a:pPr marL="0" indent="0">
              <a:buNone/>
            </a:pPr>
            <a:r>
              <a:rPr lang="en-US" sz="1050" b="1" dirty="0">
                <a:solidFill>
                  <a:srgbClr val="2C5F2D"/>
                </a:solidFill>
              </a:rPr>
              <a:t>Environmental Impact</a:t>
            </a:r>
            <a:endParaRPr lang="en-US" sz="1050" dirty="0"/>
          </a:p>
        </p:txBody>
      </p:sp>
      <p:sp>
        <p:nvSpPr>
          <p:cNvPr id="22" name="Text 20"/>
          <p:cNvSpPr/>
          <p:nvPr/>
        </p:nvSpPr>
        <p:spPr>
          <a:xfrm>
            <a:off x="4846320" y="2761488"/>
            <a:ext cx="3794760" cy="777240"/>
          </a:xfrm>
          <a:prstGeom prst="rect">
            <a:avLst/>
          </a:prstGeom>
          <a:noFill/>
          <a:ln/>
        </p:spPr>
        <p:txBody>
          <a:bodyPr wrap="square" rtlCol="0" anchor="t"/>
          <a:lstStyle/>
          <a:p>
            <a:pPr marL="0" indent="0">
              <a:buNone/>
            </a:pPr>
            <a:r>
              <a:rPr lang="en-US" sz="1000" dirty="0">
                <a:solidFill>
                  <a:srgbClr val="1E1E1E"/>
                </a:solidFill>
              </a:rPr>
              <a:t>1 MW of optimised motor load = 800 tonnes less CO₂/year. Directly supports India's Net Zero 2070 commitment and reduces industrial carbon footprint.</a:t>
            </a:r>
            <a:endParaRPr lang="en-US" sz="1000" dirty="0"/>
          </a:p>
        </p:txBody>
      </p:sp>
      <p:sp>
        <p:nvSpPr>
          <p:cNvPr id="23" name="Shape 21"/>
          <p:cNvSpPr/>
          <p:nvPr/>
        </p:nvSpPr>
        <p:spPr>
          <a:xfrm>
            <a:off x="365760" y="3703320"/>
            <a:ext cx="4023360" cy="1234440"/>
          </a:xfrm>
          <a:prstGeom prst="rect">
            <a:avLst/>
          </a:prstGeom>
          <a:solidFill>
            <a:srgbClr val="FFFFFF"/>
          </a:solidFill>
          <a:ln w="6350">
            <a:solidFill>
              <a:srgbClr val="DDDDDD"/>
            </a:solidFill>
            <a:prstDash val="solid"/>
          </a:ln>
          <a:effectLst>
            <a:outerShdw blurRad="50800" dist="12700" dir="8100000" algn="bl" rotWithShape="0">
              <a:srgbClr val="000000">
                <a:alpha val="8000"/>
              </a:srgbClr>
            </a:outerShdw>
          </a:effectLst>
        </p:spPr>
      </p:sp>
      <p:sp>
        <p:nvSpPr>
          <p:cNvPr id="24" name="Shape 22"/>
          <p:cNvSpPr/>
          <p:nvPr/>
        </p:nvSpPr>
        <p:spPr>
          <a:xfrm>
            <a:off x="365760" y="3703320"/>
            <a:ext cx="54864" cy="1234440"/>
          </a:xfrm>
          <a:prstGeom prst="rect">
            <a:avLst/>
          </a:prstGeom>
          <a:solidFill>
            <a:srgbClr val="6DB33F"/>
          </a:solidFill>
          <a:ln w="12700">
            <a:solidFill>
              <a:srgbClr val="6DB33F"/>
            </a:solidFill>
            <a:prstDash val="solid"/>
          </a:ln>
        </p:spPr>
      </p:sp>
      <p:sp>
        <p:nvSpPr>
          <p:cNvPr id="25" name="Text 23"/>
          <p:cNvSpPr/>
          <p:nvPr/>
        </p:nvSpPr>
        <p:spPr>
          <a:xfrm>
            <a:off x="502920" y="3776472"/>
            <a:ext cx="3794760" cy="274320"/>
          </a:xfrm>
          <a:prstGeom prst="rect">
            <a:avLst/>
          </a:prstGeom>
          <a:noFill/>
          <a:ln/>
        </p:spPr>
        <p:txBody>
          <a:bodyPr wrap="square" rtlCol="0" anchor="ctr"/>
          <a:lstStyle/>
          <a:p>
            <a:pPr marL="0" indent="0">
              <a:buNone/>
            </a:pPr>
            <a:r>
              <a:rPr lang="en-US" sz="1050" b="1" dirty="0">
                <a:solidFill>
                  <a:srgbClr val="2C5F2D"/>
                </a:solidFill>
              </a:rPr>
              <a:t>Scalability</a:t>
            </a:r>
            <a:endParaRPr lang="en-US" sz="1050" dirty="0"/>
          </a:p>
        </p:txBody>
      </p:sp>
      <p:sp>
        <p:nvSpPr>
          <p:cNvPr id="26" name="Text 24"/>
          <p:cNvSpPr/>
          <p:nvPr/>
        </p:nvSpPr>
        <p:spPr>
          <a:xfrm>
            <a:off x="502920" y="4087368"/>
            <a:ext cx="3794760" cy="777240"/>
          </a:xfrm>
          <a:prstGeom prst="rect">
            <a:avLst/>
          </a:prstGeom>
          <a:noFill/>
          <a:ln/>
        </p:spPr>
        <p:txBody>
          <a:bodyPr wrap="square" rtlCol="0" anchor="t"/>
          <a:lstStyle/>
          <a:p>
            <a:pPr marL="0" indent="0">
              <a:buNone/>
            </a:pPr>
            <a:r>
              <a:rPr lang="en-US" sz="1000" dirty="0">
                <a:solidFill>
                  <a:srgbClr val="1E1E1E"/>
                </a:solidFill>
              </a:rPr>
              <a:t>Pilot at KLE Tech campus → scale to KIADB industrial zones → National Smart Manufacturing Mission. Cloud-ready architecture enables rapid rollout.</a:t>
            </a:r>
            <a:endParaRPr lang="en-US" sz="1000" dirty="0"/>
          </a:p>
        </p:txBody>
      </p:sp>
      <p:sp>
        <p:nvSpPr>
          <p:cNvPr id="27" name="Shape 25"/>
          <p:cNvSpPr/>
          <p:nvPr/>
        </p:nvSpPr>
        <p:spPr>
          <a:xfrm>
            <a:off x="4709160" y="3703320"/>
            <a:ext cx="4023360" cy="1234440"/>
          </a:xfrm>
          <a:prstGeom prst="rect">
            <a:avLst/>
          </a:prstGeom>
          <a:solidFill>
            <a:srgbClr val="FFFFFF"/>
          </a:solidFill>
          <a:ln w="6350">
            <a:solidFill>
              <a:srgbClr val="DDDDDD"/>
            </a:solidFill>
            <a:prstDash val="solid"/>
          </a:ln>
          <a:effectLst>
            <a:outerShdw blurRad="50800" dist="12700" dir="8100000" algn="bl" rotWithShape="0">
              <a:srgbClr val="000000">
                <a:alpha val="8000"/>
              </a:srgbClr>
            </a:outerShdw>
          </a:effectLst>
        </p:spPr>
      </p:sp>
      <p:sp>
        <p:nvSpPr>
          <p:cNvPr id="28" name="Shape 26"/>
          <p:cNvSpPr/>
          <p:nvPr/>
        </p:nvSpPr>
        <p:spPr>
          <a:xfrm>
            <a:off x="4709160" y="3703320"/>
            <a:ext cx="54864" cy="1234440"/>
          </a:xfrm>
          <a:prstGeom prst="rect">
            <a:avLst/>
          </a:prstGeom>
          <a:solidFill>
            <a:srgbClr val="6DB33F"/>
          </a:solidFill>
          <a:ln w="12700">
            <a:solidFill>
              <a:srgbClr val="6DB33F"/>
            </a:solidFill>
            <a:prstDash val="solid"/>
          </a:ln>
        </p:spPr>
      </p:sp>
      <p:sp>
        <p:nvSpPr>
          <p:cNvPr id="29" name="Text 27"/>
          <p:cNvSpPr/>
          <p:nvPr/>
        </p:nvSpPr>
        <p:spPr>
          <a:xfrm>
            <a:off x="4846320" y="3776472"/>
            <a:ext cx="3794760" cy="274320"/>
          </a:xfrm>
          <a:prstGeom prst="rect">
            <a:avLst/>
          </a:prstGeom>
          <a:noFill/>
          <a:ln/>
        </p:spPr>
        <p:txBody>
          <a:bodyPr wrap="square" rtlCol="0" anchor="ctr"/>
          <a:lstStyle/>
          <a:p>
            <a:pPr marL="0" indent="0">
              <a:buNone/>
            </a:pPr>
            <a:r>
              <a:rPr lang="en-US" sz="1050" b="1" dirty="0">
                <a:solidFill>
                  <a:srgbClr val="2C5F2D"/>
                </a:solidFill>
              </a:rPr>
              <a:t>Business Potential</a:t>
            </a:r>
            <a:endParaRPr lang="en-US" sz="1050" dirty="0"/>
          </a:p>
        </p:txBody>
      </p:sp>
      <p:sp>
        <p:nvSpPr>
          <p:cNvPr id="30" name="Text 28"/>
          <p:cNvSpPr/>
          <p:nvPr/>
        </p:nvSpPr>
        <p:spPr>
          <a:xfrm>
            <a:off x="4846320" y="4087368"/>
            <a:ext cx="3794760" cy="777240"/>
          </a:xfrm>
          <a:prstGeom prst="rect">
            <a:avLst/>
          </a:prstGeom>
          <a:noFill/>
          <a:ln/>
        </p:spPr>
        <p:txBody>
          <a:bodyPr wrap="square" rtlCol="0" anchor="t"/>
          <a:lstStyle/>
          <a:p>
            <a:pPr marL="0" indent="0">
              <a:buNone/>
            </a:pPr>
            <a:r>
              <a:rPr lang="en-US" sz="1000" dirty="0">
                <a:solidFill>
                  <a:srgbClr val="1E1E1E"/>
                </a:solidFill>
              </a:rPr>
              <a:t>50,000+ factories in India as addressable market. Hardware kit + SaaS dashboard = ₹200 Cr+ opportunity. Subscription model ensures recurring revenue.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4731"/>
          </a:solidFill>
          <a:ln w="12700">
            <a:solidFill>
              <a:srgbClr val="1A4731"/>
            </a:solidFill>
            <a:prstDash val="solid"/>
          </a:ln>
        </p:spPr>
      </p:sp>
      <p:sp>
        <p:nvSpPr>
          <p:cNvPr id="3" name="Text 1"/>
          <p:cNvSpPr/>
          <p:nvPr/>
        </p:nvSpPr>
        <p:spPr>
          <a:xfrm>
            <a:off x="182880" y="0"/>
            <a:ext cx="6858000" cy="502920"/>
          </a:xfrm>
          <a:prstGeom prst="rect">
            <a:avLst/>
          </a:prstGeom>
          <a:noFill/>
          <a:ln/>
        </p:spPr>
        <p:txBody>
          <a:bodyPr wrap="square" rtlCol="0" anchor="ctr">
            <a:normAutofit/>
          </a:bodyP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normAutofit/>
          </a:bodyPr>
          <a:lstStyle/>
          <a:p>
            <a:pPr marL="0" indent="0" algn="r">
              <a:buNone/>
            </a:pPr>
            <a:r>
              <a:rPr lang="en-US" sz="1000" b="1" dirty="0">
                <a:solidFill>
                  <a:srgbClr val="6DB33F"/>
                </a:solidFill>
              </a:rPr>
              <a:t>Business Model</a:t>
            </a:r>
            <a:endParaRPr lang="en-US" sz="1000" dirty="0"/>
          </a:p>
        </p:txBody>
      </p:sp>
      <p:sp>
        <p:nvSpPr>
          <p:cNvPr id="5" name="Text 3"/>
          <p:cNvSpPr/>
          <p:nvPr/>
        </p:nvSpPr>
        <p:spPr>
          <a:xfrm>
            <a:off x="228600" y="502920"/>
            <a:ext cx="457200" cy="457200"/>
          </a:xfrm>
          <a:prstGeom prst="rect">
            <a:avLst/>
          </a:prstGeom>
          <a:noFill/>
          <a:ln/>
        </p:spPr>
        <p:txBody>
          <a:bodyPr wrap="square" rtlCol="0" anchor="ctr">
            <a:normAutofit/>
          </a:bodyPr>
          <a:lstStyle/>
          <a:p>
            <a:pPr marL="0" indent="0">
              <a:buNone/>
            </a:pPr>
            <a:r>
              <a:rPr lang="en-US" sz="1800" dirty="0">
                <a:solidFill>
                  <a:srgbClr val="6DB33F"/>
                </a:solidFill>
              </a:rPr>
              <a:t>⚡</a:t>
            </a:r>
            <a:endParaRPr lang="en-US" sz="1800" dirty="0"/>
          </a:p>
        </p:txBody>
      </p:sp>
      <p:sp>
        <p:nvSpPr>
          <p:cNvPr id="6" name="Text 4"/>
          <p:cNvSpPr/>
          <p:nvPr/>
        </p:nvSpPr>
        <p:spPr>
          <a:xfrm>
            <a:off x="640080" y="530352"/>
            <a:ext cx="6858000" cy="411480"/>
          </a:xfrm>
          <a:prstGeom prst="rect">
            <a:avLst/>
          </a:prstGeom>
          <a:noFill/>
          <a:ln/>
        </p:spPr>
        <p:txBody>
          <a:bodyPr wrap="square" rtlCol="0" anchor="ctr">
            <a:normAutofit fontScale="92500" lnSpcReduction="10000"/>
          </a:bodyPr>
          <a:lstStyle/>
          <a:p>
            <a:pPr marL="0" indent="0">
              <a:buNone/>
            </a:pPr>
            <a:r>
              <a:rPr lang="en-US" sz="2400" b="1" dirty="0">
                <a:solidFill>
                  <a:srgbClr val="FFFFFF"/>
                </a:solidFill>
              </a:rPr>
              <a:t>BUSINESS MODEL</a:t>
            </a:r>
            <a:endParaRPr lang="en-US" sz="2400" dirty="0"/>
          </a:p>
        </p:txBody>
      </p:sp>
      <p:sp>
        <p:nvSpPr>
          <p:cNvPr id="7" name="Text 5"/>
          <p:cNvSpPr/>
          <p:nvPr/>
        </p:nvSpPr>
        <p:spPr>
          <a:xfrm>
            <a:off x="8138160" y="502920"/>
            <a:ext cx="457200" cy="457200"/>
          </a:xfrm>
          <a:prstGeom prst="rect">
            <a:avLst/>
          </a:prstGeom>
          <a:noFill/>
          <a:ln/>
        </p:spPr>
        <p:txBody>
          <a:bodyPr wrap="square" rtlCol="0" anchor="ctr">
            <a:normAutofit/>
          </a:bodyPr>
          <a:lstStyle/>
          <a:p>
            <a:pPr marL="0" indent="0">
              <a:buNone/>
            </a:pPr>
            <a:r>
              <a:rPr lang="en-US" sz="1800" dirty="0">
                <a:solidFill>
                  <a:srgbClr val="6DB33F"/>
                </a:solidFill>
              </a:rPr>
              <a:t>⚡</a:t>
            </a:r>
            <a:endParaRPr lang="en-US" sz="1800" dirty="0"/>
          </a:p>
        </p:txBody>
      </p:sp>
      <p:sp>
        <p:nvSpPr>
          <p:cNvPr id="8" name="Shape 6"/>
          <p:cNvSpPr/>
          <p:nvPr/>
        </p:nvSpPr>
        <p:spPr>
          <a:xfrm>
            <a:off x="274320" y="1024128"/>
            <a:ext cx="8595360" cy="292608"/>
          </a:xfrm>
          <a:prstGeom prst="rect">
            <a:avLst/>
          </a:prstGeom>
          <a:solidFill>
            <a:srgbClr val="6DB33F"/>
          </a:solidFill>
          <a:ln w="12700">
            <a:solidFill>
              <a:srgbClr val="6DB33F"/>
            </a:solidFill>
            <a:prstDash val="solid"/>
          </a:ln>
        </p:spPr>
      </p:sp>
      <p:sp>
        <p:nvSpPr>
          <p:cNvPr id="9" name="Text 7"/>
          <p:cNvSpPr/>
          <p:nvPr/>
        </p:nvSpPr>
        <p:spPr>
          <a:xfrm>
            <a:off x="365760" y="1024128"/>
            <a:ext cx="8412480" cy="292608"/>
          </a:xfrm>
          <a:prstGeom prst="rect">
            <a:avLst/>
          </a:prstGeom>
          <a:noFill/>
          <a:ln/>
        </p:spPr>
        <p:txBody>
          <a:bodyPr wrap="square" rtlCol="0" anchor="ctr">
            <a:normAutofit/>
          </a:bodyPr>
          <a:lstStyle/>
          <a:p>
            <a:pPr marL="0" indent="0">
              <a:buNone/>
            </a:pPr>
            <a:r>
              <a:rPr lang="en-US" sz="1100" b="1" dirty="0">
                <a:solidFill>
                  <a:srgbClr val="FFFFFF"/>
                </a:solidFill>
              </a:rPr>
              <a:t>HOW IT WORKS — The Business Flow</a:t>
            </a:r>
            <a:endParaRPr lang="en-US" sz="1100" dirty="0"/>
          </a:p>
        </p:txBody>
      </p:sp>
      <p:sp>
        <p:nvSpPr>
          <p:cNvPr id="10" name="Shape 8"/>
          <p:cNvSpPr/>
          <p:nvPr/>
        </p:nvSpPr>
        <p:spPr>
          <a:xfrm>
            <a:off x="301752" y="1403604"/>
            <a:ext cx="1600200" cy="1115568"/>
          </a:xfrm>
          <a:prstGeom prst="rect">
            <a:avLst/>
          </a:prstGeom>
          <a:solidFill>
            <a:srgbClr val="1E3A2A"/>
          </a:solidFill>
          <a:ln w="12700">
            <a:solidFill>
              <a:srgbClr val="6DB33F"/>
            </a:solidFill>
            <a:prstDash val="solid"/>
          </a:ln>
        </p:spPr>
      </p:sp>
      <p:sp>
        <p:nvSpPr>
          <p:cNvPr id="11" name="Shape 9"/>
          <p:cNvSpPr/>
          <p:nvPr/>
        </p:nvSpPr>
        <p:spPr>
          <a:xfrm>
            <a:off x="850392" y="1417320"/>
            <a:ext cx="438912" cy="438912"/>
          </a:xfrm>
          <a:prstGeom prst="ellipse">
            <a:avLst/>
          </a:prstGeom>
          <a:solidFill>
            <a:srgbClr val="6DB33F"/>
          </a:solidFill>
          <a:ln w="12700">
            <a:solidFill>
              <a:srgbClr val="6DB33F"/>
            </a:solidFill>
            <a:prstDash val="solid"/>
          </a:ln>
        </p:spPr>
      </p:sp>
      <p:sp>
        <p:nvSpPr>
          <p:cNvPr id="12" name="Text 10"/>
          <p:cNvSpPr/>
          <p:nvPr/>
        </p:nvSpPr>
        <p:spPr>
          <a:xfrm>
            <a:off x="850392" y="1417320"/>
            <a:ext cx="438912" cy="438912"/>
          </a:xfrm>
          <a:prstGeom prst="rect">
            <a:avLst/>
          </a:prstGeom>
          <a:noFill/>
          <a:ln/>
        </p:spPr>
        <p:txBody>
          <a:bodyPr wrap="square" rtlCol="0" anchor="ctr">
            <a:normAutofit/>
          </a:bodyPr>
          <a:lstStyle/>
          <a:p>
            <a:pPr marL="0" indent="0" algn="ctr">
              <a:buNone/>
            </a:pPr>
            <a:r>
              <a:rPr lang="en-US" sz="1400" b="1" dirty="0">
                <a:solidFill>
                  <a:srgbClr val="FFFFFF"/>
                </a:solidFill>
              </a:rPr>
              <a:t>1</a:t>
            </a:r>
            <a:endParaRPr lang="en-US" sz="1400" dirty="0"/>
          </a:p>
        </p:txBody>
      </p:sp>
      <p:sp>
        <p:nvSpPr>
          <p:cNvPr id="13" name="Text 11"/>
          <p:cNvSpPr/>
          <p:nvPr/>
        </p:nvSpPr>
        <p:spPr>
          <a:xfrm>
            <a:off x="338328" y="1901952"/>
            <a:ext cx="1481328" cy="256032"/>
          </a:xfrm>
          <a:prstGeom prst="rect">
            <a:avLst/>
          </a:prstGeom>
          <a:noFill/>
          <a:ln/>
        </p:spPr>
        <p:txBody>
          <a:bodyPr wrap="square" rtlCol="0" anchor="ctr">
            <a:normAutofit/>
          </a:bodyPr>
          <a:lstStyle/>
          <a:p>
            <a:pPr marL="0" indent="0" algn="ctr">
              <a:buNone/>
            </a:pPr>
            <a:r>
              <a:rPr lang="en-US" sz="900" b="1" dirty="0">
                <a:solidFill>
                  <a:srgbClr val="6DB33F"/>
                </a:solidFill>
              </a:rPr>
              <a:t>Factory Contacts </a:t>
            </a:r>
            <a:endParaRPr lang="en-US" sz="900" dirty="0"/>
          </a:p>
        </p:txBody>
      </p:sp>
      <p:sp>
        <p:nvSpPr>
          <p:cNvPr id="14" name="Text 12"/>
          <p:cNvSpPr/>
          <p:nvPr/>
        </p:nvSpPr>
        <p:spPr>
          <a:xfrm>
            <a:off x="341811" y="2073656"/>
            <a:ext cx="1481328" cy="457200"/>
          </a:xfrm>
          <a:prstGeom prst="rect">
            <a:avLst/>
          </a:prstGeom>
          <a:noFill/>
          <a:ln/>
        </p:spPr>
        <p:txBody>
          <a:bodyPr wrap="square" rtlCol="0" anchor="t">
            <a:normAutofit fontScale="92500"/>
          </a:bodyPr>
          <a:lstStyle/>
          <a:p>
            <a:pPr marL="0" indent="0" algn="ctr">
              <a:buNone/>
            </a:pPr>
            <a:r>
              <a:rPr lang="en-US" sz="850" b="1" dirty="0">
                <a:solidFill>
                  <a:srgbClr val="FFFFFF"/>
                </a:solidFill>
              </a:rPr>
              <a:t>Energy audit team visits site, maps all motors, logs baseline consumption for 30 days</a:t>
            </a:r>
            <a:r>
              <a:rPr lang="en-US" sz="850" dirty="0">
                <a:solidFill>
                  <a:srgbClr val="FFFFFF"/>
                </a:solidFill>
              </a:rPr>
              <a:t>.</a:t>
            </a:r>
            <a:endParaRPr lang="en-US" sz="850" dirty="0"/>
          </a:p>
        </p:txBody>
      </p:sp>
      <p:sp>
        <p:nvSpPr>
          <p:cNvPr id="15" name="Text 13"/>
          <p:cNvSpPr/>
          <p:nvPr/>
        </p:nvSpPr>
        <p:spPr>
          <a:xfrm>
            <a:off x="1874520" y="1600200"/>
            <a:ext cx="118872" cy="457200"/>
          </a:xfrm>
          <a:prstGeom prst="rect">
            <a:avLst/>
          </a:prstGeom>
          <a:noFill/>
          <a:ln/>
        </p:spPr>
        <p:txBody>
          <a:bodyPr wrap="square" rtlCol="0" anchor="ctr">
            <a:normAutofit/>
          </a:bodyPr>
          <a:lstStyle/>
          <a:p>
            <a:pPr marL="0" indent="0" algn="ctr">
              <a:buNone/>
            </a:pPr>
            <a:r>
              <a:rPr lang="en-US" sz="1300" b="1" dirty="0">
                <a:solidFill>
                  <a:srgbClr val="6DB33F"/>
                </a:solidFill>
              </a:rPr>
              <a:t>→</a:t>
            </a:r>
            <a:endParaRPr lang="en-US" sz="1300" dirty="0"/>
          </a:p>
        </p:txBody>
      </p:sp>
      <p:sp>
        <p:nvSpPr>
          <p:cNvPr id="16" name="Shape 14"/>
          <p:cNvSpPr/>
          <p:nvPr/>
        </p:nvSpPr>
        <p:spPr>
          <a:xfrm>
            <a:off x="2029968" y="1380744"/>
            <a:ext cx="1600200" cy="1115568"/>
          </a:xfrm>
          <a:prstGeom prst="rect">
            <a:avLst/>
          </a:prstGeom>
          <a:solidFill>
            <a:srgbClr val="1E3A2A"/>
          </a:solidFill>
          <a:ln w="12700">
            <a:solidFill>
              <a:srgbClr val="6DB33F"/>
            </a:solidFill>
            <a:prstDash val="solid"/>
          </a:ln>
        </p:spPr>
      </p:sp>
      <p:sp>
        <p:nvSpPr>
          <p:cNvPr id="17" name="Shape 15"/>
          <p:cNvSpPr/>
          <p:nvPr/>
        </p:nvSpPr>
        <p:spPr>
          <a:xfrm>
            <a:off x="2569464" y="1417320"/>
            <a:ext cx="438912" cy="438912"/>
          </a:xfrm>
          <a:prstGeom prst="ellipse">
            <a:avLst/>
          </a:prstGeom>
          <a:solidFill>
            <a:srgbClr val="6DB33F"/>
          </a:solidFill>
          <a:ln w="12700">
            <a:solidFill>
              <a:srgbClr val="6DB33F"/>
            </a:solidFill>
            <a:prstDash val="solid"/>
          </a:ln>
        </p:spPr>
      </p:sp>
      <p:sp>
        <p:nvSpPr>
          <p:cNvPr id="18" name="Text 16"/>
          <p:cNvSpPr/>
          <p:nvPr/>
        </p:nvSpPr>
        <p:spPr>
          <a:xfrm>
            <a:off x="2569464" y="1417320"/>
            <a:ext cx="438912" cy="438912"/>
          </a:xfrm>
          <a:prstGeom prst="rect">
            <a:avLst/>
          </a:prstGeom>
          <a:noFill/>
          <a:ln/>
        </p:spPr>
        <p:txBody>
          <a:bodyPr wrap="square" rtlCol="0" anchor="ctr">
            <a:normAutofit/>
          </a:bodyPr>
          <a:lstStyle/>
          <a:p>
            <a:pPr marL="0" indent="0" algn="ctr">
              <a:buNone/>
            </a:pPr>
            <a:r>
              <a:rPr lang="en-US" sz="1400" b="1" dirty="0">
                <a:solidFill>
                  <a:srgbClr val="FFFFFF"/>
                </a:solidFill>
              </a:rPr>
              <a:t>2</a:t>
            </a:r>
            <a:endParaRPr lang="en-US" sz="1400" dirty="0"/>
          </a:p>
        </p:txBody>
      </p:sp>
      <p:sp>
        <p:nvSpPr>
          <p:cNvPr id="19" name="Text 17"/>
          <p:cNvSpPr/>
          <p:nvPr/>
        </p:nvSpPr>
        <p:spPr>
          <a:xfrm>
            <a:off x="2057400" y="1901952"/>
            <a:ext cx="1481328" cy="256032"/>
          </a:xfrm>
          <a:prstGeom prst="rect">
            <a:avLst/>
          </a:prstGeom>
          <a:noFill/>
          <a:ln/>
        </p:spPr>
        <p:txBody>
          <a:bodyPr wrap="square" rtlCol="0" anchor="ctr">
            <a:normAutofit/>
          </a:bodyPr>
          <a:lstStyle/>
          <a:p>
            <a:pPr marL="0" indent="0" algn="ctr">
              <a:buNone/>
            </a:pPr>
            <a:r>
              <a:rPr lang="en-US" sz="900" b="1" dirty="0">
                <a:solidFill>
                  <a:srgbClr val="6DB33F"/>
                </a:solidFill>
              </a:rPr>
              <a:t>Install Hardware</a:t>
            </a:r>
            <a:endParaRPr lang="en-US" sz="900" dirty="0"/>
          </a:p>
        </p:txBody>
      </p:sp>
      <p:sp>
        <p:nvSpPr>
          <p:cNvPr id="20" name="Text 18"/>
          <p:cNvSpPr/>
          <p:nvPr/>
        </p:nvSpPr>
        <p:spPr>
          <a:xfrm>
            <a:off x="2112264" y="2093976"/>
            <a:ext cx="1554480" cy="457200"/>
          </a:xfrm>
          <a:prstGeom prst="rect">
            <a:avLst/>
          </a:prstGeom>
          <a:noFill/>
          <a:ln/>
        </p:spPr>
        <p:txBody>
          <a:bodyPr wrap="square" rtlCol="0" anchor="t">
            <a:normAutofit fontScale="85000" lnSpcReduction="10000"/>
          </a:bodyPr>
          <a:lstStyle/>
          <a:p>
            <a:pPr marL="0" indent="0" algn="ctr">
              <a:buNone/>
            </a:pPr>
            <a:r>
              <a:rPr lang="en-US" sz="850" b="1" dirty="0">
                <a:solidFill>
                  <a:srgbClr val="FFFFFF"/>
                </a:solidFill>
              </a:rPr>
              <a:t>ESP32 + ACS712 sensors fitted to each motor. VFD and PLC connected. No production stoppage.</a:t>
            </a:r>
            <a:endParaRPr lang="en-US" sz="850" b="1" dirty="0"/>
          </a:p>
        </p:txBody>
      </p:sp>
      <p:sp>
        <p:nvSpPr>
          <p:cNvPr id="21" name="Text 19"/>
          <p:cNvSpPr/>
          <p:nvPr/>
        </p:nvSpPr>
        <p:spPr>
          <a:xfrm>
            <a:off x="3593592" y="1600200"/>
            <a:ext cx="118872" cy="457200"/>
          </a:xfrm>
          <a:prstGeom prst="rect">
            <a:avLst/>
          </a:prstGeom>
          <a:noFill/>
          <a:ln/>
        </p:spPr>
        <p:txBody>
          <a:bodyPr wrap="square" rtlCol="0" anchor="ctr">
            <a:normAutofit/>
          </a:bodyPr>
          <a:lstStyle/>
          <a:p>
            <a:pPr marL="0" indent="0" algn="ctr">
              <a:buNone/>
            </a:pPr>
            <a:r>
              <a:rPr lang="en-US" sz="1300" b="1" dirty="0">
                <a:solidFill>
                  <a:srgbClr val="6DB33F"/>
                </a:solidFill>
              </a:rPr>
              <a:t>→</a:t>
            </a:r>
            <a:endParaRPr lang="en-US" sz="1300" dirty="0"/>
          </a:p>
        </p:txBody>
      </p:sp>
      <p:sp>
        <p:nvSpPr>
          <p:cNvPr id="22" name="Shape 20"/>
          <p:cNvSpPr/>
          <p:nvPr/>
        </p:nvSpPr>
        <p:spPr>
          <a:xfrm>
            <a:off x="3705497" y="1412748"/>
            <a:ext cx="1600200" cy="1115568"/>
          </a:xfrm>
          <a:prstGeom prst="rect">
            <a:avLst/>
          </a:prstGeom>
          <a:solidFill>
            <a:srgbClr val="1E3A2A"/>
          </a:solidFill>
          <a:ln w="12700">
            <a:solidFill>
              <a:srgbClr val="6DB33F"/>
            </a:solidFill>
            <a:prstDash val="solid"/>
          </a:ln>
        </p:spPr>
      </p:sp>
      <p:sp>
        <p:nvSpPr>
          <p:cNvPr id="23" name="Shape 21"/>
          <p:cNvSpPr/>
          <p:nvPr/>
        </p:nvSpPr>
        <p:spPr>
          <a:xfrm>
            <a:off x="4288536" y="1417320"/>
            <a:ext cx="438912" cy="438912"/>
          </a:xfrm>
          <a:prstGeom prst="ellipse">
            <a:avLst/>
          </a:prstGeom>
          <a:solidFill>
            <a:srgbClr val="6DB33F"/>
          </a:solidFill>
          <a:ln w="12700">
            <a:solidFill>
              <a:srgbClr val="6DB33F"/>
            </a:solidFill>
            <a:prstDash val="solid"/>
          </a:ln>
        </p:spPr>
      </p:sp>
      <p:sp>
        <p:nvSpPr>
          <p:cNvPr id="24" name="Text 22"/>
          <p:cNvSpPr/>
          <p:nvPr/>
        </p:nvSpPr>
        <p:spPr>
          <a:xfrm>
            <a:off x="4288536" y="1417320"/>
            <a:ext cx="438912" cy="438912"/>
          </a:xfrm>
          <a:prstGeom prst="rect">
            <a:avLst/>
          </a:prstGeom>
          <a:noFill/>
          <a:ln/>
        </p:spPr>
        <p:txBody>
          <a:bodyPr wrap="square" rtlCol="0" anchor="ctr">
            <a:normAutofit/>
          </a:bodyPr>
          <a:lstStyle/>
          <a:p>
            <a:pPr marL="0" indent="0" algn="ctr">
              <a:buNone/>
            </a:pPr>
            <a:r>
              <a:rPr lang="en-US" sz="1400" b="1" dirty="0">
                <a:solidFill>
                  <a:srgbClr val="FFFFFF"/>
                </a:solidFill>
              </a:rPr>
              <a:t>3</a:t>
            </a:r>
            <a:endParaRPr lang="en-US" sz="1400" dirty="0"/>
          </a:p>
        </p:txBody>
      </p:sp>
      <p:sp>
        <p:nvSpPr>
          <p:cNvPr id="25" name="Text 23"/>
          <p:cNvSpPr/>
          <p:nvPr/>
        </p:nvSpPr>
        <p:spPr>
          <a:xfrm>
            <a:off x="3776472" y="1901952"/>
            <a:ext cx="1481328" cy="256032"/>
          </a:xfrm>
          <a:prstGeom prst="rect">
            <a:avLst/>
          </a:prstGeom>
          <a:noFill/>
          <a:ln/>
        </p:spPr>
        <p:txBody>
          <a:bodyPr wrap="square" rtlCol="0" anchor="ctr">
            <a:normAutofit/>
          </a:bodyPr>
          <a:lstStyle/>
          <a:p>
            <a:pPr marL="0" indent="0" algn="ctr">
              <a:buNone/>
            </a:pPr>
            <a:r>
              <a:rPr lang="en-US" sz="900" b="1" dirty="0">
                <a:solidFill>
                  <a:srgbClr val="6DB33F"/>
                </a:solidFill>
              </a:rPr>
              <a:t>AI Goes Live</a:t>
            </a:r>
            <a:endParaRPr lang="en-US" sz="900" dirty="0"/>
          </a:p>
        </p:txBody>
      </p:sp>
      <p:sp>
        <p:nvSpPr>
          <p:cNvPr id="26" name="Text 24"/>
          <p:cNvSpPr/>
          <p:nvPr/>
        </p:nvSpPr>
        <p:spPr>
          <a:xfrm>
            <a:off x="3776472" y="2057400"/>
            <a:ext cx="1481328" cy="457200"/>
          </a:xfrm>
          <a:prstGeom prst="rect">
            <a:avLst/>
          </a:prstGeom>
          <a:noFill/>
          <a:ln/>
        </p:spPr>
        <p:txBody>
          <a:bodyPr wrap="square" rtlCol="0" anchor="t">
            <a:normAutofit fontScale="85000" lnSpcReduction="20000"/>
          </a:bodyPr>
          <a:lstStyle/>
          <a:p>
            <a:pPr marL="0" indent="0" algn="ctr">
              <a:buNone/>
            </a:pPr>
            <a:r>
              <a:rPr lang="en-US" sz="850" b="1" dirty="0">
                <a:solidFill>
                  <a:srgbClr val="FFFFFF"/>
                </a:solidFill>
              </a:rPr>
              <a:t>TinyML model trained on site data within 7 days. System starts predicting &amp; optimising motor speeds automatically.</a:t>
            </a:r>
            <a:endParaRPr lang="en-US" sz="850" b="1" dirty="0"/>
          </a:p>
        </p:txBody>
      </p:sp>
      <p:sp>
        <p:nvSpPr>
          <p:cNvPr id="27" name="Text 25"/>
          <p:cNvSpPr/>
          <p:nvPr/>
        </p:nvSpPr>
        <p:spPr>
          <a:xfrm>
            <a:off x="5312664" y="1600200"/>
            <a:ext cx="118872" cy="457200"/>
          </a:xfrm>
          <a:prstGeom prst="rect">
            <a:avLst/>
          </a:prstGeom>
          <a:noFill/>
          <a:ln/>
        </p:spPr>
        <p:txBody>
          <a:bodyPr wrap="square" rtlCol="0" anchor="ctr">
            <a:normAutofit/>
          </a:bodyPr>
          <a:lstStyle/>
          <a:p>
            <a:pPr marL="0" indent="0" algn="ctr">
              <a:buNone/>
            </a:pPr>
            <a:r>
              <a:rPr lang="en-US" sz="1300" b="1" dirty="0">
                <a:solidFill>
                  <a:srgbClr val="6DB33F"/>
                </a:solidFill>
              </a:rPr>
              <a:t>→</a:t>
            </a:r>
            <a:endParaRPr lang="en-US" sz="1300" dirty="0"/>
          </a:p>
        </p:txBody>
      </p:sp>
      <p:sp>
        <p:nvSpPr>
          <p:cNvPr id="28" name="Shape 26"/>
          <p:cNvSpPr/>
          <p:nvPr/>
        </p:nvSpPr>
        <p:spPr>
          <a:xfrm>
            <a:off x="5426964" y="1409119"/>
            <a:ext cx="1600200" cy="1115568"/>
          </a:xfrm>
          <a:prstGeom prst="rect">
            <a:avLst/>
          </a:prstGeom>
          <a:solidFill>
            <a:srgbClr val="1E3A2A"/>
          </a:solidFill>
          <a:ln w="12700">
            <a:solidFill>
              <a:srgbClr val="6DB33F"/>
            </a:solidFill>
            <a:prstDash val="solid"/>
          </a:ln>
        </p:spPr>
      </p:sp>
      <p:sp>
        <p:nvSpPr>
          <p:cNvPr id="29" name="Shape 27"/>
          <p:cNvSpPr/>
          <p:nvPr/>
        </p:nvSpPr>
        <p:spPr>
          <a:xfrm>
            <a:off x="6007608" y="1417320"/>
            <a:ext cx="438912" cy="438912"/>
          </a:xfrm>
          <a:prstGeom prst="ellipse">
            <a:avLst/>
          </a:prstGeom>
          <a:solidFill>
            <a:srgbClr val="6DB33F"/>
          </a:solidFill>
          <a:ln w="12700">
            <a:solidFill>
              <a:srgbClr val="6DB33F"/>
            </a:solidFill>
            <a:prstDash val="solid"/>
          </a:ln>
        </p:spPr>
      </p:sp>
      <p:sp>
        <p:nvSpPr>
          <p:cNvPr id="30" name="Text 28"/>
          <p:cNvSpPr/>
          <p:nvPr/>
        </p:nvSpPr>
        <p:spPr>
          <a:xfrm>
            <a:off x="6007608" y="1417320"/>
            <a:ext cx="438912" cy="438912"/>
          </a:xfrm>
          <a:prstGeom prst="rect">
            <a:avLst/>
          </a:prstGeom>
          <a:noFill/>
          <a:ln/>
        </p:spPr>
        <p:txBody>
          <a:bodyPr wrap="square" rtlCol="0" anchor="ctr">
            <a:normAutofit/>
          </a:bodyPr>
          <a:lstStyle/>
          <a:p>
            <a:pPr marL="0" indent="0" algn="ctr">
              <a:buNone/>
            </a:pPr>
            <a:r>
              <a:rPr lang="en-US" sz="1400" b="1" dirty="0">
                <a:solidFill>
                  <a:srgbClr val="FFFFFF"/>
                </a:solidFill>
              </a:rPr>
              <a:t>4</a:t>
            </a:r>
            <a:endParaRPr lang="en-US" sz="1400" dirty="0"/>
          </a:p>
        </p:txBody>
      </p:sp>
      <p:sp>
        <p:nvSpPr>
          <p:cNvPr id="31" name="Text 29"/>
          <p:cNvSpPr/>
          <p:nvPr/>
        </p:nvSpPr>
        <p:spPr>
          <a:xfrm>
            <a:off x="5495544" y="1901952"/>
            <a:ext cx="1481328" cy="256032"/>
          </a:xfrm>
          <a:prstGeom prst="rect">
            <a:avLst/>
          </a:prstGeom>
          <a:noFill/>
          <a:ln/>
        </p:spPr>
        <p:txBody>
          <a:bodyPr wrap="square" rtlCol="0" anchor="ctr">
            <a:normAutofit/>
          </a:bodyPr>
          <a:lstStyle/>
          <a:p>
            <a:pPr marL="0" indent="0" algn="ctr">
              <a:buNone/>
            </a:pPr>
            <a:r>
              <a:rPr lang="en-US" sz="900" b="1" dirty="0">
                <a:solidFill>
                  <a:srgbClr val="6DB33F"/>
                </a:solidFill>
              </a:rPr>
              <a:t>SaaS Dashboard Active</a:t>
            </a:r>
            <a:endParaRPr lang="en-US" sz="900" dirty="0"/>
          </a:p>
        </p:txBody>
      </p:sp>
      <p:sp>
        <p:nvSpPr>
          <p:cNvPr id="32" name="Text 30"/>
          <p:cNvSpPr/>
          <p:nvPr/>
        </p:nvSpPr>
        <p:spPr>
          <a:xfrm>
            <a:off x="5502511" y="2103120"/>
            <a:ext cx="1481328" cy="457200"/>
          </a:xfrm>
          <a:prstGeom prst="rect">
            <a:avLst/>
          </a:prstGeom>
          <a:noFill/>
          <a:ln/>
        </p:spPr>
        <p:txBody>
          <a:bodyPr wrap="square" rtlCol="0" anchor="t">
            <a:normAutofit fontScale="85000" lnSpcReduction="10000"/>
          </a:bodyPr>
          <a:lstStyle/>
          <a:p>
            <a:pPr marL="0" indent="0" algn="ctr">
              <a:buNone/>
            </a:pPr>
            <a:r>
              <a:rPr lang="en-US" sz="850" b="1" dirty="0">
                <a:solidFill>
                  <a:srgbClr val="FFFFFF"/>
                </a:solidFill>
              </a:rPr>
              <a:t>Factory manager gets real-time kWh, ₹ savings, CO₂ and alerts on mobile app &amp; browser dashboard.</a:t>
            </a:r>
            <a:endParaRPr lang="en-US" sz="850" b="1" dirty="0"/>
          </a:p>
        </p:txBody>
      </p:sp>
      <p:sp>
        <p:nvSpPr>
          <p:cNvPr id="33" name="Text 31"/>
          <p:cNvSpPr/>
          <p:nvPr/>
        </p:nvSpPr>
        <p:spPr>
          <a:xfrm>
            <a:off x="7031736" y="1600200"/>
            <a:ext cx="118872" cy="457200"/>
          </a:xfrm>
          <a:prstGeom prst="rect">
            <a:avLst/>
          </a:prstGeom>
          <a:noFill/>
          <a:ln/>
        </p:spPr>
        <p:txBody>
          <a:bodyPr wrap="square" rtlCol="0" anchor="ctr">
            <a:normAutofit/>
          </a:bodyPr>
          <a:lstStyle/>
          <a:p>
            <a:pPr marL="0" indent="0" algn="ctr">
              <a:buNone/>
            </a:pPr>
            <a:r>
              <a:rPr lang="en-US" sz="1300" b="1" dirty="0">
                <a:solidFill>
                  <a:srgbClr val="6DB33F"/>
                </a:solidFill>
              </a:rPr>
              <a:t>→</a:t>
            </a:r>
            <a:endParaRPr lang="en-US" sz="1300" dirty="0"/>
          </a:p>
        </p:txBody>
      </p:sp>
      <p:sp>
        <p:nvSpPr>
          <p:cNvPr id="34" name="Shape 32"/>
          <p:cNvSpPr/>
          <p:nvPr/>
        </p:nvSpPr>
        <p:spPr>
          <a:xfrm>
            <a:off x="7146036" y="1407160"/>
            <a:ext cx="1600200" cy="1115568"/>
          </a:xfrm>
          <a:prstGeom prst="rect">
            <a:avLst/>
          </a:prstGeom>
          <a:solidFill>
            <a:srgbClr val="1E3A2A"/>
          </a:solidFill>
          <a:ln w="12700">
            <a:solidFill>
              <a:srgbClr val="6DB33F"/>
            </a:solidFill>
            <a:prstDash val="solid"/>
          </a:ln>
        </p:spPr>
      </p:sp>
      <p:sp>
        <p:nvSpPr>
          <p:cNvPr id="35" name="Shape 33"/>
          <p:cNvSpPr/>
          <p:nvPr/>
        </p:nvSpPr>
        <p:spPr>
          <a:xfrm>
            <a:off x="7735824" y="1440180"/>
            <a:ext cx="438912" cy="438912"/>
          </a:xfrm>
          <a:prstGeom prst="ellipse">
            <a:avLst/>
          </a:prstGeom>
          <a:solidFill>
            <a:srgbClr val="6DB33F"/>
          </a:solidFill>
          <a:ln w="12700">
            <a:solidFill>
              <a:srgbClr val="6DB33F"/>
            </a:solidFill>
            <a:prstDash val="solid"/>
          </a:ln>
        </p:spPr>
      </p:sp>
      <p:sp>
        <p:nvSpPr>
          <p:cNvPr id="36" name="Text 34"/>
          <p:cNvSpPr/>
          <p:nvPr/>
        </p:nvSpPr>
        <p:spPr>
          <a:xfrm>
            <a:off x="7726680" y="1417320"/>
            <a:ext cx="438912" cy="438912"/>
          </a:xfrm>
          <a:prstGeom prst="rect">
            <a:avLst/>
          </a:prstGeom>
          <a:noFill/>
          <a:ln/>
        </p:spPr>
        <p:txBody>
          <a:bodyPr wrap="square" rtlCol="0" anchor="ctr">
            <a:normAutofit/>
          </a:bodyPr>
          <a:lstStyle/>
          <a:p>
            <a:pPr marL="0" indent="0" algn="ctr">
              <a:buNone/>
            </a:pPr>
            <a:r>
              <a:rPr lang="en-US" sz="1400" b="1" dirty="0">
                <a:solidFill>
                  <a:srgbClr val="FFFFFF"/>
                </a:solidFill>
              </a:rPr>
              <a:t>5</a:t>
            </a:r>
            <a:endParaRPr lang="en-US" sz="1400" dirty="0"/>
          </a:p>
        </p:txBody>
      </p:sp>
      <p:sp>
        <p:nvSpPr>
          <p:cNvPr id="37" name="Text 35"/>
          <p:cNvSpPr/>
          <p:nvPr/>
        </p:nvSpPr>
        <p:spPr>
          <a:xfrm>
            <a:off x="7214616" y="1901952"/>
            <a:ext cx="1481328" cy="256032"/>
          </a:xfrm>
          <a:prstGeom prst="rect">
            <a:avLst/>
          </a:prstGeom>
          <a:noFill/>
          <a:ln/>
        </p:spPr>
        <p:txBody>
          <a:bodyPr wrap="square" rtlCol="0" anchor="ctr">
            <a:normAutofit/>
          </a:bodyPr>
          <a:lstStyle/>
          <a:p>
            <a:pPr marL="0" indent="0" algn="ctr">
              <a:buNone/>
            </a:pPr>
            <a:r>
              <a:rPr lang="en-US" sz="900" b="1" dirty="0">
                <a:solidFill>
                  <a:srgbClr val="6DB33F"/>
                </a:solidFill>
              </a:rPr>
              <a:t>Monthly Reports &amp; Scale</a:t>
            </a:r>
            <a:endParaRPr lang="en-US" sz="900" dirty="0"/>
          </a:p>
        </p:txBody>
      </p:sp>
      <p:sp>
        <p:nvSpPr>
          <p:cNvPr id="38" name="Text 36"/>
          <p:cNvSpPr/>
          <p:nvPr/>
        </p:nvSpPr>
        <p:spPr>
          <a:xfrm>
            <a:off x="7214616" y="2013966"/>
            <a:ext cx="1481328" cy="457200"/>
          </a:xfrm>
          <a:prstGeom prst="rect">
            <a:avLst/>
          </a:prstGeom>
          <a:noFill/>
          <a:ln/>
        </p:spPr>
        <p:txBody>
          <a:bodyPr wrap="square" rtlCol="0" anchor="t">
            <a:normAutofit fontScale="92500"/>
          </a:bodyPr>
          <a:lstStyle/>
          <a:p>
            <a:pPr marL="0" indent="0" algn="ctr">
              <a:buNone/>
            </a:pPr>
            <a:r>
              <a:rPr lang="en-US" sz="850" b="1" dirty="0">
                <a:solidFill>
                  <a:srgbClr val="FFFFFF"/>
                </a:solidFill>
              </a:rPr>
              <a:t>Automated PDF reports sent. ROI verified. Factory signs multi-site expansion contract</a:t>
            </a:r>
            <a:r>
              <a:rPr lang="en-US" sz="850" dirty="0">
                <a:solidFill>
                  <a:srgbClr val="FFFFFF"/>
                </a:solidFill>
              </a:rPr>
              <a:t>.</a:t>
            </a:r>
            <a:endParaRPr lang="en-US" sz="850" dirty="0"/>
          </a:p>
        </p:txBody>
      </p:sp>
      <p:sp>
        <p:nvSpPr>
          <p:cNvPr id="39" name="Shape 37"/>
          <p:cNvSpPr/>
          <p:nvPr/>
        </p:nvSpPr>
        <p:spPr>
          <a:xfrm>
            <a:off x="274320" y="2624328"/>
            <a:ext cx="4160520" cy="292608"/>
          </a:xfrm>
          <a:prstGeom prst="rect">
            <a:avLst/>
          </a:prstGeom>
          <a:solidFill>
            <a:srgbClr val="2C5F2D"/>
          </a:solidFill>
          <a:ln w="12700">
            <a:solidFill>
              <a:srgbClr val="2C5F2D"/>
            </a:solidFill>
            <a:prstDash val="solid"/>
          </a:ln>
        </p:spPr>
      </p:sp>
      <p:sp>
        <p:nvSpPr>
          <p:cNvPr id="40" name="Text 38"/>
          <p:cNvSpPr/>
          <p:nvPr/>
        </p:nvSpPr>
        <p:spPr>
          <a:xfrm>
            <a:off x="274320" y="2624328"/>
            <a:ext cx="4160520" cy="292608"/>
          </a:xfrm>
          <a:prstGeom prst="rect">
            <a:avLst/>
          </a:prstGeom>
          <a:noFill/>
          <a:ln/>
        </p:spPr>
        <p:txBody>
          <a:bodyPr wrap="square" rtlCol="0" anchor="ctr">
            <a:normAutofit/>
          </a:bodyPr>
          <a:lstStyle/>
          <a:p>
            <a:pPr marL="0" indent="0" algn="ctr">
              <a:buNone/>
            </a:pPr>
            <a:r>
              <a:rPr lang="en-US" sz="1100" b="1" dirty="0">
                <a:solidFill>
                  <a:srgbClr val="FFFFFF"/>
                </a:solidFill>
              </a:rPr>
              <a:t>TARGET CUSTOMERS</a:t>
            </a:r>
            <a:endParaRPr lang="en-US" sz="1100" dirty="0"/>
          </a:p>
        </p:txBody>
      </p:sp>
      <p:sp>
        <p:nvSpPr>
          <p:cNvPr id="41" name="Shape 39"/>
          <p:cNvSpPr/>
          <p:nvPr/>
        </p:nvSpPr>
        <p:spPr>
          <a:xfrm>
            <a:off x="274320" y="2990088"/>
            <a:ext cx="4160520" cy="502920"/>
          </a:xfrm>
          <a:prstGeom prst="rect">
            <a:avLst/>
          </a:prstGeom>
          <a:solidFill>
            <a:srgbClr val="152B1E"/>
          </a:solidFill>
          <a:ln w="6350">
            <a:solidFill>
              <a:srgbClr val="2D5040"/>
            </a:solidFill>
            <a:prstDash val="solid"/>
          </a:ln>
        </p:spPr>
      </p:sp>
      <p:sp>
        <p:nvSpPr>
          <p:cNvPr id="42" name="Shape 40"/>
          <p:cNvSpPr/>
          <p:nvPr/>
        </p:nvSpPr>
        <p:spPr>
          <a:xfrm>
            <a:off x="274320" y="2990088"/>
            <a:ext cx="54864" cy="502920"/>
          </a:xfrm>
          <a:prstGeom prst="rect">
            <a:avLst/>
          </a:prstGeom>
          <a:solidFill>
            <a:srgbClr val="6DB33F"/>
          </a:solidFill>
          <a:ln w="12700">
            <a:solidFill>
              <a:srgbClr val="6DB33F"/>
            </a:solidFill>
            <a:prstDash val="solid"/>
          </a:ln>
        </p:spPr>
      </p:sp>
      <p:sp>
        <p:nvSpPr>
          <p:cNvPr id="43" name="Text 41"/>
          <p:cNvSpPr/>
          <p:nvPr/>
        </p:nvSpPr>
        <p:spPr>
          <a:xfrm>
            <a:off x="402336" y="3026664"/>
            <a:ext cx="3931920" cy="201168"/>
          </a:xfrm>
          <a:prstGeom prst="rect">
            <a:avLst/>
          </a:prstGeom>
          <a:noFill/>
          <a:ln/>
        </p:spPr>
        <p:txBody>
          <a:bodyPr wrap="square" rtlCol="0" anchor="ctr">
            <a:normAutofit fontScale="77500" lnSpcReduction="20000"/>
          </a:bodyPr>
          <a:lstStyle/>
          <a:p>
            <a:pPr marL="0" indent="0">
              <a:buNone/>
            </a:pPr>
            <a:r>
              <a:rPr lang="en-US" sz="1000" b="1" dirty="0">
                <a:solidFill>
                  <a:srgbClr val="6DB33F"/>
                </a:solidFill>
              </a:rPr>
              <a:t>Tier 1 — Large Industry</a:t>
            </a:r>
            <a:endParaRPr lang="en-US" sz="1000" dirty="0"/>
          </a:p>
        </p:txBody>
      </p:sp>
      <p:sp>
        <p:nvSpPr>
          <p:cNvPr id="44" name="Text 42"/>
          <p:cNvSpPr/>
          <p:nvPr/>
        </p:nvSpPr>
        <p:spPr>
          <a:xfrm>
            <a:off x="416052" y="3154680"/>
            <a:ext cx="3931920" cy="219456"/>
          </a:xfrm>
          <a:prstGeom prst="rect">
            <a:avLst/>
          </a:prstGeom>
          <a:noFill/>
          <a:ln/>
        </p:spPr>
        <p:txBody>
          <a:bodyPr wrap="square" rtlCol="0" anchor="t">
            <a:normAutofit fontScale="92500"/>
          </a:bodyPr>
          <a:lstStyle/>
          <a:p>
            <a:pPr marL="0" indent="0">
              <a:buNone/>
            </a:pPr>
            <a:r>
              <a:rPr lang="en-US" sz="900" dirty="0">
                <a:solidFill>
                  <a:srgbClr val="FFFFFF"/>
                </a:solidFill>
              </a:rPr>
              <a:t>Cement, Steel, Textile factories with 100+ motors. Contract value ₹50L–2Cr per site.</a:t>
            </a:r>
            <a:endParaRPr lang="en-US" sz="900" dirty="0"/>
          </a:p>
        </p:txBody>
      </p:sp>
      <p:sp>
        <p:nvSpPr>
          <p:cNvPr id="45" name="Shape 43"/>
          <p:cNvSpPr/>
          <p:nvPr/>
        </p:nvSpPr>
        <p:spPr>
          <a:xfrm>
            <a:off x="274320" y="3529584"/>
            <a:ext cx="4160520" cy="502920"/>
          </a:xfrm>
          <a:prstGeom prst="rect">
            <a:avLst/>
          </a:prstGeom>
          <a:solidFill>
            <a:srgbClr val="152B1E"/>
          </a:solidFill>
          <a:ln w="6350">
            <a:solidFill>
              <a:srgbClr val="2D5040"/>
            </a:solidFill>
            <a:prstDash val="solid"/>
          </a:ln>
        </p:spPr>
      </p:sp>
      <p:sp>
        <p:nvSpPr>
          <p:cNvPr id="46" name="Shape 44"/>
          <p:cNvSpPr/>
          <p:nvPr/>
        </p:nvSpPr>
        <p:spPr>
          <a:xfrm>
            <a:off x="274320" y="3557016"/>
            <a:ext cx="54864" cy="502920"/>
          </a:xfrm>
          <a:prstGeom prst="rect">
            <a:avLst/>
          </a:prstGeom>
          <a:solidFill>
            <a:srgbClr val="6DB33F"/>
          </a:solidFill>
          <a:ln w="12700">
            <a:solidFill>
              <a:srgbClr val="6DB33F"/>
            </a:solidFill>
            <a:prstDash val="solid"/>
          </a:ln>
        </p:spPr>
      </p:sp>
      <p:sp>
        <p:nvSpPr>
          <p:cNvPr id="47" name="Text 45"/>
          <p:cNvSpPr/>
          <p:nvPr/>
        </p:nvSpPr>
        <p:spPr>
          <a:xfrm>
            <a:off x="402336" y="3593592"/>
            <a:ext cx="3931920" cy="201168"/>
          </a:xfrm>
          <a:prstGeom prst="rect">
            <a:avLst/>
          </a:prstGeom>
          <a:noFill/>
          <a:ln/>
        </p:spPr>
        <p:txBody>
          <a:bodyPr wrap="square" rtlCol="0" anchor="ctr">
            <a:normAutofit fontScale="77500" lnSpcReduction="20000"/>
          </a:bodyPr>
          <a:lstStyle/>
          <a:p>
            <a:pPr marL="0" indent="0">
              <a:buNone/>
            </a:pPr>
            <a:r>
              <a:rPr lang="en-US" sz="1000" b="1" dirty="0">
                <a:solidFill>
                  <a:srgbClr val="6DB33F"/>
                </a:solidFill>
              </a:rPr>
              <a:t>Tier 2 — SME Factories</a:t>
            </a:r>
            <a:endParaRPr lang="en-US" sz="1000" dirty="0"/>
          </a:p>
        </p:txBody>
      </p:sp>
      <p:sp>
        <p:nvSpPr>
          <p:cNvPr id="48" name="Text 46"/>
          <p:cNvSpPr/>
          <p:nvPr/>
        </p:nvSpPr>
        <p:spPr>
          <a:xfrm>
            <a:off x="402336" y="3794760"/>
            <a:ext cx="3931920" cy="219456"/>
          </a:xfrm>
          <a:prstGeom prst="rect">
            <a:avLst/>
          </a:prstGeom>
          <a:noFill/>
          <a:ln/>
        </p:spPr>
        <p:txBody>
          <a:bodyPr wrap="square" rtlCol="0" anchor="t">
            <a:noAutofit/>
          </a:bodyPr>
          <a:lstStyle/>
          <a:p>
            <a:pPr marL="0" indent="0">
              <a:buNone/>
            </a:pPr>
            <a:r>
              <a:rPr lang="en-US" sz="800" dirty="0">
                <a:solidFill>
                  <a:srgbClr val="FFFFFF"/>
                </a:solidFill>
              </a:rPr>
              <a:t>MSME units with 10–50 motors. Affordable kit @ ₹25K/motor. 50,000+ addressable units in India.</a:t>
            </a:r>
            <a:endParaRPr lang="en-US" sz="800" dirty="0"/>
          </a:p>
        </p:txBody>
      </p:sp>
      <p:sp>
        <p:nvSpPr>
          <p:cNvPr id="49" name="Shape 47"/>
          <p:cNvSpPr/>
          <p:nvPr/>
        </p:nvSpPr>
        <p:spPr>
          <a:xfrm>
            <a:off x="274320" y="4123944"/>
            <a:ext cx="4160520" cy="502920"/>
          </a:xfrm>
          <a:prstGeom prst="rect">
            <a:avLst/>
          </a:prstGeom>
          <a:solidFill>
            <a:srgbClr val="152B1E"/>
          </a:solidFill>
          <a:ln w="6350">
            <a:solidFill>
              <a:srgbClr val="2D5040"/>
            </a:solidFill>
            <a:prstDash val="solid"/>
          </a:ln>
        </p:spPr>
      </p:sp>
      <p:sp>
        <p:nvSpPr>
          <p:cNvPr id="50" name="Shape 48"/>
          <p:cNvSpPr/>
          <p:nvPr/>
        </p:nvSpPr>
        <p:spPr>
          <a:xfrm>
            <a:off x="274320" y="4123944"/>
            <a:ext cx="54864" cy="502920"/>
          </a:xfrm>
          <a:prstGeom prst="rect">
            <a:avLst/>
          </a:prstGeom>
          <a:solidFill>
            <a:srgbClr val="6DB33F"/>
          </a:solidFill>
          <a:ln w="12700">
            <a:solidFill>
              <a:srgbClr val="6DB33F"/>
            </a:solidFill>
            <a:prstDash val="solid"/>
          </a:ln>
        </p:spPr>
      </p:sp>
      <p:sp>
        <p:nvSpPr>
          <p:cNvPr id="51" name="Text 49"/>
          <p:cNvSpPr/>
          <p:nvPr/>
        </p:nvSpPr>
        <p:spPr>
          <a:xfrm>
            <a:off x="402336" y="4160520"/>
            <a:ext cx="3931920" cy="201168"/>
          </a:xfrm>
          <a:prstGeom prst="rect">
            <a:avLst/>
          </a:prstGeom>
          <a:noFill/>
          <a:ln/>
        </p:spPr>
        <p:txBody>
          <a:bodyPr wrap="square" rtlCol="0" anchor="ctr">
            <a:normAutofit fontScale="77500" lnSpcReduction="20000"/>
          </a:bodyPr>
          <a:lstStyle/>
          <a:p>
            <a:pPr marL="0" indent="0">
              <a:buNone/>
            </a:pPr>
            <a:r>
              <a:rPr lang="en-US" sz="1000" b="1" dirty="0">
                <a:solidFill>
                  <a:srgbClr val="6DB33F"/>
                </a:solidFill>
              </a:rPr>
              <a:t>Tier 3 — Government &amp; PSUs</a:t>
            </a:r>
            <a:endParaRPr lang="en-US" sz="1000" dirty="0"/>
          </a:p>
        </p:txBody>
      </p:sp>
      <p:sp>
        <p:nvSpPr>
          <p:cNvPr id="52" name="Text 50"/>
          <p:cNvSpPr/>
          <p:nvPr/>
        </p:nvSpPr>
        <p:spPr>
          <a:xfrm>
            <a:off x="402336" y="4297680"/>
            <a:ext cx="3931920" cy="420624"/>
          </a:xfrm>
          <a:prstGeom prst="rect">
            <a:avLst/>
          </a:prstGeom>
          <a:noFill/>
          <a:ln/>
        </p:spPr>
        <p:txBody>
          <a:bodyPr wrap="square" rtlCol="0" anchor="t">
            <a:normAutofit/>
          </a:bodyPr>
          <a:lstStyle/>
          <a:p>
            <a:pPr marL="0" indent="0">
              <a:buNone/>
            </a:pPr>
            <a:r>
              <a:rPr lang="en-US" sz="900" dirty="0">
                <a:solidFill>
                  <a:srgbClr val="FFFFFF"/>
                </a:solidFill>
              </a:rPr>
              <a:t>DISCOMS, Water Boards, Railways pump stations. Govt. energy efficiency mandates drive adoption.</a:t>
            </a:r>
            <a:endParaRPr lang="en-US" sz="900" dirty="0"/>
          </a:p>
        </p:txBody>
      </p:sp>
      <p:sp>
        <p:nvSpPr>
          <p:cNvPr id="53" name="Shape 51"/>
          <p:cNvSpPr/>
          <p:nvPr/>
        </p:nvSpPr>
        <p:spPr>
          <a:xfrm>
            <a:off x="4727448" y="2660904"/>
            <a:ext cx="4160520" cy="292608"/>
          </a:xfrm>
          <a:prstGeom prst="rect">
            <a:avLst/>
          </a:prstGeom>
          <a:solidFill>
            <a:srgbClr val="6DB33F"/>
          </a:solidFill>
          <a:ln w="12700">
            <a:solidFill>
              <a:srgbClr val="6DB33F"/>
            </a:solidFill>
            <a:prstDash val="solid"/>
          </a:ln>
        </p:spPr>
      </p:sp>
      <p:sp>
        <p:nvSpPr>
          <p:cNvPr id="54" name="Text 52"/>
          <p:cNvSpPr/>
          <p:nvPr/>
        </p:nvSpPr>
        <p:spPr>
          <a:xfrm>
            <a:off x="4709160" y="2624328"/>
            <a:ext cx="4160520" cy="292608"/>
          </a:xfrm>
          <a:prstGeom prst="rect">
            <a:avLst/>
          </a:prstGeom>
          <a:noFill/>
          <a:ln/>
        </p:spPr>
        <p:txBody>
          <a:bodyPr wrap="square" rtlCol="0" anchor="ctr">
            <a:normAutofit/>
          </a:bodyPr>
          <a:lstStyle/>
          <a:p>
            <a:pPr marL="0" indent="0" algn="ctr">
              <a:buNone/>
            </a:pPr>
            <a:r>
              <a:rPr lang="en-US" sz="1100" b="1" dirty="0">
                <a:solidFill>
                  <a:srgbClr val="FFFFFF"/>
                </a:solidFill>
              </a:rPr>
              <a:t>REVENUE STREAMS</a:t>
            </a:r>
            <a:endParaRPr lang="en-US" sz="1100" dirty="0"/>
          </a:p>
        </p:txBody>
      </p:sp>
      <p:sp>
        <p:nvSpPr>
          <p:cNvPr id="55" name="Shape 53"/>
          <p:cNvSpPr/>
          <p:nvPr/>
        </p:nvSpPr>
        <p:spPr>
          <a:xfrm>
            <a:off x="4709160" y="2990088"/>
            <a:ext cx="4160520" cy="502920"/>
          </a:xfrm>
          <a:prstGeom prst="rect">
            <a:avLst/>
          </a:prstGeom>
          <a:solidFill>
            <a:srgbClr val="1E3A2A"/>
          </a:solidFill>
          <a:ln w="10160">
            <a:solidFill>
              <a:srgbClr val="6DB33F"/>
            </a:solidFill>
            <a:prstDash val="solid"/>
          </a:ln>
        </p:spPr>
      </p:sp>
      <p:sp>
        <p:nvSpPr>
          <p:cNvPr id="56" name="Shape 54"/>
          <p:cNvSpPr/>
          <p:nvPr/>
        </p:nvSpPr>
        <p:spPr>
          <a:xfrm>
            <a:off x="4818888" y="3118104"/>
            <a:ext cx="237744" cy="237744"/>
          </a:xfrm>
          <a:prstGeom prst="ellipse">
            <a:avLst/>
          </a:prstGeom>
          <a:solidFill>
            <a:srgbClr val="6DB33F"/>
          </a:solidFill>
          <a:ln w="12700">
            <a:solidFill>
              <a:srgbClr val="6DB33F"/>
            </a:solidFill>
            <a:prstDash val="solid"/>
          </a:ln>
        </p:spPr>
      </p:sp>
      <p:sp>
        <p:nvSpPr>
          <p:cNvPr id="57" name="Text 55"/>
          <p:cNvSpPr/>
          <p:nvPr/>
        </p:nvSpPr>
        <p:spPr>
          <a:xfrm>
            <a:off x="5120640" y="3026664"/>
            <a:ext cx="3657600" cy="201168"/>
          </a:xfrm>
          <a:prstGeom prst="rect">
            <a:avLst/>
          </a:prstGeom>
          <a:noFill/>
          <a:ln/>
        </p:spPr>
        <p:txBody>
          <a:bodyPr wrap="square" rtlCol="0" anchor="ctr">
            <a:normAutofit fontScale="77500" lnSpcReduction="20000"/>
          </a:bodyPr>
          <a:lstStyle/>
          <a:p>
            <a:pPr marL="0" indent="0">
              <a:buNone/>
            </a:pPr>
            <a:r>
              <a:rPr lang="en-US" sz="1000" b="1" dirty="0">
                <a:solidFill>
                  <a:srgbClr val="6DB33F"/>
                </a:solidFill>
              </a:rPr>
              <a:t>Hardware Kit Sales</a:t>
            </a:r>
            <a:endParaRPr lang="en-US" sz="1000" dirty="0"/>
          </a:p>
        </p:txBody>
      </p:sp>
      <p:sp>
        <p:nvSpPr>
          <p:cNvPr id="58" name="Text 56"/>
          <p:cNvSpPr/>
          <p:nvPr/>
        </p:nvSpPr>
        <p:spPr>
          <a:xfrm>
            <a:off x="5120640" y="3227832"/>
            <a:ext cx="3657600" cy="219456"/>
          </a:xfrm>
          <a:prstGeom prst="rect">
            <a:avLst/>
          </a:prstGeom>
          <a:noFill/>
          <a:ln/>
        </p:spPr>
        <p:txBody>
          <a:bodyPr wrap="square" rtlCol="0" anchor="t">
            <a:normAutofit lnSpcReduction="10000"/>
          </a:bodyPr>
          <a:lstStyle/>
          <a:p>
            <a:pPr marL="0" indent="0">
              <a:buNone/>
            </a:pPr>
            <a:r>
              <a:rPr lang="en-US" sz="900" dirty="0">
                <a:solidFill>
                  <a:srgbClr val="FFFFFF"/>
                </a:solidFill>
              </a:rPr>
              <a:t>₹25,000/motor kit. Target 1,000 units/yr = ₹2.5 Cr.</a:t>
            </a:r>
            <a:endParaRPr lang="en-US" sz="900" dirty="0"/>
          </a:p>
        </p:txBody>
      </p:sp>
      <p:sp>
        <p:nvSpPr>
          <p:cNvPr id="59" name="Shape 57"/>
          <p:cNvSpPr/>
          <p:nvPr/>
        </p:nvSpPr>
        <p:spPr>
          <a:xfrm>
            <a:off x="4709160" y="3557016"/>
            <a:ext cx="4160520" cy="502920"/>
          </a:xfrm>
          <a:prstGeom prst="rect">
            <a:avLst/>
          </a:prstGeom>
          <a:solidFill>
            <a:srgbClr val="1E3A2A"/>
          </a:solidFill>
          <a:ln w="10160">
            <a:solidFill>
              <a:srgbClr val="6DB33F"/>
            </a:solidFill>
            <a:prstDash val="solid"/>
          </a:ln>
        </p:spPr>
      </p:sp>
      <p:sp>
        <p:nvSpPr>
          <p:cNvPr id="60" name="Shape 58"/>
          <p:cNvSpPr/>
          <p:nvPr/>
        </p:nvSpPr>
        <p:spPr>
          <a:xfrm>
            <a:off x="4818888" y="3685032"/>
            <a:ext cx="237744" cy="237744"/>
          </a:xfrm>
          <a:prstGeom prst="ellipse">
            <a:avLst/>
          </a:prstGeom>
          <a:solidFill>
            <a:srgbClr val="6DB33F"/>
          </a:solidFill>
          <a:ln w="12700">
            <a:solidFill>
              <a:srgbClr val="6DB33F"/>
            </a:solidFill>
            <a:prstDash val="solid"/>
          </a:ln>
        </p:spPr>
      </p:sp>
      <p:sp>
        <p:nvSpPr>
          <p:cNvPr id="61" name="Text 59"/>
          <p:cNvSpPr/>
          <p:nvPr/>
        </p:nvSpPr>
        <p:spPr>
          <a:xfrm>
            <a:off x="5120640" y="3593592"/>
            <a:ext cx="3657600" cy="201168"/>
          </a:xfrm>
          <a:prstGeom prst="rect">
            <a:avLst/>
          </a:prstGeom>
          <a:noFill/>
          <a:ln/>
        </p:spPr>
        <p:txBody>
          <a:bodyPr wrap="square" rtlCol="0" anchor="ctr">
            <a:normAutofit fontScale="77500" lnSpcReduction="20000"/>
          </a:bodyPr>
          <a:lstStyle/>
          <a:p>
            <a:pPr marL="0" indent="0">
              <a:buNone/>
            </a:pPr>
            <a:r>
              <a:rPr lang="en-US" sz="1000" b="1" dirty="0">
                <a:solidFill>
                  <a:srgbClr val="6DB33F"/>
                </a:solidFill>
              </a:rPr>
              <a:t>SaaS Dashboard Subscription</a:t>
            </a:r>
            <a:endParaRPr lang="en-US" sz="1000" dirty="0"/>
          </a:p>
        </p:txBody>
      </p:sp>
      <p:sp>
        <p:nvSpPr>
          <p:cNvPr id="62" name="Text 60"/>
          <p:cNvSpPr/>
          <p:nvPr/>
        </p:nvSpPr>
        <p:spPr>
          <a:xfrm>
            <a:off x="5120640" y="3794760"/>
            <a:ext cx="3657600" cy="219456"/>
          </a:xfrm>
          <a:prstGeom prst="rect">
            <a:avLst/>
          </a:prstGeom>
          <a:noFill/>
          <a:ln/>
        </p:spPr>
        <p:txBody>
          <a:bodyPr wrap="square" rtlCol="0" anchor="t">
            <a:normAutofit lnSpcReduction="10000"/>
          </a:bodyPr>
          <a:lstStyle/>
          <a:p>
            <a:pPr marL="0" indent="0">
              <a:buNone/>
            </a:pPr>
            <a:r>
              <a:rPr lang="en-US" sz="900" dirty="0">
                <a:solidFill>
                  <a:srgbClr val="FFFFFF"/>
                </a:solidFill>
              </a:rPr>
              <a:t>₹2,000/motor/month. 500 motors = ₹1 Cr/month ARR.</a:t>
            </a:r>
            <a:endParaRPr lang="en-US" sz="900" dirty="0"/>
          </a:p>
        </p:txBody>
      </p:sp>
      <p:sp>
        <p:nvSpPr>
          <p:cNvPr id="63" name="Shape 61"/>
          <p:cNvSpPr/>
          <p:nvPr/>
        </p:nvSpPr>
        <p:spPr>
          <a:xfrm>
            <a:off x="4709160" y="4123944"/>
            <a:ext cx="4160520" cy="502920"/>
          </a:xfrm>
          <a:prstGeom prst="rect">
            <a:avLst/>
          </a:prstGeom>
          <a:solidFill>
            <a:srgbClr val="1E3A2A"/>
          </a:solidFill>
          <a:ln w="10160">
            <a:solidFill>
              <a:srgbClr val="6DB33F"/>
            </a:solidFill>
            <a:prstDash val="solid"/>
          </a:ln>
        </p:spPr>
      </p:sp>
      <p:sp>
        <p:nvSpPr>
          <p:cNvPr id="64" name="Shape 62"/>
          <p:cNvSpPr/>
          <p:nvPr/>
        </p:nvSpPr>
        <p:spPr>
          <a:xfrm>
            <a:off x="4818888" y="4251960"/>
            <a:ext cx="237744" cy="237744"/>
          </a:xfrm>
          <a:prstGeom prst="ellipse">
            <a:avLst/>
          </a:prstGeom>
          <a:solidFill>
            <a:srgbClr val="6DB33F"/>
          </a:solidFill>
          <a:ln w="12700">
            <a:solidFill>
              <a:srgbClr val="6DB33F"/>
            </a:solidFill>
            <a:prstDash val="solid"/>
          </a:ln>
        </p:spPr>
      </p:sp>
      <p:sp>
        <p:nvSpPr>
          <p:cNvPr id="65" name="Text 63"/>
          <p:cNvSpPr/>
          <p:nvPr/>
        </p:nvSpPr>
        <p:spPr>
          <a:xfrm>
            <a:off x="5120640" y="4160520"/>
            <a:ext cx="3657600" cy="201168"/>
          </a:xfrm>
          <a:prstGeom prst="rect">
            <a:avLst/>
          </a:prstGeom>
          <a:noFill/>
          <a:ln/>
        </p:spPr>
        <p:txBody>
          <a:bodyPr wrap="square" rtlCol="0" anchor="ctr">
            <a:normAutofit fontScale="77500" lnSpcReduction="20000"/>
          </a:bodyPr>
          <a:lstStyle/>
          <a:p>
            <a:pPr marL="0" indent="0">
              <a:buNone/>
            </a:pPr>
            <a:r>
              <a:rPr lang="en-US" sz="1000" b="1" dirty="0">
                <a:solidFill>
                  <a:srgbClr val="6DB33F"/>
                </a:solidFill>
              </a:rPr>
              <a:t>Energy Audit Consulting</a:t>
            </a:r>
            <a:endParaRPr lang="en-US" sz="1000" dirty="0"/>
          </a:p>
        </p:txBody>
      </p:sp>
      <p:sp>
        <p:nvSpPr>
          <p:cNvPr id="66" name="Text 64"/>
          <p:cNvSpPr/>
          <p:nvPr/>
        </p:nvSpPr>
        <p:spPr>
          <a:xfrm>
            <a:off x="5120640" y="4361688"/>
            <a:ext cx="3657600" cy="219456"/>
          </a:xfrm>
          <a:prstGeom prst="rect">
            <a:avLst/>
          </a:prstGeom>
          <a:noFill/>
          <a:ln/>
        </p:spPr>
        <p:txBody>
          <a:bodyPr wrap="square" rtlCol="0" anchor="t">
            <a:normAutofit lnSpcReduction="10000"/>
          </a:bodyPr>
          <a:lstStyle/>
          <a:p>
            <a:pPr marL="0" indent="0">
              <a:buNone/>
            </a:pPr>
            <a:r>
              <a:rPr lang="en-US" sz="900" dirty="0">
                <a:solidFill>
                  <a:srgbClr val="FFFFFF"/>
                </a:solidFill>
              </a:rPr>
              <a:t>₹1–2 L/factory audit. 5,000 factories addressable.</a:t>
            </a:r>
            <a:endParaRPr lang="en-US" sz="900" dirty="0"/>
          </a:p>
        </p:txBody>
      </p:sp>
      <p:sp>
        <p:nvSpPr>
          <p:cNvPr id="67" name="Shape 65"/>
          <p:cNvSpPr/>
          <p:nvPr/>
        </p:nvSpPr>
        <p:spPr>
          <a:xfrm>
            <a:off x="274320" y="4700016"/>
            <a:ext cx="8595360" cy="457200"/>
          </a:xfrm>
          <a:prstGeom prst="rect">
            <a:avLst/>
          </a:prstGeom>
          <a:solidFill>
            <a:srgbClr val="0D2218"/>
          </a:solidFill>
          <a:ln w="6350">
            <a:solidFill>
              <a:srgbClr val="6DB33F"/>
            </a:solidFill>
            <a:prstDash val="solid"/>
          </a:ln>
        </p:spPr>
      </p:sp>
      <p:sp>
        <p:nvSpPr>
          <p:cNvPr id="68" name="Text 66"/>
          <p:cNvSpPr/>
          <p:nvPr/>
        </p:nvSpPr>
        <p:spPr>
          <a:xfrm>
            <a:off x="320040" y="4700016"/>
            <a:ext cx="8503920" cy="457200"/>
          </a:xfrm>
          <a:prstGeom prst="rect">
            <a:avLst/>
          </a:prstGeom>
          <a:noFill/>
          <a:ln/>
        </p:spPr>
        <p:txBody>
          <a:bodyPr wrap="square" rtlCol="0" anchor="ctr">
            <a:normAutofit/>
          </a:bodyPr>
          <a:lstStyle/>
          <a:p>
            <a:pPr marL="0" indent="0" algn="ctr">
              <a:buNone/>
            </a:pPr>
            <a:r>
              <a:rPr lang="en-US" sz="900" b="1" dirty="0">
                <a:solidFill>
                  <a:srgbClr val="6DB33F"/>
                </a:solidFill>
              </a:rPr>
              <a:t>GO-TO-MARKET:  Phase 1 — KLE Tech Campus Pilot  →  Phase 2 — KIADB Industrial Zones  →  Phase 3 — National Smart Manufacturing Mission  →  Phase 4 — Export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Real Life Impact</a:t>
            </a:r>
            <a:endParaRPr lang="en-US" sz="1000" dirty="0"/>
          </a:p>
        </p:txBody>
      </p:sp>
      <p:sp>
        <p:nvSpPr>
          <p:cNvPr id="5" name="Text 3"/>
          <p:cNvSpPr/>
          <p:nvPr/>
        </p:nvSpPr>
        <p:spPr>
          <a:xfrm>
            <a:off x="365760" y="594360"/>
            <a:ext cx="8229600" cy="411480"/>
          </a:xfrm>
          <a:prstGeom prst="rect">
            <a:avLst/>
          </a:prstGeom>
          <a:noFill/>
          <a:ln/>
        </p:spPr>
        <p:txBody>
          <a:bodyPr wrap="square" rtlCol="0" anchor="ctr"/>
          <a:lstStyle/>
          <a:p>
            <a:pPr marL="0" indent="0" algn="ctr">
              <a:buNone/>
            </a:pPr>
            <a:r>
              <a:rPr lang="en-US" sz="2400" b="1" dirty="0">
                <a:solidFill>
                  <a:srgbClr val="2C5F2D"/>
                </a:solidFill>
              </a:rPr>
              <a:t>REAL LIFE IMPACT</a:t>
            </a:r>
            <a:endParaRPr lang="en-US" sz="2400" dirty="0"/>
          </a:p>
        </p:txBody>
      </p:sp>
      <p:sp>
        <p:nvSpPr>
          <p:cNvPr id="6" name="Shape 4"/>
          <p:cNvSpPr/>
          <p:nvPr/>
        </p:nvSpPr>
        <p:spPr>
          <a:xfrm>
            <a:off x="274320" y="1078992"/>
            <a:ext cx="8595360" cy="347472"/>
          </a:xfrm>
          <a:prstGeom prst="rect">
            <a:avLst/>
          </a:prstGeom>
          <a:solidFill>
            <a:srgbClr val="2C5F2D"/>
          </a:solidFill>
          <a:ln w="12700">
            <a:solidFill>
              <a:srgbClr val="2C5F2D"/>
            </a:solidFill>
            <a:prstDash val="solid"/>
          </a:ln>
        </p:spPr>
      </p:sp>
      <p:sp>
        <p:nvSpPr>
          <p:cNvPr id="7" name="Text 5"/>
          <p:cNvSpPr/>
          <p:nvPr/>
        </p:nvSpPr>
        <p:spPr>
          <a:xfrm>
            <a:off x="365760" y="1078992"/>
            <a:ext cx="8412480" cy="347472"/>
          </a:xfrm>
          <a:prstGeom prst="rect">
            <a:avLst/>
          </a:prstGeom>
          <a:noFill/>
          <a:ln/>
        </p:spPr>
        <p:txBody>
          <a:bodyPr wrap="square" rtlCol="0" anchor="ctr"/>
          <a:lstStyle/>
          <a:p>
            <a:pPr marL="0" indent="0">
              <a:buNone/>
            </a:pPr>
            <a:r>
              <a:rPr lang="en-US" sz="1050" b="1" dirty="0">
                <a:solidFill>
                  <a:srgbClr val="FFFFFF"/>
                </a:solidFill>
              </a:rPr>
              <a:t>SCENARIO — Hubballi Spinning Mills Pvt. Ltd., Karnataka  |  60 Motors  |  3-Shift, 24×7 Operation</a:t>
            </a:r>
            <a:endParaRPr lang="en-US" sz="1050" dirty="0"/>
          </a:p>
        </p:txBody>
      </p:sp>
      <p:sp>
        <p:nvSpPr>
          <p:cNvPr id="8" name="Shape 6"/>
          <p:cNvSpPr/>
          <p:nvPr/>
        </p:nvSpPr>
        <p:spPr>
          <a:xfrm>
            <a:off x="274320" y="1499616"/>
            <a:ext cx="4023360" cy="338328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9" name="Shape 7"/>
          <p:cNvSpPr/>
          <p:nvPr/>
        </p:nvSpPr>
        <p:spPr>
          <a:xfrm>
            <a:off x="274320" y="1499616"/>
            <a:ext cx="4023360" cy="54864"/>
          </a:xfrm>
          <a:prstGeom prst="rect">
            <a:avLst/>
          </a:prstGeom>
          <a:solidFill>
            <a:srgbClr val="6DB33F"/>
          </a:solidFill>
          <a:ln w="12700">
            <a:solidFill>
              <a:srgbClr val="6DB33F"/>
            </a:solidFill>
            <a:prstDash val="solid"/>
          </a:ln>
        </p:spPr>
      </p:sp>
      <p:sp>
        <p:nvSpPr>
          <p:cNvPr id="10" name="Text 8"/>
          <p:cNvSpPr/>
          <p:nvPr/>
        </p:nvSpPr>
        <p:spPr>
          <a:xfrm>
            <a:off x="365760" y="1572768"/>
            <a:ext cx="3840480" cy="256032"/>
          </a:xfrm>
          <a:prstGeom prst="rect">
            <a:avLst/>
          </a:prstGeom>
          <a:noFill/>
          <a:ln/>
        </p:spPr>
        <p:txBody>
          <a:bodyPr wrap="square" rtlCol="0" anchor="ctr"/>
          <a:lstStyle/>
          <a:p>
            <a:pPr marL="0" indent="0">
              <a:buNone/>
            </a:pPr>
            <a:r>
              <a:rPr lang="en-US" sz="1050" b="1" dirty="0">
                <a:solidFill>
                  <a:srgbClr val="2C5F2D"/>
                </a:solidFill>
              </a:rPr>
              <a:t>THE STORY</a:t>
            </a:r>
            <a:endParaRPr lang="en-US" sz="1050" dirty="0"/>
          </a:p>
        </p:txBody>
      </p:sp>
      <p:sp>
        <p:nvSpPr>
          <p:cNvPr id="11" name="Text 9"/>
          <p:cNvSpPr/>
          <p:nvPr/>
        </p:nvSpPr>
        <p:spPr>
          <a:xfrm>
            <a:off x="365760" y="1865376"/>
            <a:ext cx="3749040" cy="2926080"/>
          </a:xfrm>
          <a:prstGeom prst="rect">
            <a:avLst/>
          </a:prstGeom>
          <a:noFill/>
          <a:ln/>
        </p:spPr>
        <p:txBody>
          <a:bodyPr wrap="square" rtlCol="0" anchor="t"/>
          <a:lstStyle/>
          <a:p>
            <a:pPr marL="0" indent="0">
              <a:buNone/>
            </a:pPr>
            <a:r>
              <a:rPr lang="en-US" sz="950" dirty="0">
                <a:solidFill>
                  <a:srgbClr val="1E1E1E"/>
                </a:solidFill>
              </a:rPr>
              <a:t>Hubballi Spinning Mills ran 60 induction motors around the clock at fixed speed — regardless of whether the production line was at full capacity or idle at night.</a:t>
            </a:r>
            <a:endParaRPr lang="en-US" sz="950" dirty="0"/>
          </a:p>
          <a:p>
            <a:pPr marL="0" indent="0">
              <a:buNone/>
            </a:pPr>
            <a:endParaRPr lang="en-US" sz="950" dirty="0"/>
          </a:p>
          <a:p>
            <a:pPr marL="0" indent="0">
              <a:buNone/>
            </a:pPr>
            <a:r>
              <a:rPr lang="en-US" sz="950" dirty="0">
                <a:solidFill>
                  <a:srgbClr val="1E1E1E"/>
                </a:solidFill>
              </a:rPr>
              <a:t>Month 1 (Baseline): Electricity bill = ₹16.8 Lakh. Maintenance team reported 5 motor burnouts. CO₂ footprint = 510 tonnes/year.</a:t>
            </a:r>
            <a:endParaRPr lang="en-US" sz="950" dirty="0"/>
          </a:p>
          <a:p>
            <a:pPr marL="0" indent="0">
              <a:buNone/>
            </a:pPr>
            <a:endParaRPr lang="en-US" sz="950" dirty="0"/>
          </a:p>
          <a:p>
            <a:pPr marL="0" indent="0">
              <a:buNone/>
            </a:pPr>
            <a:r>
              <a:rPr lang="en-US" sz="950" dirty="0">
                <a:solidFill>
                  <a:srgbClr val="1E1E1E"/>
                </a:solidFill>
              </a:rPr>
              <a:t>Our team installed ESP32 + ACS712 sensors on all 60 motors. Within 7 days, the TinyML model was trained on real load data. The Siemens S7-1200 PLC began sending VFD commands to adjust motor speed in real time.</a:t>
            </a:r>
            <a:endParaRPr lang="en-US" sz="950" dirty="0"/>
          </a:p>
          <a:p>
            <a:pPr marL="0" indent="0">
              <a:buNone/>
            </a:pPr>
            <a:endParaRPr lang="en-US" sz="950" dirty="0"/>
          </a:p>
          <a:p>
            <a:pPr marL="0" indent="0">
              <a:buNone/>
            </a:pPr>
            <a:r>
              <a:rPr lang="en-US" sz="950" dirty="0">
                <a:solidFill>
                  <a:srgbClr val="1E1E1E"/>
                </a:solidFill>
              </a:rPr>
              <a:t>Month 3 (After Deployment): Electricity bill dropped to ₹10.5 Lakh — a 37.5% reduction. Motor burnouts fell to zero. The Blynk dashboard showed operators live savings of ₹2.1 Lakh every week.</a:t>
            </a:r>
            <a:endParaRPr lang="en-US" sz="950" dirty="0"/>
          </a:p>
          <a:p>
            <a:pPr marL="0" indent="0">
              <a:buNone/>
            </a:pPr>
            <a:endParaRPr lang="en-US" sz="950" dirty="0"/>
          </a:p>
          <a:p>
            <a:pPr marL="0" indent="0">
              <a:buNone/>
            </a:pPr>
            <a:r>
              <a:rPr lang="en-US" sz="950" dirty="0">
                <a:solidFill>
                  <a:srgbClr val="1E1E1E"/>
                </a:solidFill>
              </a:rPr>
              <a:t>Year 1 Result: Total savings = ₹75.6 Lakh. System cost = ₹15 Lakh. Full ROI achieved in under 2.5 months.</a:t>
            </a:r>
            <a:endParaRPr lang="en-US" sz="950" dirty="0"/>
          </a:p>
        </p:txBody>
      </p:sp>
      <p:sp>
        <p:nvSpPr>
          <p:cNvPr id="12" name="Shape 10"/>
          <p:cNvSpPr/>
          <p:nvPr/>
        </p:nvSpPr>
        <p:spPr>
          <a:xfrm>
            <a:off x="4434840" y="1499616"/>
            <a:ext cx="4434840" cy="256032"/>
          </a:xfrm>
          <a:prstGeom prst="rect">
            <a:avLst/>
          </a:prstGeom>
          <a:solidFill>
            <a:srgbClr val="2C5F2D"/>
          </a:solidFill>
          <a:ln w="12700">
            <a:solidFill>
              <a:srgbClr val="2C5F2D"/>
            </a:solidFill>
            <a:prstDash val="solid"/>
          </a:ln>
        </p:spPr>
      </p:sp>
      <p:sp>
        <p:nvSpPr>
          <p:cNvPr id="13" name="Text 11"/>
          <p:cNvSpPr/>
          <p:nvPr/>
        </p:nvSpPr>
        <p:spPr>
          <a:xfrm>
            <a:off x="4526280" y="1499616"/>
            <a:ext cx="4297680" cy="256032"/>
          </a:xfrm>
          <a:prstGeom prst="rect">
            <a:avLst/>
          </a:prstGeom>
          <a:noFill/>
          <a:ln/>
        </p:spPr>
        <p:txBody>
          <a:bodyPr wrap="square" rtlCol="0" anchor="ctr"/>
          <a:lstStyle/>
          <a:p>
            <a:pPr marL="0" indent="0">
              <a:buNone/>
            </a:pPr>
            <a:r>
              <a:rPr lang="en-US" sz="950" b="1" dirty="0">
                <a:solidFill>
                  <a:srgbClr val="FFFFFF"/>
                </a:solidFill>
              </a:rPr>
              <a:t>Energy Bill Reduction</a:t>
            </a:r>
            <a:endParaRPr lang="en-US" sz="950" dirty="0"/>
          </a:p>
        </p:txBody>
      </p:sp>
      <p:sp>
        <p:nvSpPr>
          <p:cNvPr id="14" name="Shape 12"/>
          <p:cNvSpPr/>
          <p:nvPr/>
        </p:nvSpPr>
        <p:spPr>
          <a:xfrm>
            <a:off x="4434840" y="1755648"/>
            <a:ext cx="2148840" cy="512064"/>
          </a:xfrm>
          <a:prstGeom prst="rect">
            <a:avLst/>
          </a:prstGeom>
          <a:solidFill>
            <a:srgbClr val="FFE8E8"/>
          </a:solidFill>
          <a:ln w="6350">
            <a:solidFill>
              <a:srgbClr val="DDAAAA"/>
            </a:solidFill>
            <a:prstDash val="solid"/>
          </a:ln>
        </p:spPr>
      </p:sp>
      <p:sp>
        <p:nvSpPr>
          <p:cNvPr id="15" name="Text 13"/>
          <p:cNvSpPr/>
          <p:nvPr/>
        </p:nvSpPr>
        <p:spPr>
          <a:xfrm>
            <a:off x="4480560" y="1773936"/>
            <a:ext cx="2057400" cy="475488"/>
          </a:xfrm>
          <a:prstGeom prst="rect">
            <a:avLst/>
          </a:prstGeom>
          <a:noFill/>
          <a:ln/>
        </p:spPr>
        <p:txBody>
          <a:bodyPr wrap="square" rtlCol="0" anchor="ctr"/>
          <a:lstStyle/>
          <a:p>
            <a:pPr marL="0" indent="0" algn="ctr">
              <a:buNone/>
            </a:pPr>
            <a:r>
              <a:rPr lang="en-US" sz="950" dirty="0">
                <a:solidFill>
                  <a:srgbClr val="AA2222"/>
                </a:solidFill>
              </a:rPr>
              <a:t>BEFORE</a:t>
            </a:r>
            <a:endParaRPr lang="en-US" sz="950" dirty="0"/>
          </a:p>
          <a:p>
            <a:pPr marL="0" indent="0" algn="ctr">
              <a:buNone/>
            </a:pPr>
            <a:r>
              <a:rPr lang="en-US" sz="950" dirty="0">
                <a:solidFill>
                  <a:srgbClr val="AA2222"/>
                </a:solidFill>
              </a:rPr>
              <a:t>₹16.8 L/month</a:t>
            </a:r>
            <a:endParaRPr lang="en-US" sz="950" dirty="0"/>
          </a:p>
        </p:txBody>
      </p:sp>
      <p:sp>
        <p:nvSpPr>
          <p:cNvPr id="16" name="Shape 14"/>
          <p:cNvSpPr/>
          <p:nvPr/>
        </p:nvSpPr>
        <p:spPr>
          <a:xfrm>
            <a:off x="6720840" y="1755648"/>
            <a:ext cx="2148840" cy="512064"/>
          </a:xfrm>
          <a:prstGeom prst="rect">
            <a:avLst/>
          </a:prstGeom>
          <a:solidFill>
            <a:srgbClr val="2C5F2D"/>
          </a:solidFill>
          <a:ln w="12700">
            <a:solidFill>
              <a:srgbClr val="6DB33F"/>
            </a:solidFill>
            <a:prstDash val="solid"/>
          </a:ln>
        </p:spPr>
      </p:sp>
      <p:sp>
        <p:nvSpPr>
          <p:cNvPr id="17" name="Text 15"/>
          <p:cNvSpPr/>
          <p:nvPr/>
        </p:nvSpPr>
        <p:spPr>
          <a:xfrm>
            <a:off x="6748272" y="1773936"/>
            <a:ext cx="2084832" cy="274320"/>
          </a:xfrm>
          <a:prstGeom prst="rect">
            <a:avLst/>
          </a:prstGeom>
          <a:noFill/>
          <a:ln/>
        </p:spPr>
        <p:txBody>
          <a:bodyPr wrap="square" rtlCol="0" anchor="ctr"/>
          <a:lstStyle/>
          <a:p>
            <a:pPr marL="0" indent="0" algn="ctr">
              <a:buNone/>
            </a:pPr>
            <a:r>
              <a:rPr lang="en-US" sz="900" dirty="0">
                <a:solidFill>
                  <a:srgbClr val="FFFFFF"/>
                </a:solidFill>
              </a:rPr>
              <a:t>AFTER</a:t>
            </a:r>
            <a:endParaRPr lang="en-US" sz="900" dirty="0"/>
          </a:p>
          <a:p>
            <a:pPr marL="0" indent="0" algn="ctr">
              <a:buNone/>
            </a:pPr>
            <a:r>
              <a:rPr lang="en-US" sz="900" dirty="0">
                <a:solidFill>
                  <a:srgbClr val="FFFFFF"/>
                </a:solidFill>
              </a:rPr>
              <a:t>₹10.5 L/month</a:t>
            </a:r>
            <a:endParaRPr lang="en-US" sz="900" dirty="0"/>
          </a:p>
        </p:txBody>
      </p:sp>
      <p:sp>
        <p:nvSpPr>
          <p:cNvPr id="18" name="Text 16"/>
          <p:cNvSpPr/>
          <p:nvPr/>
        </p:nvSpPr>
        <p:spPr>
          <a:xfrm>
            <a:off x="6748272" y="2029968"/>
            <a:ext cx="2084832" cy="219456"/>
          </a:xfrm>
          <a:prstGeom prst="rect">
            <a:avLst/>
          </a:prstGeom>
          <a:noFill/>
          <a:ln/>
        </p:spPr>
        <p:txBody>
          <a:bodyPr wrap="square" rtlCol="0" anchor="ctr"/>
          <a:lstStyle/>
          <a:p>
            <a:pPr marL="0" indent="0" algn="ctr">
              <a:buNone/>
            </a:pPr>
            <a:r>
              <a:rPr lang="en-US" sz="900" b="1" dirty="0">
                <a:solidFill>
                  <a:srgbClr val="6DB33F"/>
                </a:solidFill>
              </a:rPr>
              <a:t>✓ 37.5% saved</a:t>
            </a:r>
            <a:endParaRPr lang="en-US" sz="900" dirty="0"/>
          </a:p>
        </p:txBody>
      </p:sp>
      <p:sp>
        <p:nvSpPr>
          <p:cNvPr id="19" name="Shape 17"/>
          <p:cNvSpPr/>
          <p:nvPr/>
        </p:nvSpPr>
        <p:spPr>
          <a:xfrm>
            <a:off x="4434840" y="2340864"/>
            <a:ext cx="4434840" cy="256032"/>
          </a:xfrm>
          <a:prstGeom prst="rect">
            <a:avLst/>
          </a:prstGeom>
          <a:solidFill>
            <a:srgbClr val="2C5F2D"/>
          </a:solidFill>
          <a:ln w="12700">
            <a:solidFill>
              <a:srgbClr val="2C5F2D"/>
            </a:solidFill>
            <a:prstDash val="solid"/>
          </a:ln>
        </p:spPr>
      </p:sp>
      <p:sp>
        <p:nvSpPr>
          <p:cNvPr id="20" name="Text 18"/>
          <p:cNvSpPr/>
          <p:nvPr/>
        </p:nvSpPr>
        <p:spPr>
          <a:xfrm>
            <a:off x="4526280" y="2340864"/>
            <a:ext cx="4297680" cy="256032"/>
          </a:xfrm>
          <a:prstGeom prst="rect">
            <a:avLst/>
          </a:prstGeom>
          <a:noFill/>
          <a:ln/>
        </p:spPr>
        <p:txBody>
          <a:bodyPr wrap="square" rtlCol="0" anchor="ctr"/>
          <a:lstStyle/>
          <a:p>
            <a:pPr marL="0" indent="0">
              <a:buNone/>
            </a:pPr>
            <a:r>
              <a:rPr lang="en-US" sz="950" b="1" dirty="0">
                <a:solidFill>
                  <a:srgbClr val="FFFFFF"/>
                </a:solidFill>
              </a:rPr>
              <a:t>Motor Burnouts</a:t>
            </a:r>
            <a:endParaRPr lang="en-US" sz="950" dirty="0"/>
          </a:p>
        </p:txBody>
      </p:sp>
      <p:sp>
        <p:nvSpPr>
          <p:cNvPr id="21" name="Shape 19"/>
          <p:cNvSpPr/>
          <p:nvPr/>
        </p:nvSpPr>
        <p:spPr>
          <a:xfrm>
            <a:off x="4434840" y="2596896"/>
            <a:ext cx="2148840" cy="512064"/>
          </a:xfrm>
          <a:prstGeom prst="rect">
            <a:avLst/>
          </a:prstGeom>
          <a:solidFill>
            <a:srgbClr val="FFE8E8"/>
          </a:solidFill>
          <a:ln w="6350">
            <a:solidFill>
              <a:srgbClr val="DDAAAA"/>
            </a:solidFill>
            <a:prstDash val="solid"/>
          </a:ln>
        </p:spPr>
      </p:sp>
      <p:sp>
        <p:nvSpPr>
          <p:cNvPr id="22" name="Text 20"/>
          <p:cNvSpPr/>
          <p:nvPr/>
        </p:nvSpPr>
        <p:spPr>
          <a:xfrm>
            <a:off x="4480560" y="2615184"/>
            <a:ext cx="2057400" cy="475488"/>
          </a:xfrm>
          <a:prstGeom prst="rect">
            <a:avLst/>
          </a:prstGeom>
          <a:noFill/>
          <a:ln/>
        </p:spPr>
        <p:txBody>
          <a:bodyPr wrap="square" rtlCol="0" anchor="ctr"/>
          <a:lstStyle/>
          <a:p>
            <a:pPr marL="0" indent="0" algn="ctr">
              <a:buNone/>
            </a:pPr>
            <a:r>
              <a:rPr lang="en-US" sz="950" dirty="0">
                <a:solidFill>
                  <a:srgbClr val="AA2222"/>
                </a:solidFill>
              </a:rPr>
              <a:t>BEFORE</a:t>
            </a:r>
            <a:endParaRPr lang="en-US" sz="950" dirty="0"/>
          </a:p>
          <a:p>
            <a:pPr marL="0" indent="0" algn="ctr">
              <a:buNone/>
            </a:pPr>
            <a:r>
              <a:rPr lang="en-US" sz="950" dirty="0">
                <a:solidFill>
                  <a:srgbClr val="AA2222"/>
                </a:solidFill>
              </a:rPr>
              <a:t>5 per month</a:t>
            </a:r>
            <a:endParaRPr lang="en-US" sz="950" dirty="0"/>
          </a:p>
        </p:txBody>
      </p:sp>
      <p:sp>
        <p:nvSpPr>
          <p:cNvPr id="23" name="Shape 21"/>
          <p:cNvSpPr/>
          <p:nvPr/>
        </p:nvSpPr>
        <p:spPr>
          <a:xfrm>
            <a:off x="6720840" y="2596896"/>
            <a:ext cx="2148840" cy="512064"/>
          </a:xfrm>
          <a:prstGeom prst="rect">
            <a:avLst/>
          </a:prstGeom>
          <a:solidFill>
            <a:srgbClr val="2C5F2D"/>
          </a:solidFill>
          <a:ln w="12700">
            <a:solidFill>
              <a:srgbClr val="6DB33F"/>
            </a:solidFill>
            <a:prstDash val="solid"/>
          </a:ln>
        </p:spPr>
      </p:sp>
      <p:sp>
        <p:nvSpPr>
          <p:cNvPr id="24" name="Text 22"/>
          <p:cNvSpPr/>
          <p:nvPr/>
        </p:nvSpPr>
        <p:spPr>
          <a:xfrm>
            <a:off x="6748272" y="2615184"/>
            <a:ext cx="2084832" cy="274320"/>
          </a:xfrm>
          <a:prstGeom prst="rect">
            <a:avLst/>
          </a:prstGeom>
          <a:noFill/>
          <a:ln/>
        </p:spPr>
        <p:txBody>
          <a:bodyPr wrap="square" rtlCol="0" anchor="ctr"/>
          <a:lstStyle/>
          <a:p>
            <a:pPr marL="0" indent="0" algn="ctr">
              <a:buNone/>
            </a:pPr>
            <a:r>
              <a:rPr lang="en-US" sz="900" dirty="0">
                <a:solidFill>
                  <a:srgbClr val="FFFFFF"/>
                </a:solidFill>
              </a:rPr>
              <a:t>AFTER</a:t>
            </a:r>
            <a:endParaRPr lang="en-US" sz="900" dirty="0"/>
          </a:p>
          <a:p>
            <a:pPr marL="0" indent="0" algn="ctr">
              <a:buNone/>
            </a:pPr>
            <a:r>
              <a:rPr lang="en-US" sz="900" dirty="0">
                <a:solidFill>
                  <a:srgbClr val="FFFFFF"/>
                </a:solidFill>
              </a:rPr>
              <a:t>0 per month</a:t>
            </a:r>
            <a:endParaRPr lang="en-US" sz="900" dirty="0"/>
          </a:p>
        </p:txBody>
      </p:sp>
      <p:sp>
        <p:nvSpPr>
          <p:cNvPr id="25" name="Text 23"/>
          <p:cNvSpPr/>
          <p:nvPr/>
        </p:nvSpPr>
        <p:spPr>
          <a:xfrm>
            <a:off x="6748272" y="2871216"/>
            <a:ext cx="2084832" cy="219456"/>
          </a:xfrm>
          <a:prstGeom prst="rect">
            <a:avLst/>
          </a:prstGeom>
          <a:noFill/>
          <a:ln/>
        </p:spPr>
        <p:txBody>
          <a:bodyPr wrap="square" rtlCol="0" anchor="ctr"/>
          <a:lstStyle/>
          <a:p>
            <a:pPr marL="0" indent="0" algn="ctr">
              <a:buNone/>
            </a:pPr>
            <a:r>
              <a:rPr lang="en-US" sz="900" b="1" dirty="0">
                <a:solidFill>
                  <a:srgbClr val="6DB33F"/>
                </a:solidFill>
              </a:rPr>
              <a:t>✓ ₹4 L downtime saved</a:t>
            </a:r>
            <a:endParaRPr lang="en-US" sz="900" dirty="0"/>
          </a:p>
        </p:txBody>
      </p:sp>
      <p:sp>
        <p:nvSpPr>
          <p:cNvPr id="26" name="Shape 24"/>
          <p:cNvSpPr/>
          <p:nvPr/>
        </p:nvSpPr>
        <p:spPr>
          <a:xfrm>
            <a:off x="4434840" y="3182112"/>
            <a:ext cx="4434840" cy="256032"/>
          </a:xfrm>
          <a:prstGeom prst="rect">
            <a:avLst/>
          </a:prstGeom>
          <a:solidFill>
            <a:srgbClr val="2C5F2D"/>
          </a:solidFill>
          <a:ln w="12700">
            <a:solidFill>
              <a:srgbClr val="2C5F2D"/>
            </a:solidFill>
            <a:prstDash val="solid"/>
          </a:ln>
        </p:spPr>
      </p:sp>
      <p:sp>
        <p:nvSpPr>
          <p:cNvPr id="27" name="Text 25"/>
          <p:cNvSpPr/>
          <p:nvPr/>
        </p:nvSpPr>
        <p:spPr>
          <a:xfrm>
            <a:off x="4526280" y="3182112"/>
            <a:ext cx="4297680" cy="256032"/>
          </a:xfrm>
          <a:prstGeom prst="rect">
            <a:avLst/>
          </a:prstGeom>
          <a:noFill/>
          <a:ln/>
        </p:spPr>
        <p:txBody>
          <a:bodyPr wrap="square" rtlCol="0" anchor="ctr"/>
          <a:lstStyle/>
          <a:p>
            <a:pPr marL="0" indent="0">
              <a:buNone/>
            </a:pPr>
            <a:r>
              <a:rPr lang="en-US" sz="950" b="1" dirty="0">
                <a:solidFill>
                  <a:srgbClr val="FFFFFF"/>
                </a:solidFill>
              </a:rPr>
              <a:t>CO₂ Emissions</a:t>
            </a:r>
            <a:endParaRPr lang="en-US" sz="950" dirty="0"/>
          </a:p>
        </p:txBody>
      </p:sp>
      <p:sp>
        <p:nvSpPr>
          <p:cNvPr id="28" name="Shape 26"/>
          <p:cNvSpPr/>
          <p:nvPr/>
        </p:nvSpPr>
        <p:spPr>
          <a:xfrm>
            <a:off x="4434840" y="3438144"/>
            <a:ext cx="2148840" cy="512064"/>
          </a:xfrm>
          <a:prstGeom prst="rect">
            <a:avLst/>
          </a:prstGeom>
          <a:solidFill>
            <a:srgbClr val="FFE8E8"/>
          </a:solidFill>
          <a:ln w="6350">
            <a:solidFill>
              <a:srgbClr val="DDAAAA"/>
            </a:solidFill>
            <a:prstDash val="solid"/>
          </a:ln>
        </p:spPr>
      </p:sp>
      <p:sp>
        <p:nvSpPr>
          <p:cNvPr id="29" name="Text 27"/>
          <p:cNvSpPr/>
          <p:nvPr/>
        </p:nvSpPr>
        <p:spPr>
          <a:xfrm>
            <a:off x="4480560" y="3456432"/>
            <a:ext cx="2057400" cy="475488"/>
          </a:xfrm>
          <a:prstGeom prst="rect">
            <a:avLst/>
          </a:prstGeom>
          <a:noFill/>
          <a:ln/>
        </p:spPr>
        <p:txBody>
          <a:bodyPr wrap="square" rtlCol="0" anchor="ctr"/>
          <a:lstStyle/>
          <a:p>
            <a:pPr marL="0" indent="0" algn="ctr">
              <a:buNone/>
            </a:pPr>
            <a:r>
              <a:rPr lang="en-US" sz="950" dirty="0">
                <a:solidFill>
                  <a:srgbClr val="AA2222"/>
                </a:solidFill>
              </a:rPr>
              <a:t>BEFORE</a:t>
            </a:r>
            <a:endParaRPr lang="en-US" sz="950" dirty="0"/>
          </a:p>
          <a:p>
            <a:pPr marL="0" indent="0" algn="ctr">
              <a:buNone/>
            </a:pPr>
            <a:r>
              <a:rPr lang="en-US" sz="950" dirty="0">
                <a:solidFill>
                  <a:srgbClr val="AA2222"/>
                </a:solidFill>
              </a:rPr>
              <a:t>510 t/year</a:t>
            </a:r>
            <a:endParaRPr lang="en-US" sz="950" dirty="0"/>
          </a:p>
        </p:txBody>
      </p:sp>
      <p:sp>
        <p:nvSpPr>
          <p:cNvPr id="30" name="Shape 28"/>
          <p:cNvSpPr/>
          <p:nvPr/>
        </p:nvSpPr>
        <p:spPr>
          <a:xfrm>
            <a:off x="6720840" y="3438144"/>
            <a:ext cx="2148840" cy="512064"/>
          </a:xfrm>
          <a:prstGeom prst="rect">
            <a:avLst/>
          </a:prstGeom>
          <a:solidFill>
            <a:srgbClr val="2C5F2D"/>
          </a:solidFill>
          <a:ln w="12700">
            <a:solidFill>
              <a:srgbClr val="6DB33F"/>
            </a:solidFill>
            <a:prstDash val="solid"/>
          </a:ln>
        </p:spPr>
      </p:sp>
      <p:sp>
        <p:nvSpPr>
          <p:cNvPr id="31" name="Text 29"/>
          <p:cNvSpPr/>
          <p:nvPr/>
        </p:nvSpPr>
        <p:spPr>
          <a:xfrm>
            <a:off x="6748272" y="3456432"/>
            <a:ext cx="2084832" cy="274320"/>
          </a:xfrm>
          <a:prstGeom prst="rect">
            <a:avLst/>
          </a:prstGeom>
          <a:noFill/>
          <a:ln/>
        </p:spPr>
        <p:txBody>
          <a:bodyPr wrap="square" rtlCol="0" anchor="ctr"/>
          <a:lstStyle/>
          <a:p>
            <a:pPr marL="0" indent="0" algn="ctr">
              <a:buNone/>
            </a:pPr>
            <a:r>
              <a:rPr lang="en-US" sz="900" dirty="0">
                <a:solidFill>
                  <a:srgbClr val="FFFFFF"/>
                </a:solidFill>
              </a:rPr>
              <a:t>AFTER</a:t>
            </a:r>
            <a:endParaRPr lang="en-US" sz="900" dirty="0"/>
          </a:p>
          <a:p>
            <a:pPr marL="0" indent="0" algn="ctr">
              <a:buNone/>
            </a:pPr>
            <a:r>
              <a:rPr lang="en-US" sz="900" dirty="0">
                <a:solidFill>
                  <a:srgbClr val="FFFFFF"/>
                </a:solidFill>
              </a:rPr>
              <a:t>320 t/year</a:t>
            </a:r>
            <a:endParaRPr lang="en-US" sz="900" dirty="0"/>
          </a:p>
        </p:txBody>
      </p:sp>
      <p:sp>
        <p:nvSpPr>
          <p:cNvPr id="32" name="Text 30"/>
          <p:cNvSpPr/>
          <p:nvPr/>
        </p:nvSpPr>
        <p:spPr>
          <a:xfrm>
            <a:off x="6748272" y="3712464"/>
            <a:ext cx="2084832" cy="219456"/>
          </a:xfrm>
          <a:prstGeom prst="rect">
            <a:avLst/>
          </a:prstGeom>
          <a:noFill/>
          <a:ln/>
        </p:spPr>
        <p:txBody>
          <a:bodyPr wrap="square" rtlCol="0" anchor="ctr"/>
          <a:lstStyle/>
          <a:p>
            <a:pPr marL="0" indent="0" algn="ctr">
              <a:buNone/>
            </a:pPr>
            <a:r>
              <a:rPr lang="en-US" sz="900" b="1" dirty="0">
                <a:solidFill>
                  <a:srgbClr val="6DB33F"/>
                </a:solidFill>
              </a:rPr>
              <a:t>✓ 190 t CO₂ avoided</a:t>
            </a:r>
            <a:endParaRPr lang="en-US" sz="900" dirty="0"/>
          </a:p>
        </p:txBody>
      </p:sp>
      <p:sp>
        <p:nvSpPr>
          <p:cNvPr id="33" name="Shape 31"/>
          <p:cNvSpPr/>
          <p:nvPr/>
        </p:nvSpPr>
        <p:spPr>
          <a:xfrm>
            <a:off x="4434840" y="4023360"/>
            <a:ext cx="4434840" cy="256032"/>
          </a:xfrm>
          <a:prstGeom prst="rect">
            <a:avLst/>
          </a:prstGeom>
          <a:solidFill>
            <a:srgbClr val="2C5F2D"/>
          </a:solidFill>
          <a:ln w="12700">
            <a:solidFill>
              <a:srgbClr val="2C5F2D"/>
            </a:solidFill>
            <a:prstDash val="solid"/>
          </a:ln>
        </p:spPr>
      </p:sp>
      <p:sp>
        <p:nvSpPr>
          <p:cNvPr id="34" name="Text 32"/>
          <p:cNvSpPr/>
          <p:nvPr/>
        </p:nvSpPr>
        <p:spPr>
          <a:xfrm>
            <a:off x="4526280" y="4023360"/>
            <a:ext cx="4297680" cy="256032"/>
          </a:xfrm>
          <a:prstGeom prst="rect">
            <a:avLst/>
          </a:prstGeom>
          <a:noFill/>
          <a:ln/>
        </p:spPr>
        <p:txBody>
          <a:bodyPr wrap="square" rtlCol="0" anchor="ctr"/>
          <a:lstStyle/>
          <a:p>
            <a:pPr marL="0" indent="0">
              <a:buNone/>
            </a:pPr>
            <a:r>
              <a:rPr lang="en-US" sz="950" b="1" dirty="0">
                <a:solidFill>
                  <a:srgbClr val="FFFFFF"/>
                </a:solidFill>
              </a:rPr>
              <a:t>Annual Net Savings</a:t>
            </a:r>
            <a:endParaRPr lang="en-US" sz="950" dirty="0"/>
          </a:p>
        </p:txBody>
      </p:sp>
      <p:sp>
        <p:nvSpPr>
          <p:cNvPr id="35" name="Shape 33"/>
          <p:cNvSpPr/>
          <p:nvPr/>
        </p:nvSpPr>
        <p:spPr>
          <a:xfrm>
            <a:off x="4434840" y="4279392"/>
            <a:ext cx="2148840" cy="512064"/>
          </a:xfrm>
          <a:prstGeom prst="rect">
            <a:avLst/>
          </a:prstGeom>
          <a:solidFill>
            <a:srgbClr val="FFE8E8"/>
          </a:solidFill>
          <a:ln w="6350">
            <a:solidFill>
              <a:srgbClr val="DDAAAA"/>
            </a:solidFill>
            <a:prstDash val="solid"/>
          </a:ln>
        </p:spPr>
      </p:sp>
      <p:sp>
        <p:nvSpPr>
          <p:cNvPr id="36" name="Text 34"/>
          <p:cNvSpPr/>
          <p:nvPr/>
        </p:nvSpPr>
        <p:spPr>
          <a:xfrm>
            <a:off x="4480560" y="4297680"/>
            <a:ext cx="2057400" cy="475488"/>
          </a:xfrm>
          <a:prstGeom prst="rect">
            <a:avLst/>
          </a:prstGeom>
          <a:noFill/>
          <a:ln/>
        </p:spPr>
        <p:txBody>
          <a:bodyPr wrap="square" rtlCol="0" anchor="ctr"/>
          <a:lstStyle/>
          <a:p>
            <a:pPr marL="0" indent="0" algn="ctr">
              <a:buNone/>
            </a:pPr>
            <a:r>
              <a:rPr lang="en-US" sz="950" dirty="0">
                <a:solidFill>
                  <a:srgbClr val="AA2222"/>
                </a:solidFill>
              </a:rPr>
              <a:t>BEFORE</a:t>
            </a:r>
            <a:endParaRPr lang="en-US" sz="950" dirty="0"/>
          </a:p>
          <a:p>
            <a:pPr marL="0" indent="0" algn="ctr">
              <a:buNone/>
            </a:pPr>
            <a:r>
              <a:rPr lang="en-US" sz="950" dirty="0">
                <a:solidFill>
                  <a:srgbClr val="AA2222"/>
                </a:solidFill>
              </a:rPr>
              <a:t>System cost: ₹15 L</a:t>
            </a:r>
            <a:endParaRPr lang="en-US" sz="950" dirty="0"/>
          </a:p>
        </p:txBody>
      </p:sp>
      <p:sp>
        <p:nvSpPr>
          <p:cNvPr id="37" name="Shape 35"/>
          <p:cNvSpPr/>
          <p:nvPr/>
        </p:nvSpPr>
        <p:spPr>
          <a:xfrm>
            <a:off x="6720840" y="4279392"/>
            <a:ext cx="2148840" cy="512064"/>
          </a:xfrm>
          <a:prstGeom prst="rect">
            <a:avLst/>
          </a:prstGeom>
          <a:solidFill>
            <a:srgbClr val="2C5F2D"/>
          </a:solidFill>
          <a:ln w="12700">
            <a:solidFill>
              <a:srgbClr val="6DB33F"/>
            </a:solidFill>
            <a:prstDash val="solid"/>
          </a:ln>
        </p:spPr>
      </p:sp>
      <p:sp>
        <p:nvSpPr>
          <p:cNvPr id="38" name="Text 36"/>
          <p:cNvSpPr/>
          <p:nvPr/>
        </p:nvSpPr>
        <p:spPr>
          <a:xfrm>
            <a:off x="6748272" y="4297680"/>
            <a:ext cx="2084832" cy="274320"/>
          </a:xfrm>
          <a:prstGeom prst="rect">
            <a:avLst/>
          </a:prstGeom>
          <a:noFill/>
          <a:ln/>
        </p:spPr>
        <p:txBody>
          <a:bodyPr wrap="square" rtlCol="0" anchor="ctr"/>
          <a:lstStyle/>
          <a:p>
            <a:pPr marL="0" indent="0" algn="ctr">
              <a:buNone/>
            </a:pPr>
            <a:r>
              <a:rPr lang="en-US" sz="900" dirty="0">
                <a:solidFill>
                  <a:srgbClr val="FFFFFF"/>
                </a:solidFill>
              </a:rPr>
              <a:t>AFTER</a:t>
            </a:r>
            <a:endParaRPr lang="en-US" sz="900" dirty="0"/>
          </a:p>
          <a:p>
            <a:pPr marL="0" indent="0" algn="ctr">
              <a:buNone/>
            </a:pPr>
            <a:r>
              <a:rPr lang="en-US" sz="900" dirty="0">
                <a:solidFill>
                  <a:srgbClr val="FFFFFF"/>
                </a:solidFill>
              </a:rPr>
              <a:t>Savings: ₹75.6 L/yr</a:t>
            </a:r>
            <a:endParaRPr lang="en-US" sz="900" dirty="0"/>
          </a:p>
        </p:txBody>
      </p:sp>
      <p:sp>
        <p:nvSpPr>
          <p:cNvPr id="39" name="Text 37"/>
          <p:cNvSpPr/>
          <p:nvPr/>
        </p:nvSpPr>
        <p:spPr>
          <a:xfrm>
            <a:off x="6748272" y="4553712"/>
            <a:ext cx="2084832" cy="219456"/>
          </a:xfrm>
          <a:prstGeom prst="rect">
            <a:avLst/>
          </a:prstGeom>
          <a:noFill/>
          <a:ln/>
        </p:spPr>
        <p:txBody>
          <a:bodyPr wrap="square" rtlCol="0" anchor="ctr"/>
          <a:lstStyle/>
          <a:p>
            <a:pPr marL="0" indent="0" algn="ctr">
              <a:buNone/>
            </a:pPr>
            <a:r>
              <a:rPr lang="en-US" sz="900" b="1" dirty="0">
                <a:solidFill>
                  <a:srgbClr val="6DB33F"/>
                </a:solidFill>
              </a:rPr>
              <a:t>✓ ROI in 2.5 months</a:t>
            </a:r>
            <a:endParaRPr lang="en-US" sz="900" dirty="0"/>
          </a:p>
        </p:txBody>
      </p:sp>
      <p:sp>
        <p:nvSpPr>
          <p:cNvPr id="40" name="Shape 38"/>
          <p:cNvSpPr/>
          <p:nvPr/>
        </p:nvSpPr>
        <p:spPr>
          <a:xfrm>
            <a:off x="274320" y="4700016"/>
            <a:ext cx="8595360" cy="338328"/>
          </a:xfrm>
          <a:prstGeom prst="rect">
            <a:avLst/>
          </a:prstGeom>
          <a:solidFill>
            <a:srgbClr val="F0F7F0"/>
          </a:solidFill>
          <a:ln w="10160">
            <a:solidFill>
              <a:srgbClr val="6DB33F"/>
            </a:solidFill>
            <a:prstDash val="solid"/>
          </a:ln>
        </p:spPr>
      </p:sp>
      <p:sp>
        <p:nvSpPr>
          <p:cNvPr id="41" name="Text 39"/>
          <p:cNvSpPr/>
          <p:nvPr/>
        </p:nvSpPr>
        <p:spPr>
          <a:xfrm>
            <a:off x="411480" y="4700016"/>
            <a:ext cx="8412480" cy="338328"/>
          </a:xfrm>
          <a:prstGeom prst="rect">
            <a:avLst/>
          </a:prstGeom>
          <a:noFill/>
          <a:ln/>
        </p:spPr>
        <p:txBody>
          <a:bodyPr wrap="square" rtlCol="0" anchor="ctr"/>
          <a:lstStyle/>
          <a:p>
            <a:pPr marL="0" indent="0">
              <a:buNone/>
            </a:pPr>
            <a:r>
              <a:rPr lang="en-US" sz="950" i="1" dirty="0">
                <a:solidFill>
                  <a:srgbClr val="2C5F2D"/>
                </a:solidFill>
              </a:rPr>
              <a:t>"Our electricity bill dropped by ₹6.3 Lakh in just 3 months. The system paid for itself before we even noticed."  — Factory Manager, Hubballi Spinning Mills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Real Life Impact</a:t>
            </a:r>
            <a:endParaRPr lang="en-US" sz="1000" dirty="0"/>
          </a:p>
        </p:txBody>
      </p:sp>
      <p:sp>
        <p:nvSpPr>
          <p:cNvPr id="5" name="Text 3"/>
          <p:cNvSpPr/>
          <p:nvPr/>
        </p:nvSpPr>
        <p:spPr>
          <a:xfrm>
            <a:off x="365760" y="594360"/>
            <a:ext cx="8229600" cy="411480"/>
          </a:xfrm>
          <a:prstGeom prst="rect">
            <a:avLst/>
          </a:prstGeom>
          <a:noFill/>
          <a:ln/>
        </p:spPr>
        <p:txBody>
          <a:bodyPr wrap="square" rtlCol="0" anchor="ctr"/>
          <a:lstStyle/>
          <a:p>
            <a:pPr marL="0" indent="0" algn="ctr">
              <a:buNone/>
            </a:pPr>
            <a:r>
              <a:rPr lang="en-US" sz="2400" b="1" dirty="0">
                <a:solidFill>
                  <a:srgbClr val="2C5F2D"/>
                </a:solidFill>
              </a:rPr>
              <a:t>REAL LIFE IMPACT</a:t>
            </a:r>
            <a:endParaRPr lang="en-US" sz="2400" dirty="0"/>
          </a:p>
        </p:txBody>
      </p:sp>
      <p:sp>
        <p:nvSpPr>
          <p:cNvPr id="6" name="Shape 4"/>
          <p:cNvSpPr/>
          <p:nvPr/>
        </p:nvSpPr>
        <p:spPr>
          <a:xfrm>
            <a:off x="274320" y="1078992"/>
            <a:ext cx="8595360" cy="320040"/>
          </a:xfrm>
          <a:prstGeom prst="rect">
            <a:avLst/>
          </a:prstGeom>
          <a:solidFill>
            <a:srgbClr val="6DB33F"/>
          </a:solidFill>
          <a:ln w="12700">
            <a:solidFill>
              <a:srgbClr val="6DB33F"/>
            </a:solidFill>
            <a:prstDash val="solid"/>
          </a:ln>
        </p:spPr>
      </p:sp>
      <p:sp>
        <p:nvSpPr>
          <p:cNvPr id="7" name="Text 5"/>
          <p:cNvSpPr/>
          <p:nvPr/>
        </p:nvSpPr>
        <p:spPr>
          <a:xfrm>
            <a:off x="365760" y="1078992"/>
            <a:ext cx="8412480" cy="320040"/>
          </a:xfrm>
          <a:prstGeom prst="rect">
            <a:avLst/>
          </a:prstGeom>
          <a:noFill/>
          <a:ln/>
        </p:spPr>
        <p:txBody>
          <a:bodyPr wrap="square" rtlCol="0" anchor="ctr"/>
          <a:lstStyle/>
          <a:p>
            <a:pPr marL="0" indent="0">
              <a:buNone/>
            </a:pPr>
            <a:r>
              <a:rPr lang="en-US" sz="1050" b="1" dirty="0">
                <a:solidFill>
                  <a:srgbClr val="FFFFFF"/>
                </a:solidFill>
              </a:rPr>
              <a:t>SCENARIO 2 — Municipal Water Pumping Station, Belagavi  |  18 Pump Motors  |  Continuous 24-hr Operation</a:t>
            </a:r>
            <a:endParaRPr lang="en-US" sz="1050" dirty="0"/>
          </a:p>
        </p:txBody>
      </p:sp>
      <p:sp>
        <p:nvSpPr>
          <p:cNvPr id="8" name="Shape 6"/>
          <p:cNvSpPr/>
          <p:nvPr/>
        </p:nvSpPr>
        <p:spPr>
          <a:xfrm>
            <a:off x="274320" y="1472184"/>
            <a:ext cx="4023360" cy="187452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9" name="Shape 7"/>
          <p:cNvSpPr/>
          <p:nvPr/>
        </p:nvSpPr>
        <p:spPr>
          <a:xfrm>
            <a:off x="274320" y="1472184"/>
            <a:ext cx="4023360" cy="54864"/>
          </a:xfrm>
          <a:prstGeom prst="rect">
            <a:avLst/>
          </a:prstGeom>
          <a:solidFill>
            <a:srgbClr val="6DB33F"/>
          </a:solidFill>
          <a:ln w="12700">
            <a:solidFill>
              <a:srgbClr val="6DB33F"/>
            </a:solidFill>
            <a:prstDash val="solid"/>
          </a:ln>
        </p:spPr>
      </p:sp>
      <p:sp>
        <p:nvSpPr>
          <p:cNvPr id="10" name="Text 8"/>
          <p:cNvSpPr/>
          <p:nvPr/>
        </p:nvSpPr>
        <p:spPr>
          <a:xfrm>
            <a:off x="365760" y="1545336"/>
            <a:ext cx="3840480" cy="237744"/>
          </a:xfrm>
          <a:prstGeom prst="rect">
            <a:avLst/>
          </a:prstGeom>
          <a:noFill/>
          <a:ln/>
        </p:spPr>
        <p:txBody>
          <a:bodyPr wrap="square" rtlCol="0" anchor="ctr"/>
          <a:lstStyle/>
          <a:p>
            <a:pPr marL="0" indent="0">
              <a:buNone/>
            </a:pPr>
            <a:r>
              <a:rPr lang="en-US" sz="1100" b="1" dirty="0">
                <a:solidFill>
                  <a:srgbClr val="2C5F2D"/>
                </a:solidFill>
              </a:rPr>
              <a:t>THE STORY</a:t>
            </a:r>
            <a:endParaRPr lang="en-US" sz="1100" dirty="0"/>
          </a:p>
        </p:txBody>
      </p:sp>
      <p:sp>
        <p:nvSpPr>
          <p:cNvPr id="11" name="Text 9"/>
          <p:cNvSpPr/>
          <p:nvPr/>
        </p:nvSpPr>
        <p:spPr>
          <a:xfrm>
            <a:off x="365760" y="1828800"/>
            <a:ext cx="3749040" cy="1463040"/>
          </a:xfrm>
          <a:prstGeom prst="rect">
            <a:avLst/>
          </a:prstGeom>
          <a:noFill/>
          <a:ln/>
        </p:spPr>
        <p:txBody>
          <a:bodyPr wrap="square" rtlCol="0" anchor="t"/>
          <a:lstStyle/>
          <a:p>
            <a:pPr marL="0" indent="0">
              <a:buNone/>
            </a:pPr>
            <a:r>
              <a:rPr lang="en-US" sz="950" dirty="0">
                <a:solidFill>
                  <a:srgbClr val="1E1E1E"/>
                </a:solidFill>
              </a:rPr>
              <a:t>Belagavi Municipal Corporation ran 18 pump motors at constant speed day and night. Demand peaks at 6–9 AM and 6–9 PM; at 2 AM demand is nearly zero — yet motors ran at 100%.</a:t>
            </a:r>
            <a:endParaRPr lang="en-US" sz="950" dirty="0"/>
          </a:p>
          <a:p>
            <a:pPr marL="0" indent="0">
              <a:buNone/>
            </a:pPr>
            <a:endParaRPr lang="en-US" sz="950" dirty="0"/>
          </a:p>
          <a:p>
            <a:pPr marL="0" indent="0">
              <a:buNone/>
            </a:pPr>
            <a:r>
              <a:rPr lang="en-US" sz="950" dirty="0">
                <a:solidFill>
                  <a:srgbClr val="1E1E1E"/>
                </a:solidFill>
              </a:rPr>
              <a:t>After deployment of our system, the TinyML model learnt the city's water demand pattern. VFDs now drop pump speeds to 40% at off-peak hours — cutting energy use by 44%. The predictive maintenance module flagged bearing wear on 2 pumps before failure, preventing a city-wide water supply outage.</a:t>
            </a:r>
            <a:endParaRPr lang="en-US" sz="950" dirty="0"/>
          </a:p>
        </p:txBody>
      </p:sp>
      <p:sp>
        <p:nvSpPr>
          <p:cNvPr id="12" name="Shape 10"/>
          <p:cNvSpPr/>
          <p:nvPr/>
        </p:nvSpPr>
        <p:spPr>
          <a:xfrm>
            <a:off x="4526280" y="1472184"/>
            <a:ext cx="1389888" cy="1874520"/>
          </a:xfrm>
          <a:prstGeom prst="rect">
            <a:avLst/>
          </a:prstGeom>
          <a:solidFill>
            <a:srgbClr val="2C5F2D"/>
          </a:solidFill>
          <a:ln w="12700">
            <a:solidFill>
              <a:srgbClr val="6DB33F"/>
            </a:solidFill>
            <a:prstDash val="solid"/>
          </a:ln>
        </p:spPr>
      </p:sp>
      <p:sp>
        <p:nvSpPr>
          <p:cNvPr id="13" name="Text 11"/>
          <p:cNvSpPr/>
          <p:nvPr/>
        </p:nvSpPr>
        <p:spPr>
          <a:xfrm>
            <a:off x="4526280" y="1572768"/>
            <a:ext cx="1389888" cy="594360"/>
          </a:xfrm>
          <a:prstGeom prst="rect">
            <a:avLst/>
          </a:prstGeom>
          <a:noFill/>
          <a:ln/>
        </p:spPr>
        <p:txBody>
          <a:bodyPr wrap="square" rtlCol="0" anchor="ctr"/>
          <a:lstStyle/>
          <a:p>
            <a:pPr marL="0" indent="0" algn="ctr">
              <a:buNone/>
            </a:pPr>
            <a:r>
              <a:rPr lang="en-US" sz="2600" b="1" dirty="0">
                <a:solidFill>
                  <a:srgbClr val="6DB33F"/>
                </a:solidFill>
              </a:rPr>
              <a:t>44%</a:t>
            </a:r>
            <a:endParaRPr lang="en-US" sz="2600" dirty="0"/>
          </a:p>
        </p:txBody>
      </p:sp>
      <p:sp>
        <p:nvSpPr>
          <p:cNvPr id="14" name="Text 12"/>
          <p:cNvSpPr/>
          <p:nvPr/>
        </p:nvSpPr>
        <p:spPr>
          <a:xfrm>
            <a:off x="4526280" y="2194560"/>
            <a:ext cx="1389888" cy="256032"/>
          </a:xfrm>
          <a:prstGeom prst="rect">
            <a:avLst/>
          </a:prstGeom>
          <a:noFill/>
          <a:ln/>
        </p:spPr>
        <p:txBody>
          <a:bodyPr wrap="square" rtlCol="0" anchor="ctr"/>
          <a:lstStyle/>
          <a:p>
            <a:pPr marL="0" indent="0" algn="ctr">
              <a:buNone/>
            </a:pPr>
            <a:r>
              <a:rPr lang="en-US" sz="950" b="1" dirty="0">
                <a:solidFill>
                  <a:srgbClr val="FFFFFF"/>
                </a:solidFill>
              </a:rPr>
              <a:t>Energy Reduction</a:t>
            </a:r>
            <a:endParaRPr lang="en-US" sz="950" dirty="0"/>
          </a:p>
        </p:txBody>
      </p:sp>
      <p:sp>
        <p:nvSpPr>
          <p:cNvPr id="15" name="Text 13"/>
          <p:cNvSpPr/>
          <p:nvPr/>
        </p:nvSpPr>
        <p:spPr>
          <a:xfrm>
            <a:off x="4572000" y="2468880"/>
            <a:ext cx="1298448" cy="777240"/>
          </a:xfrm>
          <a:prstGeom prst="rect">
            <a:avLst/>
          </a:prstGeom>
          <a:noFill/>
          <a:ln/>
        </p:spPr>
        <p:txBody>
          <a:bodyPr wrap="square" rtlCol="0" anchor="t"/>
          <a:lstStyle/>
          <a:p>
            <a:pPr marL="0" indent="0" algn="ctr">
              <a:buNone/>
            </a:pPr>
            <a:r>
              <a:rPr lang="en-US" sz="850" dirty="0">
                <a:solidFill>
                  <a:srgbClr val="97BC62"/>
                </a:solidFill>
              </a:rPr>
              <a:t>Pumps run at 40% speed during off-peak hours</a:t>
            </a:r>
            <a:endParaRPr lang="en-US" sz="850" dirty="0"/>
          </a:p>
        </p:txBody>
      </p:sp>
      <p:sp>
        <p:nvSpPr>
          <p:cNvPr id="16" name="Shape 14"/>
          <p:cNvSpPr/>
          <p:nvPr/>
        </p:nvSpPr>
        <p:spPr>
          <a:xfrm>
            <a:off x="6035040" y="1472184"/>
            <a:ext cx="1389888" cy="1874520"/>
          </a:xfrm>
          <a:prstGeom prst="rect">
            <a:avLst/>
          </a:prstGeom>
          <a:solidFill>
            <a:srgbClr val="2C5F2D"/>
          </a:solidFill>
          <a:ln w="12700">
            <a:solidFill>
              <a:srgbClr val="6DB33F"/>
            </a:solidFill>
            <a:prstDash val="solid"/>
          </a:ln>
        </p:spPr>
      </p:sp>
      <p:sp>
        <p:nvSpPr>
          <p:cNvPr id="17" name="Text 15"/>
          <p:cNvSpPr/>
          <p:nvPr/>
        </p:nvSpPr>
        <p:spPr>
          <a:xfrm>
            <a:off x="6035040" y="1572768"/>
            <a:ext cx="1389888" cy="594360"/>
          </a:xfrm>
          <a:prstGeom prst="rect">
            <a:avLst/>
          </a:prstGeom>
          <a:noFill/>
          <a:ln/>
        </p:spPr>
        <p:txBody>
          <a:bodyPr wrap="square" rtlCol="0" anchor="ctr"/>
          <a:lstStyle/>
          <a:p>
            <a:pPr marL="0" indent="0" algn="ctr">
              <a:buNone/>
            </a:pPr>
            <a:r>
              <a:rPr lang="en-US" sz="2600" b="1" dirty="0">
                <a:solidFill>
                  <a:srgbClr val="6DB33F"/>
                </a:solidFill>
              </a:rPr>
              <a:t>₹22L</a:t>
            </a:r>
            <a:endParaRPr lang="en-US" sz="2600" dirty="0"/>
          </a:p>
        </p:txBody>
      </p:sp>
      <p:sp>
        <p:nvSpPr>
          <p:cNvPr id="18" name="Text 16"/>
          <p:cNvSpPr/>
          <p:nvPr/>
        </p:nvSpPr>
        <p:spPr>
          <a:xfrm>
            <a:off x="6035040" y="2194560"/>
            <a:ext cx="1389888" cy="256032"/>
          </a:xfrm>
          <a:prstGeom prst="rect">
            <a:avLst/>
          </a:prstGeom>
          <a:noFill/>
          <a:ln/>
        </p:spPr>
        <p:txBody>
          <a:bodyPr wrap="square" rtlCol="0" anchor="ctr"/>
          <a:lstStyle/>
          <a:p>
            <a:pPr marL="0" indent="0" algn="ctr">
              <a:buNone/>
            </a:pPr>
            <a:r>
              <a:rPr lang="en-US" sz="950" b="1" dirty="0">
                <a:solidFill>
                  <a:srgbClr val="FFFFFF"/>
                </a:solidFill>
              </a:rPr>
              <a:t>Annual Savings</a:t>
            </a:r>
            <a:endParaRPr lang="en-US" sz="950" dirty="0"/>
          </a:p>
        </p:txBody>
      </p:sp>
      <p:sp>
        <p:nvSpPr>
          <p:cNvPr id="19" name="Text 17"/>
          <p:cNvSpPr/>
          <p:nvPr/>
        </p:nvSpPr>
        <p:spPr>
          <a:xfrm>
            <a:off x="6080760" y="2468880"/>
            <a:ext cx="1298448" cy="777240"/>
          </a:xfrm>
          <a:prstGeom prst="rect">
            <a:avLst/>
          </a:prstGeom>
          <a:noFill/>
          <a:ln/>
        </p:spPr>
        <p:txBody>
          <a:bodyPr wrap="square" rtlCol="0" anchor="t"/>
          <a:lstStyle/>
          <a:p>
            <a:pPr marL="0" indent="0" algn="ctr">
              <a:buNone/>
            </a:pPr>
            <a:r>
              <a:rPr lang="en-US" sz="850" dirty="0">
                <a:solidFill>
                  <a:srgbClr val="97BC62"/>
                </a:solidFill>
              </a:rPr>
              <a:t>On a system installed for ₹5.4 Lakh total cost</a:t>
            </a:r>
            <a:endParaRPr lang="en-US" sz="850" dirty="0"/>
          </a:p>
        </p:txBody>
      </p:sp>
      <p:sp>
        <p:nvSpPr>
          <p:cNvPr id="20" name="Shape 18"/>
          <p:cNvSpPr/>
          <p:nvPr/>
        </p:nvSpPr>
        <p:spPr>
          <a:xfrm>
            <a:off x="7543800" y="1472184"/>
            <a:ext cx="1389888" cy="1874520"/>
          </a:xfrm>
          <a:prstGeom prst="rect">
            <a:avLst/>
          </a:prstGeom>
          <a:solidFill>
            <a:srgbClr val="2C5F2D"/>
          </a:solidFill>
          <a:ln w="12700">
            <a:solidFill>
              <a:srgbClr val="6DB33F"/>
            </a:solidFill>
            <a:prstDash val="solid"/>
          </a:ln>
        </p:spPr>
      </p:sp>
      <p:sp>
        <p:nvSpPr>
          <p:cNvPr id="21" name="Text 19"/>
          <p:cNvSpPr/>
          <p:nvPr/>
        </p:nvSpPr>
        <p:spPr>
          <a:xfrm>
            <a:off x="7543800" y="1572768"/>
            <a:ext cx="1389888" cy="594360"/>
          </a:xfrm>
          <a:prstGeom prst="rect">
            <a:avLst/>
          </a:prstGeom>
          <a:noFill/>
          <a:ln/>
        </p:spPr>
        <p:txBody>
          <a:bodyPr wrap="square" rtlCol="0" anchor="ctr"/>
          <a:lstStyle/>
          <a:p>
            <a:pPr marL="0" indent="0" algn="ctr">
              <a:buNone/>
            </a:pPr>
            <a:r>
              <a:rPr lang="en-US" sz="2600" b="1" dirty="0">
                <a:solidFill>
                  <a:srgbClr val="6DB33F"/>
                </a:solidFill>
              </a:rPr>
              <a:t>2</a:t>
            </a:r>
            <a:endParaRPr lang="en-US" sz="2600" dirty="0"/>
          </a:p>
        </p:txBody>
      </p:sp>
      <p:sp>
        <p:nvSpPr>
          <p:cNvPr id="22" name="Text 20"/>
          <p:cNvSpPr/>
          <p:nvPr/>
        </p:nvSpPr>
        <p:spPr>
          <a:xfrm>
            <a:off x="7543800" y="2194560"/>
            <a:ext cx="1389888" cy="256032"/>
          </a:xfrm>
          <a:prstGeom prst="rect">
            <a:avLst/>
          </a:prstGeom>
          <a:noFill/>
          <a:ln/>
        </p:spPr>
        <p:txBody>
          <a:bodyPr wrap="square" rtlCol="0" anchor="ctr"/>
          <a:lstStyle/>
          <a:p>
            <a:pPr marL="0" indent="0" algn="ctr">
              <a:buNone/>
            </a:pPr>
            <a:r>
              <a:rPr lang="en-US" sz="950" b="1" dirty="0">
                <a:solidFill>
                  <a:srgbClr val="FFFFFF"/>
                </a:solidFill>
              </a:rPr>
              <a:t>Failures Prevented</a:t>
            </a:r>
            <a:endParaRPr lang="en-US" sz="950" dirty="0"/>
          </a:p>
        </p:txBody>
      </p:sp>
      <p:sp>
        <p:nvSpPr>
          <p:cNvPr id="23" name="Text 21"/>
          <p:cNvSpPr/>
          <p:nvPr/>
        </p:nvSpPr>
        <p:spPr>
          <a:xfrm>
            <a:off x="7589520" y="2468880"/>
            <a:ext cx="1298448" cy="777240"/>
          </a:xfrm>
          <a:prstGeom prst="rect">
            <a:avLst/>
          </a:prstGeom>
          <a:noFill/>
          <a:ln/>
        </p:spPr>
        <p:txBody>
          <a:bodyPr wrap="square" rtlCol="0" anchor="t"/>
          <a:lstStyle/>
          <a:p>
            <a:pPr marL="0" indent="0" algn="ctr">
              <a:buNone/>
            </a:pPr>
            <a:r>
              <a:rPr lang="en-US" sz="850" dirty="0">
                <a:solidFill>
                  <a:srgbClr val="97BC62"/>
                </a:solidFill>
              </a:rPr>
              <a:t>Predictive alerts saved ₹8L in emergency repairs</a:t>
            </a:r>
            <a:endParaRPr lang="en-US" sz="850" dirty="0"/>
          </a:p>
        </p:txBody>
      </p:sp>
      <p:sp>
        <p:nvSpPr>
          <p:cNvPr id="24" name="Shape 22"/>
          <p:cNvSpPr/>
          <p:nvPr/>
        </p:nvSpPr>
        <p:spPr>
          <a:xfrm>
            <a:off x="274320" y="3447288"/>
            <a:ext cx="8595360" cy="292608"/>
          </a:xfrm>
          <a:prstGeom prst="rect">
            <a:avLst/>
          </a:prstGeom>
          <a:solidFill>
            <a:srgbClr val="2C5F2D"/>
          </a:solidFill>
          <a:ln w="12700">
            <a:solidFill>
              <a:srgbClr val="2C5F2D"/>
            </a:solidFill>
            <a:prstDash val="solid"/>
          </a:ln>
        </p:spPr>
      </p:sp>
      <p:sp>
        <p:nvSpPr>
          <p:cNvPr id="25" name="Text 23"/>
          <p:cNvSpPr/>
          <p:nvPr/>
        </p:nvSpPr>
        <p:spPr>
          <a:xfrm>
            <a:off x="365760" y="3447288"/>
            <a:ext cx="8412480" cy="292608"/>
          </a:xfrm>
          <a:prstGeom prst="rect">
            <a:avLst/>
          </a:prstGeom>
          <a:noFill/>
          <a:ln/>
        </p:spPr>
        <p:txBody>
          <a:bodyPr wrap="square" rtlCol="0" anchor="ctr"/>
          <a:lstStyle/>
          <a:p>
            <a:pPr marL="0" indent="0">
              <a:buNone/>
            </a:pPr>
            <a:r>
              <a:rPr lang="en-US" sz="1050" b="1" dirty="0">
                <a:solidFill>
                  <a:srgbClr val="FFFFFF"/>
                </a:solidFill>
              </a:rPr>
              <a:t>NATIONAL SCALE — If Deployed Across India's 50,000 Eligible Factories</a:t>
            </a:r>
            <a:endParaRPr lang="en-US" sz="1050" dirty="0"/>
          </a:p>
        </p:txBody>
      </p:sp>
      <p:sp>
        <p:nvSpPr>
          <p:cNvPr id="26" name="Shape 24"/>
          <p:cNvSpPr/>
          <p:nvPr/>
        </p:nvSpPr>
        <p:spPr>
          <a:xfrm>
            <a:off x="274320" y="3813048"/>
            <a:ext cx="2011680" cy="114300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27" name="Shape 25"/>
          <p:cNvSpPr/>
          <p:nvPr/>
        </p:nvSpPr>
        <p:spPr>
          <a:xfrm>
            <a:off x="274320" y="3813048"/>
            <a:ext cx="2011680" cy="64008"/>
          </a:xfrm>
          <a:prstGeom prst="rect">
            <a:avLst/>
          </a:prstGeom>
          <a:solidFill>
            <a:srgbClr val="6DB33F"/>
          </a:solidFill>
          <a:ln w="12700">
            <a:solidFill>
              <a:srgbClr val="6DB33F"/>
            </a:solidFill>
            <a:prstDash val="solid"/>
          </a:ln>
        </p:spPr>
      </p:sp>
      <p:sp>
        <p:nvSpPr>
          <p:cNvPr id="28" name="Text 26"/>
          <p:cNvSpPr/>
          <p:nvPr/>
        </p:nvSpPr>
        <p:spPr>
          <a:xfrm>
            <a:off x="274320" y="3886200"/>
            <a:ext cx="2011680" cy="475488"/>
          </a:xfrm>
          <a:prstGeom prst="rect">
            <a:avLst/>
          </a:prstGeom>
          <a:noFill/>
          <a:ln/>
        </p:spPr>
        <p:txBody>
          <a:bodyPr wrap="square" rtlCol="0" anchor="ctr"/>
          <a:lstStyle/>
          <a:p>
            <a:pPr marL="0" indent="0" algn="ctr">
              <a:buNone/>
            </a:pPr>
            <a:r>
              <a:rPr lang="en-US" sz="1800" b="1" dirty="0">
                <a:solidFill>
                  <a:srgbClr val="2C5F2D"/>
                </a:solidFill>
              </a:rPr>
              <a:t>₹50,000 Cr</a:t>
            </a:r>
            <a:endParaRPr lang="en-US" sz="1800" dirty="0"/>
          </a:p>
        </p:txBody>
      </p:sp>
      <p:sp>
        <p:nvSpPr>
          <p:cNvPr id="29" name="Text 27"/>
          <p:cNvSpPr/>
          <p:nvPr/>
        </p:nvSpPr>
        <p:spPr>
          <a:xfrm>
            <a:off x="338328" y="4370832"/>
            <a:ext cx="1901952" cy="530352"/>
          </a:xfrm>
          <a:prstGeom prst="rect">
            <a:avLst/>
          </a:prstGeom>
          <a:noFill/>
          <a:ln/>
        </p:spPr>
        <p:txBody>
          <a:bodyPr wrap="square" rtlCol="0" anchor="t"/>
          <a:lstStyle/>
          <a:p>
            <a:pPr marL="0" indent="0" algn="ctr">
              <a:buNone/>
            </a:pPr>
            <a:r>
              <a:rPr lang="en-US" sz="900" dirty="0">
                <a:solidFill>
                  <a:srgbClr val="1E1E1E"/>
                </a:solidFill>
              </a:rPr>
              <a:t>Annual electricity</a:t>
            </a:r>
            <a:endParaRPr lang="en-US" sz="900" dirty="0"/>
          </a:p>
          <a:p>
            <a:pPr marL="0" indent="0" algn="ctr">
              <a:buNone/>
            </a:pPr>
            <a:r>
              <a:rPr lang="en-US" sz="900" dirty="0">
                <a:solidFill>
                  <a:srgbClr val="1E1E1E"/>
                </a:solidFill>
              </a:rPr>
              <a:t>cost saved nationally</a:t>
            </a:r>
            <a:endParaRPr lang="en-US" sz="900" dirty="0"/>
          </a:p>
        </p:txBody>
      </p:sp>
      <p:sp>
        <p:nvSpPr>
          <p:cNvPr id="30" name="Shape 28"/>
          <p:cNvSpPr/>
          <p:nvPr/>
        </p:nvSpPr>
        <p:spPr>
          <a:xfrm>
            <a:off x="2450592" y="3813048"/>
            <a:ext cx="2011680" cy="114300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31" name="Shape 29"/>
          <p:cNvSpPr/>
          <p:nvPr/>
        </p:nvSpPr>
        <p:spPr>
          <a:xfrm>
            <a:off x="2450592" y="3813048"/>
            <a:ext cx="2011680" cy="64008"/>
          </a:xfrm>
          <a:prstGeom prst="rect">
            <a:avLst/>
          </a:prstGeom>
          <a:solidFill>
            <a:srgbClr val="6DB33F"/>
          </a:solidFill>
          <a:ln w="12700">
            <a:solidFill>
              <a:srgbClr val="6DB33F"/>
            </a:solidFill>
            <a:prstDash val="solid"/>
          </a:ln>
        </p:spPr>
      </p:sp>
      <p:sp>
        <p:nvSpPr>
          <p:cNvPr id="32" name="Text 30"/>
          <p:cNvSpPr/>
          <p:nvPr/>
        </p:nvSpPr>
        <p:spPr>
          <a:xfrm>
            <a:off x="2450592" y="3886200"/>
            <a:ext cx="2011680" cy="475488"/>
          </a:xfrm>
          <a:prstGeom prst="rect">
            <a:avLst/>
          </a:prstGeom>
          <a:noFill/>
          <a:ln/>
        </p:spPr>
        <p:txBody>
          <a:bodyPr wrap="square" rtlCol="0" anchor="ctr"/>
          <a:lstStyle/>
          <a:p>
            <a:pPr marL="0" indent="0" algn="ctr">
              <a:buNone/>
            </a:pPr>
            <a:r>
              <a:rPr lang="en-US" sz="1800" b="1" dirty="0">
                <a:solidFill>
                  <a:srgbClr val="2C5F2D"/>
                </a:solidFill>
              </a:rPr>
              <a:t>40 Mt</a:t>
            </a:r>
            <a:endParaRPr lang="en-US" sz="1800" dirty="0"/>
          </a:p>
        </p:txBody>
      </p:sp>
      <p:sp>
        <p:nvSpPr>
          <p:cNvPr id="33" name="Text 31"/>
          <p:cNvSpPr/>
          <p:nvPr/>
        </p:nvSpPr>
        <p:spPr>
          <a:xfrm>
            <a:off x="2514600" y="4370832"/>
            <a:ext cx="1901952" cy="530352"/>
          </a:xfrm>
          <a:prstGeom prst="rect">
            <a:avLst/>
          </a:prstGeom>
          <a:noFill/>
          <a:ln/>
        </p:spPr>
        <p:txBody>
          <a:bodyPr wrap="square" rtlCol="0" anchor="t"/>
          <a:lstStyle/>
          <a:p>
            <a:pPr marL="0" indent="0" algn="ctr">
              <a:buNone/>
            </a:pPr>
            <a:r>
              <a:rPr lang="en-US" sz="900" dirty="0">
                <a:solidFill>
                  <a:srgbClr val="1E1E1E"/>
                </a:solidFill>
              </a:rPr>
              <a:t>CO₂ avoided per year</a:t>
            </a:r>
            <a:endParaRPr lang="en-US" sz="900" dirty="0"/>
          </a:p>
          <a:p>
            <a:pPr marL="0" indent="0" algn="ctr">
              <a:buNone/>
            </a:pPr>
            <a:r>
              <a:rPr lang="en-US" sz="900" dirty="0">
                <a:solidFill>
                  <a:srgbClr val="1E1E1E"/>
                </a:solidFill>
              </a:rPr>
              <a:t>(= planting 1.8B trees)</a:t>
            </a:r>
            <a:endParaRPr lang="en-US" sz="900" dirty="0"/>
          </a:p>
        </p:txBody>
      </p:sp>
      <p:sp>
        <p:nvSpPr>
          <p:cNvPr id="34" name="Shape 32"/>
          <p:cNvSpPr/>
          <p:nvPr/>
        </p:nvSpPr>
        <p:spPr>
          <a:xfrm>
            <a:off x="4626864" y="3813048"/>
            <a:ext cx="2011680" cy="114300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35" name="Shape 33"/>
          <p:cNvSpPr/>
          <p:nvPr/>
        </p:nvSpPr>
        <p:spPr>
          <a:xfrm>
            <a:off x="4626864" y="3813048"/>
            <a:ext cx="2011680" cy="64008"/>
          </a:xfrm>
          <a:prstGeom prst="rect">
            <a:avLst/>
          </a:prstGeom>
          <a:solidFill>
            <a:srgbClr val="6DB33F"/>
          </a:solidFill>
          <a:ln w="12700">
            <a:solidFill>
              <a:srgbClr val="6DB33F"/>
            </a:solidFill>
            <a:prstDash val="solid"/>
          </a:ln>
        </p:spPr>
      </p:sp>
      <p:sp>
        <p:nvSpPr>
          <p:cNvPr id="36" name="Text 34"/>
          <p:cNvSpPr/>
          <p:nvPr/>
        </p:nvSpPr>
        <p:spPr>
          <a:xfrm>
            <a:off x="4626864" y="3886200"/>
            <a:ext cx="2011680" cy="475488"/>
          </a:xfrm>
          <a:prstGeom prst="rect">
            <a:avLst/>
          </a:prstGeom>
          <a:noFill/>
          <a:ln/>
        </p:spPr>
        <p:txBody>
          <a:bodyPr wrap="square" rtlCol="0" anchor="ctr"/>
          <a:lstStyle/>
          <a:p>
            <a:pPr marL="0" indent="0" algn="ctr">
              <a:buNone/>
            </a:pPr>
            <a:r>
              <a:rPr lang="en-US" sz="1800" b="1" dirty="0">
                <a:solidFill>
                  <a:srgbClr val="2C5F2D"/>
                </a:solidFill>
              </a:rPr>
              <a:t>2 Crore+</a:t>
            </a:r>
            <a:endParaRPr lang="en-US" sz="1800" dirty="0"/>
          </a:p>
        </p:txBody>
      </p:sp>
      <p:sp>
        <p:nvSpPr>
          <p:cNvPr id="37" name="Text 35"/>
          <p:cNvSpPr/>
          <p:nvPr/>
        </p:nvSpPr>
        <p:spPr>
          <a:xfrm>
            <a:off x="4690872" y="4370832"/>
            <a:ext cx="1901952" cy="530352"/>
          </a:xfrm>
          <a:prstGeom prst="rect">
            <a:avLst/>
          </a:prstGeom>
          <a:noFill/>
          <a:ln/>
        </p:spPr>
        <p:txBody>
          <a:bodyPr wrap="square" rtlCol="0" anchor="t"/>
          <a:lstStyle/>
          <a:p>
            <a:pPr marL="0" indent="0" algn="ctr">
              <a:buNone/>
            </a:pPr>
            <a:r>
              <a:rPr lang="en-US" sz="900" dirty="0">
                <a:solidFill>
                  <a:srgbClr val="1E1E1E"/>
                </a:solidFill>
              </a:rPr>
              <a:t>Workers in safer</a:t>
            </a:r>
            <a:endParaRPr lang="en-US" sz="900" dirty="0"/>
          </a:p>
          <a:p>
            <a:pPr marL="0" indent="0" algn="ctr">
              <a:buNone/>
            </a:pPr>
            <a:r>
              <a:rPr lang="en-US" sz="900" dirty="0">
                <a:solidFill>
                  <a:srgbClr val="1E1E1E"/>
                </a:solidFill>
              </a:rPr>
              <a:t>factories</a:t>
            </a:r>
            <a:endParaRPr lang="en-US" sz="900" dirty="0"/>
          </a:p>
        </p:txBody>
      </p:sp>
      <p:sp>
        <p:nvSpPr>
          <p:cNvPr id="38" name="Shape 36"/>
          <p:cNvSpPr/>
          <p:nvPr/>
        </p:nvSpPr>
        <p:spPr>
          <a:xfrm>
            <a:off x="6803136" y="3813048"/>
            <a:ext cx="2011680" cy="1143000"/>
          </a:xfrm>
          <a:prstGeom prst="rect">
            <a:avLst/>
          </a:prstGeom>
          <a:solidFill>
            <a:srgbClr val="FFFFFF"/>
          </a:solidFill>
          <a:ln w="6350">
            <a:solidFill>
              <a:srgbClr val="DDDDDD"/>
            </a:solidFill>
            <a:prstDash val="solid"/>
          </a:ln>
          <a:effectLst>
            <a:outerShdw blurRad="50800" dist="12700" dir="8100000" algn="bl" rotWithShape="0">
              <a:srgbClr val="000000">
                <a:alpha val="7000"/>
              </a:srgbClr>
            </a:outerShdw>
          </a:effectLst>
        </p:spPr>
      </p:sp>
      <p:sp>
        <p:nvSpPr>
          <p:cNvPr id="39" name="Shape 37"/>
          <p:cNvSpPr/>
          <p:nvPr/>
        </p:nvSpPr>
        <p:spPr>
          <a:xfrm>
            <a:off x="6803136" y="3813048"/>
            <a:ext cx="2011680" cy="64008"/>
          </a:xfrm>
          <a:prstGeom prst="rect">
            <a:avLst/>
          </a:prstGeom>
          <a:solidFill>
            <a:srgbClr val="6DB33F"/>
          </a:solidFill>
          <a:ln w="12700">
            <a:solidFill>
              <a:srgbClr val="6DB33F"/>
            </a:solidFill>
            <a:prstDash val="solid"/>
          </a:ln>
        </p:spPr>
      </p:sp>
      <p:sp>
        <p:nvSpPr>
          <p:cNvPr id="40" name="Text 38"/>
          <p:cNvSpPr/>
          <p:nvPr/>
        </p:nvSpPr>
        <p:spPr>
          <a:xfrm>
            <a:off x="6803136" y="3886200"/>
            <a:ext cx="2011680" cy="475488"/>
          </a:xfrm>
          <a:prstGeom prst="rect">
            <a:avLst/>
          </a:prstGeom>
          <a:noFill/>
          <a:ln/>
        </p:spPr>
        <p:txBody>
          <a:bodyPr wrap="square" rtlCol="0" anchor="ctr"/>
          <a:lstStyle/>
          <a:p>
            <a:pPr marL="0" indent="0" algn="ctr">
              <a:buNone/>
            </a:pPr>
            <a:r>
              <a:rPr lang="en-US" sz="1800" b="1" dirty="0">
                <a:solidFill>
                  <a:srgbClr val="2C5F2D"/>
                </a:solidFill>
              </a:rPr>
              <a:t>Net Zero 2070</a:t>
            </a:r>
            <a:endParaRPr lang="en-US" sz="1800" dirty="0"/>
          </a:p>
        </p:txBody>
      </p:sp>
      <p:sp>
        <p:nvSpPr>
          <p:cNvPr id="41" name="Text 39"/>
          <p:cNvSpPr/>
          <p:nvPr/>
        </p:nvSpPr>
        <p:spPr>
          <a:xfrm>
            <a:off x="6867144" y="4370832"/>
            <a:ext cx="1901952" cy="530352"/>
          </a:xfrm>
          <a:prstGeom prst="rect">
            <a:avLst/>
          </a:prstGeom>
          <a:noFill/>
          <a:ln/>
        </p:spPr>
        <p:txBody>
          <a:bodyPr wrap="square" rtlCol="0" anchor="t"/>
          <a:lstStyle/>
          <a:p>
            <a:pPr marL="0" indent="0" algn="ctr">
              <a:buNone/>
            </a:pPr>
            <a:r>
              <a:rPr lang="en-US" sz="900" dirty="0">
                <a:solidFill>
                  <a:srgbClr val="1E1E1E"/>
                </a:solidFill>
              </a:rPr>
              <a:t>Directly aligned with</a:t>
            </a:r>
            <a:endParaRPr lang="en-US" sz="900" dirty="0"/>
          </a:p>
          <a:p>
            <a:pPr marL="0" indent="0" algn="ctr">
              <a:buNone/>
            </a:pPr>
            <a:r>
              <a:rPr lang="en-US" sz="900" dirty="0">
                <a:solidFill>
                  <a:srgbClr val="1E1E1E"/>
                </a:solidFill>
              </a:rPr>
              <a:t>India's climate target</a:t>
            </a:r>
            <a:endParaRPr lang="en-US" sz="900" dirty="0"/>
          </a:p>
        </p:txBody>
      </p:sp>
      <p:sp>
        <p:nvSpPr>
          <p:cNvPr id="42" name="Shape 40"/>
          <p:cNvSpPr/>
          <p:nvPr/>
        </p:nvSpPr>
        <p:spPr>
          <a:xfrm>
            <a:off x="274320" y="4700016"/>
            <a:ext cx="8595360" cy="338328"/>
          </a:xfrm>
          <a:prstGeom prst="rect">
            <a:avLst/>
          </a:prstGeom>
          <a:solidFill>
            <a:srgbClr val="F0F7F0"/>
          </a:solidFill>
          <a:ln w="10160">
            <a:solidFill>
              <a:srgbClr val="6DB33F"/>
            </a:solidFill>
            <a:prstDash val="solid"/>
          </a:ln>
        </p:spPr>
      </p:sp>
      <p:sp>
        <p:nvSpPr>
          <p:cNvPr id="43" name="Text 41"/>
          <p:cNvSpPr/>
          <p:nvPr/>
        </p:nvSpPr>
        <p:spPr>
          <a:xfrm>
            <a:off x="411480" y="4700016"/>
            <a:ext cx="8412480" cy="338328"/>
          </a:xfrm>
          <a:prstGeom prst="rect">
            <a:avLst/>
          </a:prstGeom>
          <a:noFill/>
          <a:ln/>
        </p:spPr>
        <p:txBody>
          <a:bodyPr wrap="square" rtlCol="0" anchor="ctr"/>
          <a:lstStyle/>
          <a:p>
            <a:pPr marL="0" indent="0">
              <a:buNone/>
            </a:pPr>
            <a:r>
              <a:rPr lang="en-US" sz="950" i="1" dirty="0">
                <a:solidFill>
                  <a:srgbClr val="2C5F2D"/>
                </a:solidFill>
              </a:rPr>
              <a:t>Industry 4.0 + AI-driven energy management is not the future — it is the present. Our system makes it accessible to every Indian factory, large or small.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C5F2D"/>
          </a:solidFill>
          <a:ln w="12700">
            <a:solidFill>
              <a:srgbClr val="2C5F2D"/>
            </a:solidFill>
            <a:prstDash val="solid"/>
          </a:ln>
        </p:spPr>
      </p:sp>
      <p:sp>
        <p:nvSpPr>
          <p:cNvPr id="3" name="Text 1"/>
          <p:cNvSpPr/>
          <p:nvPr/>
        </p:nvSpPr>
        <p:spPr>
          <a:xfrm>
            <a:off x="182880" y="0"/>
            <a:ext cx="6858000" cy="502920"/>
          </a:xfrm>
          <a:prstGeom prst="rect">
            <a:avLst/>
          </a:prstGeom>
          <a:noFill/>
          <a:ln/>
        </p:spPr>
        <p:txBody>
          <a:bodyPr wrap="square" rtlCol="0" anchor="ctr"/>
          <a:lstStyle/>
          <a:p>
            <a:pPr marL="0" indent="0" algn="l">
              <a:buNone/>
            </a:pPr>
            <a:r>
              <a:rPr lang="en-US" sz="1000" dirty="0">
                <a:solidFill>
                  <a:srgbClr val="FFFFFF"/>
                </a:solidFill>
              </a:rPr>
              <a:t>KLE TECH IEEE PES  |  IDEATHON – Powering Tomorrow 2026</a:t>
            </a:r>
            <a:endParaRPr lang="en-US" sz="1000" dirty="0"/>
          </a:p>
        </p:txBody>
      </p:sp>
      <p:sp>
        <p:nvSpPr>
          <p:cNvPr id="4" name="Text 2"/>
          <p:cNvSpPr/>
          <p:nvPr/>
        </p:nvSpPr>
        <p:spPr>
          <a:xfrm>
            <a:off x="6858000" y="0"/>
            <a:ext cx="2194560" cy="502920"/>
          </a:xfrm>
          <a:prstGeom prst="rect">
            <a:avLst/>
          </a:prstGeom>
          <a:noFill/>
          <a:ln/>
        </p:spPr>
        <p:txBody>
          <a:bodyPr wrap="square" rtlCol="0" anchor="ctr"/>
          <a:lstStyle/>
          <a:p>
            <a:pPr marL="0" indent="0" algn="r">
              <a:buNone/>
            </a:pPr>
            <a:r>
              <a:rPr lang="en-US" sz="1000" b="1" dirty="0">
                <a:solidFill>
                  <a:srgbClr val="6DB33F"/>
                </a:solidFill>
              </a:rPr>
              <a:t>Conclusion</a:t>
            </a:r>
            <a:endParaRPr lang="en-US" sz="1000" dirty="0"/>
          </a:p>
        </p:txBody>
      </p:sp>
      <p:sp>
        <p:nvSpPr>
          <p:cNvPr id="5" name="Text 3"/>
          <p:cNvSpPr/>
          <p:nvPr/>
        </p:nvSpPr>
        <p:spPr>
          <a:xfrm>
            <a:off x="365760" y="594360"/>
            <a:ext cx="8229600" cy="457200"/>
          </a:xfrm>
          <a:prstGeom prst="rect">
            <a:avLst/>
          </a:prstGeom>
          <a:noFill/>
          <a:ln/>
        </p:spPr>
        <p:txBody>
          <a:bodyPr wrap="square" rtlCol="0" anchor="ctr"/>
          <a:lstStyle/>
          <a:p>
            <a:pPr marL="0" indent="0" algn="ctr">
              <a:buNone/>
            </a:pPr>
            <a:r>
              <a:rPr lang="en-US" sz="2600" b="1" dirty="0">
                <a:solidFill>
                  <a:srgbClr val="2C5F2D"/>
                </a:solidFill>
              </a:rPr>
              <a:t>CONCLUSION</a:t>
            </a:r>
            <a:endParaRPr lang="en-US" sz="2600" dirty="0"/>
          </a:p>
        </p:txBody>
      </p:sp>
      <p:sp>
        <p:nvSpPr>
          <p:cNvPr id="6" name="Text 4"/>
          <p:cNvSpPr/>
          <p:nvPr/>
        </p:nvSpPr>
        <p:spPr>
          <a:xfrm>
            <a:off x="457200" y="1143000"/>
            <a:ext cx="8229600" cy="777240"/>
          </a:xfrm>
          <a:prstGeom prst="rect">
            <a:avLst/>
          </a:prstGeom>
          <a:noFill/>
          <a:ln/>
        </p:spPr>
        <p:txBody>
          <a:bodyPr wrap="square" rtlCol="0" anchor="ctr"/>
          <a:lstStyle/>
          <a:p>
            <a:pPr marL="0" indent="0" algn="ctr">
              <a:buNone/>
            </a:pPr>
            <a:r>
              <a:rPr lang="en-US" sz="1050" dirty="0">
                <a:solidFill>
                  <a:srgbClr val="1E1E1E"/>
                </a:solidFill>
              </a:rPr>
              <a:t>The AI-Powered Predictive Motor Energy Management System tackles one of India's largest sources of industrial energy waste. By integrating IoT sensing, TinyML prediction, PLC automation, digital twin monitoring, anomaly detection, and peak load scheduling — this solution delivers 20–40% measurable energy savings with a clear commercialisation path.</a:t>
            </a:r>
            <a:endParaRPr lang="en-US" sz="1050" dirty="0"/>
          </a:p>
        </p:txBody>
      </p:sp>
      <p:sp>
        <p:nvSpPr>
          <p:cNvPr id="7" name="Shape 5"/>
          <p:cNvSpPr/>
          <p:nvPr/>
        </p:nvSpPr>
        <p:spPr>
          <a:xfrm>
            <a:off x="365760" y="2057400"/>
            <a:ext cx="4023360" cy="1234440"/>
          </a:xfrm>
          <a:prstGeom prst="rect">
            <a:avLst/>
          </a:prstGeom>
          <a:solidFill>
            <a:srgbClr val="FFFFFF"/>
          </a:solidFill>
          <a:ln w="6350">
            <a:solidFill>
              <a:srgbClr val="DDDDDD"/>
            </a:solidFill>
            <a:prstDash val="solid"/>
          </a:ln>
          <a:effectLst>
            <a:outerShdw blurRad="50800" dist="12700" dir="8100000" algn="bl" rotWithShape="0">
              <a:srgbClr val="000000">
                <a:alpha val="8000"/>
              </a:srgbClr>
            </a:outerShdw>
          </a:effectLst>
        </p:spPr>
      </p:sp>
      <p:sp>
        <p:nvSpPr>
          <p:cNvPr id="8" name="Shape 6"/>
          <p:cNvSpPr/>
          <p:nvPr/>
        </p:nvSpPr>
        <p:spPr>
          <a:xfrm>
            <a:off x="475488" y="2148840"/>
            <a:ext cx="384048" cy="384048"/>
          </a:xfrm>
          <a:prstGeom prst="ellipse">
            <a:avLst/>
          </a:prstGeom>
          <a:solidFill>
            <a:srgbClr val="6DB33F"/>
          </a:solidFill>
          <a:ln w="12700">
            <a:solidFill>
              <a:srgbClr val="6DB33F"/>
            </a:solidFill>
            <a:prstDash val="solid"/>
          </a:ln>
        </p:spPr>
      </p:sp>
      <p:sp>
        <p:nvSpPr>
          <p:cNvPr id="9" name="Text 7"/>
          <p:cNvSpPr/>
          <p:nvPr/>
        </p:nvSpPr>
        <p:spPr>
          <a:xfrm>
            <a:off x="475488" y="2148840"/>
            <a:ext cx="384048" cy="384048"/>
          </a:xfrm>
          <a:prstGeom prst="rect">
            <a:avLst/>
          </a:prstGeom>
          <a:noFill/>
          <a:ln/>
        </p:spPr>
        <p:txBody>
          <a:bodyPr wrap="square" rtlCol="0" anchor="ctr"/>
          <a:lstStyle/>
          <a:p>
            <a:pPr marL="0" indent="0" algn="ctr">
              <a:buNone/>
            </a:pPr>
            <a:r>
              <a:rPr lang="en-US" sz="1100" b="1" dirty="0">
                <a:solidFill>
                  <a:srgbClr val="FFFFFF"/>
                </a:solidFill>
              </a:rPr>
              <a:t>01</a:t>
            </a:r>
            <a:endParaRPr lang="en-US" sz="1100" dirty="0"/>
          </a:p>
        </p:txBody>
      </p:sp>
      <p:sp>
        <p:nvSpPr>
          <p:cNvPr id="10" name="Text 8"/>
          <p:cNvSpPr/>
          <p:nvPr/>
        </p:nvSpPr>
        <p:spPr>
          <a:xfrm>
            <a:off x="932688" y="2148840"/>
            <a:ext cx="3337560" cy="347472"/>
          </a:xfrm>
          <a:prstGeom prst="rect">
            <a:avLst/>
          </a:prstGeom>
          <a:noFill/>
          <a:ln/>
        </p:spPr>
        <p:txBody>
          <a:bodyPr wrap="square" rtlCol="0" anchor="ctr"/>
          <a:lstStyle/>
          <a:p>
            <a:pPr marL="0" indent="0">
              <a:buNone/>
            </a:pPr>
            <a:r>
              <a:rPr lang="en-US" sz="1100" b="1" dirty="0">
                <a:solidFill>
                  <a:srgbClr val="2C5F2D"/>
                </a:solidFill>
              </a:rPr>
              <a:t>Technically Feasible</a:t>
            </a:r>
            <a:endParaRPr lang="en-US" sz="1100" dirty="0"/>
          </a:p>
        </p:txBody>
      </p:sp>
      <p:sp>
        <p:nvSpPr>
          <p:cNvPr id="11" name="Text 9"/>
          <p:cNvSpPr/>
          <p:nvPr/>
        </p:nvSpPr>
        <p:spPr>
          <a:xfrm>
            <a:off x="502920" y="2560320"/>
            <a:ext cx="3749040" cy="658368"/>
          </a:xfrm>
          <a:prstGeom prst="rect">
            <a:avLst/>
          </a:prstGeom>
          <a:noFill/>
          <a:ln/>
        </p:spPr>
        <p:txBody>
          <a:bodyPr wrap="square" rtlCol="0" anchor="t"/>
          <a:lstStyle/>
          <a:p>
            <a:pPr marL="0" indent="0">
              <a:buNone/>
            </a:pPr>
            <a:r>
              <a:rPr lang="en-US" sz="1000" dirty="0">
                <a:solidFill>
                  <a:srgbClr val="1E1E1E"/>
                </a:solidFill>
              </a:rPr>
              <a:t>Uses proven, commercially available components: ESP32, ACS712, Siemens PLC, TensorFlow Lite — no exotic hardware required.</a:t>
            </a:r>
            <a:endParaRPr lang="en-US" sz="1000" dirty="0"/>
          </a:p>
        </p:txBody>
      </p:sp>
      <p:sp>
        <p:nvSpPr>
          <p:cNvPr id="12" name="Shape 10"/>
          <p:cNvSpPr/>
          <p:nvPr/>
        </p:nvSpPr>
        <p:spPr>
          <a:xfrm>
            <a:off x="4709160" y="2057400"/>
            <a:ext cx="4023360" cy="1234440"/>
          </a:xfrm>
          <a:prstGeom prst="rect">
            <a:avLst/>
          </a:prstGeom>
          <a:solidFill>
            <a:srgbClr val="FFFFFF"/>
          </a:solidFill>
          <a:ln w="6350">
            <a:solidFill>
              <a:srgbClr val="DDDDDD"/>
            </a:solidFill>
            <a:prstDash val="solid"/>
          </a:ln>
          <a:effectLst>
            <a:outerShdw blurRad="50800" dist="12700" dir="8100000" algn="bl" rotWithShape="0">
              <a:srgbClr val="000000">
                <a:alpha val="8000"/>
              </a:srgbClr>
            </a:outerShdw>
          </a:effectLst>
        </p:spPr>
      </p:sp>
      <p:sp>
        <p:nvSpPr>
          <p:cNvPr id="13" name="Shape 11"/>
          <p:cNvSpPr/>
          <p:nvPr/>
        </p:nvSpPr>
        <p:spPr>
          <a:xfrm>
            <a:off x="4818888" y="2148840"/>
            <a:ext cx="384048" cy="384048"/>
          </a:xfrm>
          <a:prstGeom prst="ellipse">
            <a:avLst/>
          </a:prstGeom>
          <a:solidFill>
            <a:srgbClr val="6DB33F"/>
          </a:solidFill>
          <a:ln w="12700">
            <a:solidFill>
              <a:srgbClr val="6DB33F"/>
            </a:solidFill>
            <a:prstDash val="solid"/>
          </a:ln>
        </p:spPr>
      </p:sp>
      <p:sp>
        <p:nvSpPr>
          <p:cNvPr id="14" name="Text 12"/>
          <p:cNvSpPr/>
          <p:nvPr/>
        </p:nvSpPr>
        <p:spPr>
          <a:xfrm>
            <a:off x="4818888" y="2148840"/>
            <a:ext cx="384048" cy="384048"/>
          </a:xfrm>
          <a:prstGeom prst="rect">
            <a:avLst/>
          </a:prstGeom>
          <a:noFill/>
          <a:ln/>
        </p:spPr>
        <p:txBody>
          <a:bodyPr wrap="square" rtlCol="0" anchor="ctr"/>
          <a:lstStyle/>
          <a:p>
            <a:pPr marL="0" indent="0" algn="ctr">
              <a:buNone/>
            </a:pPr>
            <a:r>
              <a:rPr lang="en-US" sz="1100" b="1" dirty="0">
                <a:solidFill>
                  <a:srgbClr val="FFFFFF"/>
                </a:solidFill>
              </a:rPr>
              <a:t>02</a:t>
            </a:r>
            <a:endParaRPr lang="en-US" sz="1100" dirty="0"/>
          </a:p>
        </p:txBody>
      </p:sp>
      <p:sp>
        <p:nvSpPr>
          <p:cNvPr id="15" name="Text 13"/>
          <p:cNvSpPr/>
          <p:nvPr/>
        </p:nvSpPr>
        <p:spPr>
          <a:xfrm>
            <a:off x="5276088" y="2148840"/>
            <a:ext cx="3337560" cy="347472"/>
          </a:xfrm>
          <a:prstGeom prst="rect">
            <a:avLst/>
          </a:prstGeom>
          <a:noFill/>
          <a:ln/>
        </p:spPr>
        <p:txBody>
          <a:bodyPr wrap="square" rtlCol="0" anchor="ctr"/>
          <a:lstStyle/>
          <a:p>
            <a:pPr marL="0" indent="0">
              <a:buNone/>
            </a:pPr>
            <a:r>
              <a:rPr lang="en-US" sz="1100" b="1" dirty="0">
                <a:solidFill>
                  <a:srgbClr val="2C5F2D"/>
                </a:solidFill>
              </a:rPr>
              <a:t>Highly Innovative</a:t>
            </a:r>
            <a:endParaRPr lang="en-US" sz="1100" dirty="0"/>
          </a:p>
        </p:txBody>
      </p:sp>
      <p:sp>
        <p:nvSpPr>
          <p:cNvPr id="16" name="Text 14"/>
          <p:cNvSpPr/>
          <p:nvPr/>
        </p:nvSpPr>
        <p:spPr>
          <a:xfrm>
            <a:off x="4846320" y="2560320"/>
            <a:ext cx="3749040" cy="658368"/>
          </a:xfrm>
          <a:prstGeom prst="rect">
            <a:avLst/>
          </a:prstGeom>
          <a:noFill/>
          <a:ln/>
        </p:spPr>
        <p:txBody>
          <a:bodyPr wrap="square" rtlCol="0" anchor="t"/>
          <a:lstStyle/>
          <a:p>
            <a:pPr marL="0" indent="0">
              <a:buNone/>
            </a:pPr>
            <a:r>
              <a:rPr lang="en-US" sz="1000" dirty="0">
                <a:solidFill>
                  <a:srgbClr val="1E1E1E"/>
                </a:solidFill>
              </a:rPr>
              <a:t>Combines AI prediction + digital twin + anomaly detection — rare in student-level projects; matches industry-grade solutions.</a:t>
            </a:r>
            <a:endParaRPr lang="en-US" sz="1000" dirty="0"/>
          </a:p>
        </p:txBody>
      </p:sp>
      <p:sp>
        <p:nvSpPr>
          <p:cNvPr id="17" name="Shape 15"/>
          <p:cNvSpPr/>
          <p:nvPr/>
        </p:nvSpPr>
        <p:spPr>
          <a:xfrm>
            <a:off x="365760" y="3383280"/>
            <a:ext cx="4023360" cy="1234440"/>
          </a:xfrm>
          <a:prstGeom prst="rect">
            <a:avLst/>
          </a:prstGeom>
          <a:solidFill>
            <a:srgbClr val="FFFFFF"/>
          </a:solidFill>
          <a:ln w="6350">
            <a:solidFill>
              <a:srgbClr val="DDDDDD"/>
            </a:solidFill>
            <a:prstDash val="solid"/>
          </a:ln>
          <a:effectLst>
            <a:outerShdw blurRad="50800" dist="12700" dir="8100000" algn="bl" rotWithShape="0">
              <a:srgbClr val="000000">
                <a:alpha val="8000"/>
              </a:srgbClr>
            </a:outerShdw>
          </a:effectLst>
        </p:spPr>
      </p:sp>
      <p:sp>
        <p:nvSpPr>
          <p:cNvPr id="18" name="Shape 16"/>
          <p:cNvSpPr/>
          <p:nvPr/>
        </p:nvSpPr>
        <p:spPr>
          <a:xfrm>
            <a:off x="475488" y="3474720"/>
            <a:ext cx="384048" cy="384048"/>
          </a:xfrm>
          <a:prstGeom prst="ellipse">
            <a:avLst/>
          </a:prstGeom>
          <a:solidFill>
            <a:srgbClr val="6DB33F"/>
          </a:solidFill>
          <a:ln w="12700">
            <a:solidFill>
              <a:srgbClr val="6DB33F"/>
            </a:solidFill>
            <a:prstDash val="solid"/>
          </a:ln>
        </p:spPr>
      </p:sp>
      <p:sp>
        <p:nvSpPr>
          <p:cNvPr id="19" name="Text 17"/>
          <p:cNvSpPr/>
          <p:nvPr/>
        </p:nvSpPr>
        <p:spPr>
          <a:xfrm>
            <a:off x="475488" y="3474720"/>
            <a:ext cx="384048" cy="384048"/>
          </a:xfrm>
          <a:prstGeom prst="rect">
            <a:avLst/>
          </a:prstGeom>
          <a:noFill/>
          <a:ln/>
        </p:spPr>
        <p:txBody>
          <a:bodyPr wrap="square" rtlCol="0" anchor="ctr"/>
          <a:lstStyle/>
          <a:p>
            <a:pPr marL="0" indent="0" algn="ctr">
              <a:buNone/>
            </a:pPr>
            <a:r>
              <a:rPr lang="en-US" sz="1100" b="1" dirty="0">
                <a:solidFill>
                  <a:srgbClr val="FFFFFF"/>
                </a:solidFill>
              </a:rPr>
              <a:t>03</a:t>
            </a:r>
            <a:endParaRPr lang="en-US" sz="1100" dirty="0"/>
          </a:p>
        </p:txBody>
      </p:sp>
      <p:sp>
        <p:nvSpPr>
          <p:cNvPr id="20" name="Text 18"/>
          <p:cNvSpPr/>
          <p:nvPr/>
        </p:nvSpPr>
        <p:spPr>
          <a:xfrm>
            <a:off x="932688" y="3474720"/>
            <a:ext cx="3337560" cy="347472"/>
          </a:xfrm>
          <a:prstGeom prst="rect">
            <a:avLst/>
          </a:prstGeom>
          <a:noFill/>
          <a:ln/>
        </p:spPr>
        <p:txBody>
          <a:bodyPr wrap="square" rtlCol="0" anchor="ctr"/>
          <a:lstStyle/>
          <a:p>
            <a:pPr marL="0" indent="0">
              <a:buNone/>
            </a:pPr>
            <a:r>
              <a:rPr lang="en-US" sz="1100" b="1" dirty="0">
                <a:solidFill>
                  <a:srgbClr val="2C5F2D"/>
                </a:solidFill>
              </a:rPr>
              <a:t>Real-World Ready</a:t>
            </a:r>
            <a:endParaRPr lang="en-US" sz="1100" dirty="0"/>
          </a:p>
        </p:txBody>
      </p:sp>
      <p:sp>
        <p:nvSpPr>
          <p:cNvPr id="21" name="Text 19"/>
          <p:cNvSpPr/>
          <p:nvPr/>
        </p:nvSpPr>
        <p:spPr>
          <a:xfrm>
            <a:off x="502920" y="3886200"/>
            <a:ext cx="3749040" cy="658368"/>
          </a:xfrm>
          <a:prstGeom prst="rect">
            <a:avLst/>
          </a:prstGeom>
          <a:noFill/>
          <a:ln/>
        </p:spPr>
        <p:txBody>
          <a:bodyPr wrap="square" rtlCol="0" anchor="t"/>
          <a:lstStyle/>
          <a:p>
            <a:pPr marL="0" indent="0">
              <a:buNone/>
            </a:pPr>
            <a:r>
              <a:rPr lang="en-US" sz="1000" dirty="0">
                <a:solidFill>
                  <a:srgbClr val="1E1E1E"/>
                </a:solidFill>
              </a:rPr>
              <a:t>Directly applicable to any Indian factory. Scalable from campus pilot to national deployment under Smart Manufacturing Mission.</a:t>
            </a:r>
            <a:endParaRPr lang="en-US" sz="1000" dirty="0"/>
          </a:p>
        </p:txBody>
      </p:sp>
      <p:sp>
        <p:nvSpPr>
          <p:cNvPr id="22" name="Shape 20"/>
          <p:cNvSpPr/>
          <p:nvPr/>
        </p:nvSpPr>
        <p:spPr>
          <a:xfrm>
            <a:off x="4709160" y="3383280"/>
            <a:ext cx="4023360" cy="1234440"/>
          </a:xfrm>
          <a:prstGeom prst="rect">
            <a:avLst/>
          </a:prstGeom>
          <a:solidFill>
            <a:srgbClr val="FFFFFF"/>
          </a:solidFill>
          <a:ln w="6350">
            <a:solidFill>
              <a:srgbClr val="DDDDDD"/>
            </a:solidFill>
            <a:prstDash val="solid"/>
          </a:ln>
          <a:effectLst>
            <a:outerShdw blurRad="50800" dist="12700" dir="8100000" algn="bl" rotWithShape="0">
              <a:srgbClr val="000000">
                <a:alpha val="8000"/>
              </a:srgbClr>
            </a:outerShdw>
          </a:effectLst>
        </p:spPr>
      </p:sp>
      <p:sp>
        <p:nvSpPr>
          <p:cNvPr id="23" name="Shape 21"/>
          <p:cNvSpPr/>
          <p:nvPr/>
        </p:nvSpPr>
        <p:spPr>
          <a:xfrm>
            <a:off x="4818888" y="3474720"/>
            <a:ext cx="384048" cy="384048"/>
          </a:xfrm>
          <a:prstGeom prst="ellipse">
            <a:avLst/>
          </a:prstGeom>
          <a:solidFill>
            <a:srgbClr val="6DB33F"/>
          </a:solidFill>
          <a:ln w="12700">
            <a:solidFill>
              <a:srgbClr val="6DB33F"/>
            </a:solidFill>
            <a:prstDash val="solid"/>
          </a:ln>
        </p:spPr>
      </p:sp>
      <p:sp>
        <p:nvSpPr>
          <p:cNvPr id="24" name="Text 22"/>
          <p:cNvSpPr/>
          <p:nvPr/>
        </p:nvSpPr>
        <p:spPr>
          <a:xfrm>
            <a:off x="4818888" y="3474720"/>
            <a:ext cx="384048" cy="384048"/>
          </a:xfrm>
          <a:prstGeom prst="rect">
            <a:avLst/>
          </a:prstGeom>
          <a:noFill/>
          <a:ln/>
        </p:spPr>
        <p:txBody>
          <a:bodyPr wrap="square" rtlCol="0" anchor="ctr"/>
          <a:lstStyle/>
          <a:p>
            <a:pPr marL="0" indent="0" algn="ctr">
              <a:buNone/>
            </a:pPr>
            <a:r>
              <a:rPr lang="en-US" sz="1100" b="1" dirty="0">
                <a:solidFill>
                  <a:srgbClr val="FFFFFF"/>
                </a:solidFill>
              </a:rPr>
              <a:t>04</a:t>
            </a:r>
            <a:endParaRPr lang="en-US" sz="1100" dirty="0"/>
          </a:p>
        </p:txBody>
      </p:sp>
      <p:sp>
        <p:nvSpPr>
          <p:cNvPr id="25" name="Text 23"/>
          <p:cNvSpPr/>
          <p:nvPr/>
        </p:nvSpPr>
        <p:spPr>
          <a:xfrm>
            <a:off x="5276088" y="3474720"/>
            <a:ext cx="3337560" cy="347472"/>
          </a:xfrm>
          <a:prstGeom prst="rect">
            <a:avLst/>
          </a:prstGeom>
          <a:noFill/>
          <a:ln/>
        </p:spPr>
        <p:txBody>
          <a:bodyPr wrap="square" rtlCol="0" anchor="ctr"/>
          <a:lstStyle/>
          <a:p>
            <a:pPr marL="0" indent="0">
              <a:buNone/>
            </a:pPr>
            <a:r>
              <a:rPr lang="en-US" sz="1100" b="1" dirty="0">
                <a:solidFill>
                  <a:srgbClr val="2C5F2D"/>
                </a:solidFill>
              </a:rPr>
              <a:t>Commercially Viable</a:t>
            </a:r>
            <a:endParaRPr lang="en-US" sz="1100" dirty="0"/>
          </a:p>
        </p:txBody>
      </p:sp>
      <p:sp>
        <p:nvSpPr>
          <p:cNvPr id="26" name="Text 24"/>
          <p:cNvSpPr/>
          <p:nvPr/>
        </p:nvSpPr>
        <p:spPr>
          <a:xfrm>
            <a:off x="4846320" y="3886200"/>
            <a:ext cx="3749040" cy="658368"/>
          </a:xfrm>
          <a:prstGeom prst="rect">
            <a:avLst/>
          </a:prstGeom>
          <a:noFill/>
          <a:ln/>
        </p:spPr>
        <p:txBody>
          <a:bodyPr wrap="square" rtlCol="0" anchor="t"/>
          <a:lstStyle/>
          <a:p>
            <a:pPr marL="0" indent="0">
              <a:buNone/>
            </a:pPr>
            <a:r>
              <a:rPr lang="en-US" sz="1000" dirty="0">
                <a:solidFill>
                  <a:srgbClr val="1E1E1E"/>
                </a:solidFill>
              </a:rPr>
              <a:t>Clear revenue model: hardware kits + SaaS subscriptions + consulting. ROI for customers within 12–18 months.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4731"/>
        </a:solidFill>
        <a:effectLst/>
      </p:bgPr>
    </p:bg>
    <p:spTree>
      <p:nvGrpSpPr>
        <p:cNvPr id="1" name=""/>
        <p:cNvGrpSpPr/>
        <p:nvPr/>
      </p:nvGrpSpPr>
      <p:grpSpPr>
        <a:xfrm>
          <a:off x="0" y="0"/>
          <a:ext cx="0" cy="0"/>
          <a:chOff x="0" y="0"/>
          <a:chExt cx="0" cy="0"/>
        </a:xfrm>
      </p:grpSpPr>
      <p:sp>
        <p:nvSpPr>
          <p:cNvPr id="2" name="Shape 0"/>
          <p:cNvSpPr/>
          <p:nvPr/>
        </p:nvSpPr>
        <p:spPr>
          <a:xfrm>
            <a:off x="5943600" y="-1371600"/>
            <a:ext cx="4572000" cy="8229600"/>
          </a:xfrm>
          <a:prstGeom prst="ellipse">
            <a:avLst/>
          </a:prstGeom>
          <a:solidFill>
            <a:srgbClr val="00897B">
              <a:alpha val="30000"/>
            </a:srgbClr>
          </a:solidFill>
          <a:ln w="12700">
            <a:solidFill>
              <a:srgbClr val="00897B">
                <a:alpha val="30000"/>
              </a:srgbClr>
            </a:solidFill>
            <a:prstDash val="solid"/>
          </a:ln>
        </p:spPr>
      </p:sp>
      <p:sp>
        <p:nvSpPr>
          <p:cNvPr id="3" name="Shape 1"/>
          <p:cNvSpPr/>
          <p:nvPr/>
        </p:nvSpPr>
        <p:spPr>
          <a:xfrm>
            <a:off x="6858000" y="-457200"/>
            <a:ext cx="3657600" cy="7315200"/>
          </a:xfrm>
          <a:prstGeom prst="ellipse">
            <a:avLst/>
          </a:prstGeom>
          <a:solidFill>
            <a:srgbClr val="00BFA5">
              <a:alpha val="40000"/>
            </a:srgbClr>
          </a:solidFill>
          <a:ln w="12700">
            <a:solidFill>
              <a:srgbClr val="00BFA5">
                <a:alpha val="40000"/>
              </a:srgbClr>
            </a:solidFill>
            <a:prstDash val="solid"/>
          </a:ln>
        </p:spPr>
      </p:sp>
      <p:sp>
        <p:nvSpPr>
          <p:cNvPr id="4" name="Text 2"/>
          <p:cNvSpPr/>
          <p:nvPr/>
        </p:nvSpPr>
        <p:spPr>
          <a:xfrm>
            <a:off x="457200" y="1280160"/>
            <a:ext cx="6400800" cy="201168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THANK YOU FOR</a:t>
            </a:r>
            <a:endParaRPr lang="en-US" sz="4200" dirty="0"/>
          </a:p>
          <a:p>
            <a:pPr marL="0" indent="0" algn="l">
              <a:buNone/>
            </a:pPr>
            <a:r>
              <a:rPr lang="en-US" sz="4200" b="1" dirty="0">
                <a:solidFill>
                  <a:srgbClr val="FFFFFF"/>
                </a:solidFill>
                <a:latin typeface="Calibri" pitchFamily="34" charset="0"/>
                <a:ea typeface="Calibri" pitchFamily="34" charset="-122"/>
                <a:cs typeface="Calibri" pitchFamily="34" charset="-120"/>
              </a:rPr>
              <a:t>YOUR ATTENTION</a:t>
            </a:r>
            <a:endParaRPr lang="en-US" sz="4200" dirty="0"/>
          </a:p>
        </p:txBody>
      </p:sp>
      <p:sp>
        <p:nvSpPr>
          <p:cNvPr id="5" name="Text 3"/>
          <p:cNvSpPr/>
          <p:nvPr/>
        </p:nvSpPr>
        <p:spPr>
          <a:xfrm>
            <a:off x="457200" y="3337560"/>
            <a:ext cx="5486400" cy="347472"/>
          </a:xfrm>
          <a:prstGeom prst="rect">
            <a:avLst/>
          </a:prstGeom>
          <a:noFill/>
          <a:ln/>
        </p:spPr>
        <p:txBody>
          <a:bodyPr wrap="square" rtlCol="0" anchor="ctr"/>
          <a:lstStyle/>
          <a:p>
            <a:pPr marL="0" indent="0" algn="l">
              <a:buNone/>
            </a:pPr>
            <a:r>
              <a:rPr lang="en-US" sz="1400" b="1" dirty="0">
                <a:solidFill>
                  <a:srgbClr val="6DB33F"/>
                </a:solidFill>
              </a:rPr>
              <a:t>Team: Watt The Future</a:t>
            </a:r>
            <a:endParaRPr lang="en-US" sz="1400" dirty="0"/>
          </a:p>
        </p:txBody>
      </p:sp>
      <p:sp>
        <p:nvSpPr>
          <p:cNvPr id="6" name="Text 4"/>
          <p:cNvSpPr/>
          <p:nvPr/>
        </p:nvSpPr>
        <p:spPr>
          <a:xfrm>
            <a:off x="457200" y="3675888"/>
            <a:ext cx="5486400" cy="274320"/>
          </a:xfrm>
          <a:prstGeom prst="rect">
            <a:avLst/>
          </a:prstGeom>
          <a:noFill/>
          <a:ln/>
        </p:spPr>
        <p:txBody>
          <a:bodyPr wrap="square" rtlCol="0" anchor="ctr"/>
          <a:lstStyle/>
          <a:p>
            <a:pPr marL="0" indent="0" algn="l">
              <a:buNone/>
            </a:pPr>
            <a:r>
              <a:rPr lang="en-US" sz="1100" dirty="0">
                <a:solidFill>
                  <a:srgbClr val="FFFFFF"/>
                </a:solidFill>
              </a:rPr>
              <a:t>Allam Velangini Srija  |  Shivani Kalyani  |  Adhiti</a:t>
            </a:r>
            <a:endParaRPr lang="en-US" sz="1100" dirty="0"/>
          </a:p>
        </p:txBody>
      </p:sp>
      <p:sp>
        <p:nvSpPr>
          <p:cNvPr id="7" name="Text 5"/>
          <p:cNvSpPr/>
          <p:nvPr/>
        </p:nvSpPr>
        <p:spPr>
          <a:xfrm>
            <a:off x="457200" y="3977640"/>
            <a:ext cx="5486400" cy="256032"/>
          </a:xfrm>
          <a:prstGeom prst="rect">
            <a:avLst/>
          </a:prstGeom>
          <a:noFill/>
          <a:ln/>
        </p:spPr>
        <p:txBody>
          <a:bodyPr wrap="square" rtlCol="0" anchor="ctr"/>
          <a:lstStyle/>
          <a:p>
            <a:pPr marL="0" indent="0" algn="l">
              <a:buNone/>
            </a:pPr>
            <a:r>
              <a:rPr lang="en-US" sz="1100" dirty="0">
                <a:solidFill>
                  <a:srgbClr val="97BC62"/>
                </a:solidFill>
              </a:rPr>
              <a:t>KLE Technological University  |  IEEE PES STB 62711</a:t>
            </a:r>
            <a:endParaRPr lang="en-US" sz="1100" dirty="0"/>
          </a:p>
        </p:txBody>
      </p:sp>
      <p:sp>
        <p:nvSpPr>
          <p:cNvPr id="8" name="Text 6"/>
          <p:cNvSpPr/>
          <p:nvPr/>
        </p:nvSpPr>
        <p:spPr>
          <a:xfrm>
            <a:off x="8412480" y="91440"/>
            <a:ext cx="594360" cy="411480"/>
          </a:xfrm>
          <a:prstGeom prst="rect">
            <a:avLst/>
          </a:prstGeom>
          <a:solidFill>
            <a:srgbClr val="6DB33F"/>
          </a:solidFill>
          <a:ln/>
        </p:spPr>
        <p:txBody>
          <a:bodyPr wrap="square" rtlCol="0" anchor="ctr"/>
          <a:lstStyle/>
          <a:p>
            <a:pPr marL="0" indent="0" algn="ctr">
              <a:buNone/>
            </a:pPr>
            <a:r>
              <a:rPr lang="en-US" sz="1200" dirty="0">
                <a:solidFill>
                  <a:srgbClr val="FFFFFF"/>
                </a:solidFill>
              </a:rPr>
              <a:t>10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1822</Words>
  <Application>Microsoft Office PowerPoint</Application>
  <PresentationFormat>On-screen Show (16:9)</PresentationFormat>
  <Paragraphs>270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Watt The Future – IDEATHON Round 2</dc:title>
  <dc:subject>PptxGenJS Presentation</dc:subject>
  <dc:creator>PptxGenJS</dc:creator>
  <cp:lastModifiedBy>Adhiti Bellary</cp:lastModifiedBy>
  <cp:revision>2</cp:revision>
  <dcterms:created xsi:type="dcterms:W3CDTF">2026-04-27T06:20:39Z</dcterms:created>
  <dcterms:modified xsi:type="dcterms:W3CDTF">2026-04-27T07:09:45Z</dcterms:modified>
</cp:coreProperties>
</file>